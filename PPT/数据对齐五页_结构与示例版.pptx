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7" r:id="rId3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先解释表粒度：encounters 一次就诊一行，events 是长表，治疗和并发症独立保存，crf_view 由这些记录派生。五个来源并不意味着患者可合并，只复用编码、单位和表结构。eICU 与 MC-MED 还未完成正式桥接验收。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这页是本地文档中的字段值示例，EXAMPLE_01 是排版用键。GD 缺少真实入院时刻，锚点用首个体征；为跨源比较，这里只展示 day_rel，而不是伪造小时轨迹。门诊用于补充流感证据，不直接并入住院预测队列。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这些公开来源目前状态不同：MIMIC 的 659 次住院可联结，但 itemid 是待核对的候选映射；eICU 当前严格流感规则结果是 0，不能据此说数据库没有流感；MC-MED 尚未通过正式 CDM 验收。白细胞较有希望共用，CRP 在 MIMIC 窗口只有 7/659。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左侧是结构示意：医院 v1.0 取索引日附近各变量第一个值，加年龄、性别；字段数值来自文档示例，不能与右侧验证结果解释为同一患者。右侧点图刻度从 0.5 到 0.8，并明确标出每个 AUROC；TabPFN 0.739 与 LR 0.733 的差异不稳健。GD 38 个事件中 26 个发生在索引当天。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三类边界要分别处理：单位和测法核对后才能比较；GD 日期精度不支持补造小时级输入；T-hour 任务必须看数据何时可用。eICU 全员已在 ICU，不能定义新发 ICU 终点。当前规则下严格流感为零只是规则结果。CRP 未测应保留缺失而不是写成阴性。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1700">
                <a:latin typeface="微软雅黑" charset="-122"/>
                <a:ea typeface="微软雅黑" charset="-122"/>
                <a:cs typeface="微软雅黑" charset="-122"/>
              </a:rPr>
              <a:t>来源不同，使用相同的表粒度、变量编码与就诊关联键</a:t>
            </a: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5334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 xml:space="preserve"> 对齐后的数据结构</a:t>
            </a: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100000" name="key"/>
          <p:cNvSpPr/>
          <p:nvPr/>
        </p:nvSpPr>
        <p:spPr>
          <a:xfrm>
            <a:off x="3606800" y="1981200"/>
            <a:ext cx="7315200" cy="406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006FBD"/>
                </a:solidFill>
                <a:latin typeface="微软雅黑"/>
                <a:ea typeface="微软雅黑"/>
              </a:rPr>
              <a:t>关联键：source + encounter_id（同一来源内的一次就诊）</a:t>
            </a:r>
          </a:p>
        </p:txBody>
      </p:sp>
      <p:sp>
        <p:nvSpPr>
          <p:cNvPr id="100001" name="origin-label"/>
          <p:cNvSpPr/>
          <p:nvPr/>
        </p:nvSpPr>
        <p:spPr>
          <a:xfrm>
            <a:off x="1320800" y="2032000"/>
            <a:ext cx="1905000" cy="3175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来源数据</a:t>
            </a:r>
          </a:p>
        </p:txBody>
      </p:sp>
      <p:sp>
        <p:nvSpPr>
          <p:cNvPr id="100002" name="origin-0"/>
          <p:cNvSpPr/>
          <p:nvPr/>
        </p:nvSpPr>
        <p:spPr>
          <a:xfrm>
            <a:off x="1295400" y="24511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GD_CRF  297 次住院</a:t>
            </a:r>
          </a:p>
        </p:txBody>
      </p:sp>
      <p:sp>
        <p:nvSpPr>
          <p:cNvPr id="100003" name="origin-1"/>
          <p:cNvSpPr/>
          <p:nvPr/>
        </p:nvSpPr>
        <p:spPr>
          <a:xfrm>
            <a:off x="1295400" y="30734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GAM_IP  173 次住院</a:t>
            </a:r>
          </a:p>
        </p:txBody>
      </p:sp>
      <p:sp>
        <p:nvSpPr>
          <p:cNvPr id="100004" name="origin-2"/>
          <p:cNvSpPr/>
          <p:nvPr/>
        </p:nvSpPr>
        <p:spPr>
          <a:xfrm>
            <a:off x="1295400" y="36957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MIMIC-IV  659 次可联结住院</a:t>
            </a:r>
          </a:p>
        </p:txBody>
      </p:sp>
      <p:sp>
        <p:nvSpPr>
          <p:cNvPr id="100005" name="origin-3"/>
          <p:cNvSpPr/>
          <p:nvPr/>
        </p:nvSpPr>
        <p:spPr>
          <a:xfrm>
            <a:off x="1295400" y="43180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eICU  15,929 ARI 候选</a:t>
            </a:r>
          </a:p>
        </p:txBody>
      </p:sp>
      <p:sp>
        <p:nvSpPr>
          <p:cNvPr id="100006" name="origin-4"/>
          <p:cNvSpPr/>
          <p:nvPr/>
        </p:nvSpPr>
        <p:spPr>
          <a:xfrm>
            <a:off x="1295400" y="49403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MC-MED  118,385 次急诊</a:t>
            </a:r>
          </a:p>
        </p:txBody>
      </p:sp>
      <p:sp>
        <p:nvSpPr>
          <p:cNvPr id="100007" name="origin-arrow"/>
          <p:cNvSpPr/>
          <p:nvPr/>
        </p:nvSpPr>
        <p:spPr>
          <a:xfrm>
            <a:off x="3302000" y="3771900"/>
            <a:ext cx="279400" cy="342900"/>
          </a:xfrm>
          <a:prstGeom prst="right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8" name="encounters-bg"/>
          <p:cNvSpPr/>
          <p:nvPr/>
        </p:nvSpPr>
        <p:spPr>
          <a:xfrm>
            <a:off x="3759200" y="2476500"/>
            <a:ext cx="7162800" cy="9779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9" name="encounters-title"/>
          <p:cNvSpPr/>
          <p:nvPr/>
        </p:nvSpPr>
        <p:spPr>
          <a:xfrm>
            <a:off x="3886200" y="2565400"/>
            <a:ext cx="69088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700" b="1">
                <a:solidFill>
                  <a:srgbClr val="174876"/>
                </a:solidFill>
                <a:latin typeface="微软雅黑"/>
                <a:ea typeface="微软雅黑"/>
              </a:rPr>
              <a:t>encounters   1 行 / 就诊</a:t>
            </a:r>
          </a:p>
        </p:txBody>
      </p:sp>
      <p:sp>
        <p:nvSpPr>
          <p:cNvPr id="100010" name="encounters-detail"/>
          <p:cNvSpPr/>
          <p:nvPr/>
        </p:nvSpPr>
        <p:spPr>
          <a:xfrm>
            <a:off x="3886200" y="2882900"/>
            <a:ext cx="6908800" cy="52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source · encounter_id · patient_id · anchor_time / anchor_rule · age / sex · flu_dx</a:t>
            </a:r>
          </a:p>
        </p:txBody>
      </p:sp>
      <p:sp>
        <p:nvSpPr>
          <p:cNvPr id="100011" name="events-bg"/>
          <p:cNvSpPr/>
          <p:nvPr/>
        </p:nvSpPr>
        <p:spPr>
          <a:xfrm>
            <a:off x="3759200" y="38481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2" name="events-title"/>
          <p:cNvSpPr/>
          <p:nvPr/>
        </p:nvSpPr>
        <p:spPr>
          <a:xfrm>
            <a:off x="3886200" y="3937000"/>
            <a:ext cx="20447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events   N 行 / 观测</a:t>
            </a:r>
          </a:p>
        </p:txBody>
      </p:sp>
      <p:sp>
        <p:nvSpPr>
          <p:cNvPr id="100013" name="events-detail"/>
          <p:cNvSpPr/>
          <p:nvPr/>
        </p:nvSpPr>
        <p:spPr>
          <a:xfrm>
            <a:off x="3886200" y="42545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 · value · unit_cdm</a:t>
            </a: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time_precision · day_rel</a:t>
            </a:r>
          </a:p>
        </p:txBody>
      </p:sp>
      <p:sp>
        <p:nvSpPr>
          <p:cNvPr id="100014" name="down-0"/>
          <p:cNvSpPr/>
          <p:nvPr/>
        </p:nvSpPr>
        <p:spPr>
          <a:xfrm>
            <a:off x="4737100" y="35306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5" name="treatments-bg"/>
          <p:cNvSpPr/>
          <p:nvPr/>
        </p:nvSpPr>
        <p:spPr>
          <a:xfrm>
            <a:off x="6184900" y="38481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6" name="treatments-title"/>
          <p:cNvSpPr/>
          <p:nvPr/>
        </p:nvSpPr>
        <p:spPr>
          <a:xfrm>
            <a:off x="6311900" y="3937000"/>
            <a:ext cx="20447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treatments   N 行 / 治疗</a:t>
            </a:r>
          </a:p>
        </p:txBody>
      </p:sp>
      <p:sp>
        <p:nvSpPr>
          <p:cNvPr id="100017" name="treatments-detail"/>
          <p:cNvSpPr/>
          <p:nvPr/>
        </p:nvSpPr>
        <p:spPr>
          <a:xfrm>
            <a:off x="6311900" y="42545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 · status · start / end</a:t>
            </a: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time_source</a:t>
            </a:r>
          </a:p>
        </p:txBody>
      </p:sp>
      <p:sp>
        <p:nvSpPr>
          <p:cNvPr id="100018" name="down-1"/>
          <p:cNvSpPr/>
          <p:nvPr/>
        </p:nvSpPr>
        <p:spPr>
          <a:xfrm>
            <a:off x="7162800" y="35306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9" name="complications-bg"/>
          <p:cNvSpPr/>
          <p:nvPr/>
        </p:nvSpPr>
        <p:spPr>
          <a:xfrm>
            <a:off x="8610600" y="38481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complications-title"/>
          <p:cNvSpPr/>
          <p:nvPr/>
        </p:nvSpPr>
        <p:spPr>
          <a:xfrm>
            <a:off x="8737600" y="3937000"/>
            <a:ext cx="20447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complications   N 行 / 并发症</a:t>
            </a:r>
          </a:p>
        </p:txBody>
      </p:sp>
      <p:sp>
        <p:nvSpPr>
          <p:cNvPr id="100021" name="complications-detail"/>
          <p:cNvSpPr/>
          <p:nvPr/>
        </p:nvSpPr>
        <p:spPr>
          <a:xfrm>
            <a:off x="8737600" y="42545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 · POA · 判定依据</a:t>
            </a: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时间来源</a:t>
            </a:r>
          </a:p>
        </p:txBody>
      </p:sp>
      <p:sp>
        <p:nvSpPr>
          <p:cNvPr id="100022" name="down-2"/>
          <p:cNvSpPr/>
          <p:nvPr/>
        </p:nvSpPr>
        <p:spPr>
          <a:xfrm>
            <a:off x="9588500" y="35306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3" name="derived-arrow"/>
          <p:cNvSpPr/>
          <p:nvPr/>
        </p:nvSpPr>
        <p:spPr>
          <a:xfrm>
            <a:off x="7188200" y="4978400"/>
            <a:ext cx="292100" cy="1778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4" name="wide-bg"/>
          <p:cNvSpPr/>
          <p:nvPr/>
        </p:nvSpPr>
        <p:spPr>
          <a:xfrm>
            <a:off x="3759200" y="5194300"/>
            <a:ext cx="71628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5" name="wide-label"/>
          <p:cNvSpPr/>
          <p:nvPr/>
        </p:nvSpPr>
        <p:spPr>
          <a:xfrm>
            <a:off x="3911600" y="5245100"/>
            <a:ext cx="68580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crf_view   1 行 / 住院：adm_* · idx_* · lab_* · OUT00x</a:t>
            </a:r>
          </a:p>
        </p:txBody>
      </p:sp>
      <p:sp>
        <p:nvSpPr>
          <p:cNvPr id="100026" name="source-1"/>
          <p:cNvSpPr/>
          <p:nvPr/>
        </p:nvSpPr>
        <p:spPr>
          <a:xfrm>
            <a:off x="228600" y="6629400"/>
            <a:ext cx="11112500" cy="203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830" b="0">
                <a:solidFill>
                  <a:srgbClr val="52677A"/>
                </a:solidFill>
                <a:latin typeface="微软雅黑"/>
                <a:ea typeface="微软雅黑"/>
              </a:rPr>
              <a:t>资料：docs/数据对齐.md；实验执行计划 §4.3。来源规模为原稿状态（2026-09-28）。</a:t>
            </a:r>
          </a:p>
        </p:txBody>
      </p:sp>
      <p:sp>
        <p:nvSpPr>
          <p:cNvPr id="100027" name="takeaway-1"/>
          <p:cNvSpPr/>
          <p:nvPr/>
        </p:nvSpPr>
        <p:spPr>
          <a:xfrm>
            <a:off x="1625600" y="60198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600" b="1">
                <a:solidFill>
                  <a:srgbClr val="006FBD"/>
                </a:solidFill>
                <a:latin typeface="微软雅黑"/>
                <a:ea typeface="微软雅黑"/>
              </a:rPr>
              <a:t>一次就诊连接多条事件和治疗，最后派生一行可追溯的建模宽表。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1700">
                <a:latin typeface="微软雅黑" charset="-122"/>
                <a:ea typeface="微软雅黑" charset="-122"/>
                <a:cs typeface="微软雅黑" charset="-122"/>
              </a:rPr>
              <a:t>用同一例 GD_CRF 记录展示：一次住院如何关联多条体征观测</a:t>
            </a: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5334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 xml:space="preserve"> 医院数据落表示例</a:t>
            </a: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100028" name="hospital-chip-0"/>
          <p:cNvSpPr/>
          <p:nvPr/>
        </p:nvSpPr>
        <p:spPr>
          <a:xfrm>
            <a:off x="1270000" y="1981200"/>
            <a:ext cx="3149600" cy="5588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9" name="hospital-count-0"/>
          <p:cNvSpPr/>
          <p:nvPr/>
        </p:nvSpPr>
        <p:spPr>
          <a:xfrm>
            <a:off x="1371600" y="20193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400" b="1">
                <a:solidFill>
                  <a:srgbClr val="006FBD"/>
                </a:solidFill>
                <a:latin typeface="微软雅黑"/>
                <a:ea typeface="微软雅黑"/>
              </a:rPr>
              <a:t>GD_CRF  297</a:t>
            </a:r>
          </a:p>
        </p:txBody>
      </p:sp>
      <p:sp>
        <p:nvSpPr>
          <p:cNvPr id="100030" name="hospital-desc-0"/>
          <p:cNvSpPr/>
          <p:nvPr/>
        </p:nvSpPr>
        <p:spPr>
          <a:xfrm>
            <a:off x="1371600" y="2260600"/>
            <a:ext cx="2946400" cy="241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0">
                <a:solidFill>
                  <a:srgbClr val="52677A"/>
                </a:solidFill>
                <a:latin typeface="微软雅黑"/>
                <a:ea typeface="微软雅黑"/>
              </a:rPr>
              <a:t>住院，日期级</a:t>
            </a:r>
          </a:p>
        </p:txBody>
      </p:sp>
      <p:sp>
        <p:nvSpPr>
          <p:cNvPr id="100031" name="hospital-chip-1"/>
          <p:cNvSpPr/>
          <p:nvPr/>
        </p:nvSpPr>
        <p:spPr>
          <a:xfrm>
            <a:off x="4546600" y="1981200"/>
            <a:ext cx="3149600" cy="5588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2" name="hospital-count-1"/>
          <p:cNvSpPr/>
          <p:nvPr/>
        </p:nvSpPr>
        <p:spPr>
          <a:xfrm>
            <a:off x="4648200" y="20193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400" b="1">
                <a:solidFill>
                  <a:srgbClr val="006FBD"/>
                </a:solidFill>
                <a:latin typeface="微软雅黑"/>
                <a:ea typeface="微软雅黑"/>
              </a:rPr>
              <a:t>GAM_IP  173</a:t>
            </a:r>
          </a:p>
        </p:txBody>
      </p:sp>
      <p:sp>
        <p:nvSpPr>
          <p:cNvPr id="100033" name="hospital-desc-1"/>
          <p:cNvSpPr/>
          <p:nvPr/>
        </p:nvSpPr>
        <p:spPr>
          <a:xfrm>
            <a:off x="4648200" y="2260600"/>
            <a:ext cx="2946400" cy="241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0">
                <a:solidFill>
                  <a:srgbClr val="52677A"/>
                </a:solidFill>
                <a:latin typeface="微软雅黑"/>
                <a:ea typeface="微软雅黑"/>
              </a:rPr>
              <a:t>住院，部分时刻可得</a:t>
            </a:r>
          </a:p>
        </p:txBody>
      </p:sp>
      <p:sp>
        <p:nvSpPr>
          <p:cNvPr id="100034" name="hospital-chip-2"/>
          <p:cNvSpPr/>
          <p:nvPr/>
        </p:nvSpPr>
        <p:spPr>
          <a:xfrm>
            <a:off x="7823200" y="1981200"/>
            <a:ext cx="3149600" cy="5588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5" name="hospital-count-2"/>
          <p:cNvSpPr/>
          <p:nvPr/>
        </p:nvSpPr>
        <p:spPr>
          <a:xfrm>
            <a:off x="7924800" y="20193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400" b="1">
                <a:solidFill>
                  <a:srgbClr val="006FBD"/>
                </a:solidFill>
                <a:latin typeface="微软雅黑"/>
                <a:ea typeface="微软雅黑"/>
              </a:rPr>
              <a:t>GAM_OP  1,166</a:t>
            </a:r>
          </a:p>
        </p:txBody>
      </p:sp>
      <p:sp>
        <p:nvSpPr>
          <p:cNvPr id="100036" name="hospital-desc-2"/>
          <p:cNvSpPr/>
          <p:nvPr/>
        </p:nvSpPr>
        <p:spPr>
          <a:xfrm>
            <a:off x="7924800" y="2260600"/>
            <a:ext cx="2946400" cy="241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0">
                <a:solidFill>
                  <a:srgbClr val="52677A"/>
                </a:solidFill>
                <a:latin typeface="微软雅黑"/>
                <a:ea typeface="微软雅黑"/>
              </a:rPr>
              <a:t>门诊，不并入住院任务</a:t>
            </a:r>
          </a:p>
        </p:txBody>
      </p:sp>
      <p:sp>
        <p:nvSpPr>
          <p:cNvPr id="100037" name="patient-bg"/>
          <p:cNvSpPr/>
          <p:nvPr/>
        </p:nvSpPr>
        <p:spPr>
          <a:xfrm>
            <a:off x="1270000" y="2679700"/>
            <a:ext cx="3771900" cy="30353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8" name="encounter-head"/>
          <p:cNvSpPr/>
          <p:nvPr/>
        </p:nvSpPr>
        <p:spPr>
          <a:xfrm>
            <a:off x="1422400" y="2768600"/>
            <a:ext cx="3429000" cy="368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600" b="1">
                <a:solidFill>
                  <a:srgbClr val="174876"/>
                </a:solidFill>
                <a:latin typeface="微软雅黑"/>
                <a:ea typeface="微软雅黑"/>
              </a:rPr>
              <a:t>encounters  /  1 行</a:t>
            </a:r>
          </a:p>
        </p:txBody>
      </p:sp>
      <p:sp>
        <p:nvSpPr>
          <p:cNvPr id="100039" name="patient-key-0"/>
          <p:cNvSpPr/>
          <p:nvPr/>
        </p:nvSpPr>
        <p:spPr>
          <a:xfrm>
            <a:off x="1435100" y="32004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source</a:t>
            </a:r>
          </a:p>
        </p:txBody>
      </p:sp>
      <p:sp>
        <p:nvSpPr>
          <p:cNvPr id="100040" name="patient-value-0"/>
          <p:cNvSpPr/>
          <p:nvPr/>
        </p:nvSpPr>
        <p:spPr>
          <a:xfrm>
            <a:off x="3073400" y="32004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GD_CRF</a:t>
            </a:r>
          </a:p>
        </p:txBody>
      </p:sp>
      <p:sp>
        <p:nvSpPr>
          <p:cNvPr id="100041" name="patient-key-1"/>
          <p:cNvSpPr/>
          <p:nvPr/>
        </p:nvSpPr>
        <p:spPr>
          <a:xfrm>
            <a:off x="1435100" y="35433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encounter_id</a:t>
            </a:r>
          </a:p>
        </p:txBody>
      </p:sp>
      <p:sp>
        <p:nvSpPr>
          <p:cNvPr id="100042" name="patient-value-1"/>
          <p:cNvSpPr/>
          <p:nvPr/>
        </p:nvSpPr>
        <p:spPr>
          <a:xfrm>
            <a:off x="3073400" y="35433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EXAMPLE_01*</a:t>
            </a:r>
          </a:p>
        </p:txBody>
      </p:sp>
      <p:sp>
        <p:nvSpPr>
          <p:cNvPr id="100043" name="patient-key-2"/>
          <p:cNvSpPr/>
          <p:nvPr/>
        </p:nvSpPr>
        <p:spPr>
          <a:xfrm>
            <a:off x="1435100" y="38862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age / sex</a:t>
            </a:r>
          </a:p>
        </p:txBody>
      </p:sp>
      <p:sp>
        <p:nvSpPr>
          <p:cNvPr id="100044" name="patient-value-2"/>
          <p:cNvSpPr/>
          <p:nvPr/>
        </p:nvSpPr>
        <p:spPr>
          <a:xfrm>
            <a:off x="3073400" y="38862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75 / M</a:t>
            </a:r>
          </a:p>
        </p:txBody>
      </p:sp>
      <p:sp>
        <p:nvSpPr>
          <p:cNvPr id="100045" name="patient-key-3"/>
          <p:cNvSpPr/>
          <p:nvPr/>
        </p:nvSpPr>
        <p:spPr>
          <a:xfrm>
            <a:off x="1435100" y="42291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flu_dx</a:t>
            </a:r>
          </a:p>
        </p:txBody>
      </p:sp>
      <p:sp>
        <p:nvSpPr>
          <p:cNvPr id="100046" name="patient-value-3"/>
          <p:cNvSpPr/>
          <p:nvPr/>
        </p:nvSpPr>
        <p:spPr>
          <a:xfrm>
            <a:off x="3073400" y="42291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1（诊断有流感）</a:t>
            </a:r>
          </a:p>
        </p:txBody>
      </p:sp>
      <p:sp>
        <p:nvSpPr>
          <p:cNvPr id="100047" name="patient-key-4"/>
          <p:cNvSpPr/>
          <p:nvPr/>
        </p:nvSpPr>
        <p:spPr>
          <a:xfrm>
            <a:off x="1435100" y="45720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anchor_rule</a:t>
            </a:r>
          </a:p>
        </p:txBody>
      </p:sp>
      <p:sp>
        <p:nvSpPr>
          <p:cNvPr id="100048" name="patient-value-4"/>
          <p:cNvSpPr/>
          <p:nvPr/>
        </p:nvSpPr>
        <p:spPr>
          <a:xfrm>
            <a:off x="3073400" y="45720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首个体征</a:t>
            </a:r>
          </a:p>
        </p:txBody>
      </p:sp>
      <p:sp>
        <p:nvSpPr>
          <p:cNvPr id="100049" name="patient-key-5"/>
          <p:cNvSpPr/>
          <p:nvPr/>
        </p:nvSpPr>
        <p:spPr>
          <a:xfrm>
            <a:off x="1435100" y="49149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anchor_precision</a:t>
            </a:r>
          </a:p>
        </p:txBody>
      </p:sp>
      <p:sp>
        <p:nvSpPr>
          <p:cNvPr id="100050" name="patient-value-5"/>
          <p:cNvSpPr/>
          <p:nvPr/>
        </p:nvSpPr>
        <p:spPr>
          <a:xfrm>
            <a:off x="3073400" y="49149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日期级</a:t>
            </a:r>
          </a:p>
        </p:txBody>
      </p:sp>
      <p:sp>
        <p:nvSpPr>
          <p:cNvPr id="100051" name="related"/>
          <p:cNvSpPr/>
          <p:nvPr/>
        </p:nvSpPr>
        <p:spPr>
          <a:xfrm>
            <a:off x="1422400" y="5346700"/>
            <a:ext cx="3467100" cy="330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060" b="0">
                <a:solidFill>
                  <a:srgbClr val="52677A"/>
                </a:solidFill>
                <a:latin typeface="微软雅黑"/>
                <a:ea typeface="微软雅黑"/>
              </a:rPr>
              <a:t>另有关联记录：TRT001 奥司他韦 / CLP001 病毒性肺炎</a:t>
            </a:r>
          </a:p>
        </p:txBody>
      </p:sp>
      <p:sp>
        <p:nvSpPr>
          <p:cNvPr id="100052" name="join-arrow"/>
          <p:cNvSpPr/>
          <p:nvPr/>
        </p:nvSpPr>
        <p:spPr>
          <a:xfrm>
            <a:off x="5067300" y="3835400"/>
            <a:ext cx="292100" cy="304800"/>
          </a:xfrm>
          <a:prstGeom prst="right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3" name="event-bg"/>
          <p:cNvSpPr/>
          <p:nvPr/>
        </p:nvSpPr>
        <p:spPr>
          <a:xfrm>
            <a:off x="5422900" y="2679700"/>
            <a:ext cx="5562600" cy="3035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4" name="event-title"/>
          <p:cNvSpPr/>
          <p:nvPr/>
        </p:nvSpPr>
        <p:spPr>
          <a:xfrm>
            <a:off x="5575300" y="2768600"/>
            <a:ext cx="5257800" cy="368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600" b="1">
                <a:solidFill>
                  <a:srgbClr val="174876"/>
                </a:solidFill>
                <a:latin typeface="微软雅黑"/>
                <a:ea typeface="微软雅黑"/>
              </a:rPr>
              <a:t>events  /  6 行观测（节选）</a:t>
            </a:r>
          </a:p>
        </p:txBody>
      </p:sp>
      <p:sp>
        <p:nvSpPr>
          <p:cNvPr id="100055" name="event-table-header"/>
          <p:cNvSpPr/>
          <p:nvPr/>
        </p:nvSpPr>
        <p:spPr>
          <a:xfrm>
            <a:off x="5562600" y="3213100"/>
            <a:ext cx="5295900" cy="393700"/>
          </a:xfrm>
          <a:prstGeom prst="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6" name="event-col-0"/>
          <p:cNvSpPr/>
          <p:nvPr/>
        </p:nvSpPr>
        <p:spPr>
          <a:xfrm>
            <a:off x="5588000" y="3238500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编码 / 变量</a:t>
            </a:r>
          </a:p>
        </p:txBody>
      </p:sp>
      <p:sp>
        <p:nvSpPr>
          <p:cNvPr id="100057" name="event-col-1"/>
          <p:cNvSpPr/>
          <p:nvPr/>
        </p:nvSpPr>
        <p:spPr>
          <a:xfrm>
            <a:off x="7416800" y="3238500"/>
            <a:ext cx="2019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value / unit_cdm</a:t>
            </a:r>
          </a:p>
        </p:txBody>
      </p:sp>
      <p:sp>
        <p:nvSpPr>
          <p:cNvPr id="100058" name="event-col-2"/>
          <p:cNvSpPr/>
          <p:nvPr/>
        </p:nvSpPr>
        <p:spPr>
          <a:xfrm>
            <a:off x="9474200" y="3238500"/>
            <a:ext cx="7366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day_rel</a:t>
            </a:r>
          </a:p>
        </p:txBody>
      </p:sp>
      <p:sp>
        <p:nvSpPr>
          <p:cNvPr id="100059" name="event-col-3"/>
          <p:cNvSpPr/>
          <p:nvPr/>
        </p:nvSpPr>
        <p:spPr>
          <a:xfrm>
            <a:off x="10236200" y="3238500"/>
            <a:ext cx="622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精度</a:t>
            </a:r>
          </a:p>
        </p:txBody>
      </p:sp>
      <p:sp>
        <p:nvSpPr>
          <p:cNvPr id="100060" name="row-bg-0"/>
          <p:cNvSpPr/>
          <p:nvPr/>
        </p:nvSpPr>
        <p:spPr>
          <a:xfrm>
            <a:off x="5562600" y="36322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1" name="row-0-var"/>
          <p:cNvSpPr/>
          <p:nvPr/>
        </p:nvSpPr>
        <p:spPr>
          <a:xfrm>
            <a:off x="5626100" y="36576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VS001  体温</a:t>
            </a:r>
          </a:p>
        </p:txBody>
      </p:sp>
      <p:sp>
        <p:nvSpPr>
          <p:cNvPr id="100062" name="row-0-value"/>
          <p:cNvSpPr/>
          <p:nvPr/>
        </p:nvSpPr>
        <p:spPr>
          <a:xfrm>
            <a:off x="7454900" y="36576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37.8 ℃</a:t>
            </a:r>
          </a:p>
        </p:txBody>
      </p:sp>
      <p:sp>
        <p:nvSpPr>
          <p:cNvPr id="100063" name="row-0-day"/>
          <p:cNvSpPr/>
          <p:nvPr/>
        </p:nvSpPr>
        <p:spPr>
          <a:xfrm>
            <a:off x="9499600" y="36576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64" name="row-0-precision"/>
          <p:cNvSpPr/>
          <p:nvPr/>
        </p:nvSpPr>
        <p:spPr>
          <a:xfrm>
            <a:off x="10261600" y="36576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65" name="row-1-var"/>
          <p:cNvSpPr/>
          <p:nvPr/>
        </p:nvSpPr>
        <p:spPr>
          <a:xfrm>
            <a:off x="5626100" y="39878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VS002  心率</a:t>
            </a:r>
          </a:p>
        </p:txBody>
      </p:sp>
      <p:sp>
        <p:nvSpPr>
          <p:cNvPr id="100066" name="row-1-value"/>
          <p:cNvSpPr/>
          <p:nvPr/>
        </p:nvSpPr>
        <p:spPr>
          <a:xfrm>
            <a:off x="7454900" y="39878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68 次/分</a:t>
            </a:r>
          </a:p>
        </p:txBody>
      </p:sp>
      <p:sp>
        <p:nvSpPr>
          <p:cNvPr id="100067" name="row-1-day"/>
          <p:cNvSpPr/>
          <p:nvPr/>
        </p:nvSpPr>
        <p:spPr>
          <a:xfrm>
            <a:off x="9499600" y="39878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68" name="row-1-precision"/>
          <p:cNvSpPr/>
          <p:nvPr/>
        </p:nvSpPr>
        <p:spPr>
          <a:xfrm>
            <a:off x="10261600" y="39878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69" name="row-bg-2"/>
          <p:cNvSpPr/>
          <p:nvPr/>
        </p:nvSpPr>
        <p:spPr>
          <a:xfrm>
            <a:off x="5562600" y="42926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0" name="row-2-var"/>
          <p:cNvSpPr/>
          <p:nvPr/>
        </p:nvSpPr>
        <p:spPr>
          <a:xfrm>
            <a:off x="5626100" y="43180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VS003  呼吸</a:t>
            </a:r>
          </a:p>
        </p:txBody>
      </p:sp>
      <p:sp>
        <p:nvSpPr>
          <p:cNvPr id="100071" name="row-2-value"/>
          <p:cNvSpPr/>
          <p:nvPr/>
        </p:nvSpPr>
        <p:spPr>
          <a:xfrm>
            <a:off x="7454900" y="43180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17 次/分</a:t>
            </a:r>
          </a:p>
        </p:txBody>
      </p:sp>
      <p:sp>
        <p:nvSpPr>
          <p:cNvPr id="100072" name="row-2-day"/>
          <p:cNvSpPr/>
          <p:nvPr/>
        </p:nvSpPr>
        <p:spPr>
          <a:xfrm>
            <a:off x="9499600" y="43180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73" name="row-2-precision"/>
          <p:cNvSpPr/>
          <p:nvPr/>
        </p:nvSpPr>
        <p:spPr>
          <a:xfrm>
            <a:off x="10261600" y="43180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74" name="row-3-var"/>
          <p:cNvSpPr/>
          <p:nvPr/>
        </p:nvSpPr>
        <p:spPr>
          <a:xfrm>
            <a:off x="5626100" y="46482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VS004  收缩压</a:t>
            </a:r>
          </a:p>
        </p:txBody>
      </p:sp>
      <p:sp>
        <p:nvSpPr>
          <p:cNvPr id="100075" name="row-3-value"/>
          <p:cNvSpPr/>
          <p:nvPr/>
        </p:nvSpPr>
        <p:spPr>
          <a:xfrm>
            <a:off x="7454900" y="46482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130 mmHg</a:t>
            </a:r>
          </a:p>
        </p:txBody>
      </p:sp>
      <p:sp>
        <p:nvSpPr>
          <p:cNvPr id="100076" name="row-3-day"/>
          <p:cNvSpPr/>
          <p:nvPr/>
        </p:nvSpPr>
        <p:spPr>
          <a:xfrm>
            <a:off x="9499600" y="46482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77" name="row-3-precision"/>
          <p:cNvSpPr/>
          <p:nvPr/>
        </p:nvSpPr>
        <p:spPr>
          <a:xfrm>
            <a:off x="10261600" y="46482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78" name="row-bg-4"/>
          <p:cNvSpPr/>
          <p:nvPr/>
        </p:nvSpPr>
        <p:spPr>
          <a:xfrm>
            <a:off x="5562600" y="49530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9" name="row-4-var"/>
          <p:cNvSpPr/>
          <p:nvPr/>
        </p:nvSpPr>
        <p:spPr>
          <a:xfrm>
            <a:off x="5626100" y="49784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VS005  舒张压</a:t>
            </a:r>
          </a:p>
        </p:txBody>
      </p:sp>
      <p:sp>
        <p:nvSpPr>
          <p:cNvPr id="100080" name="row-4-value"/>
          <p:cNvSpPr/>
          <p:nvPr/>
        </p:nvSpPr>
        <p:spPr>
          <a:xfrm>
            <a:off x="7454900" y="49784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83 mmHg</a:t>
            </a:r>
          </a:p>
        </p:txBody>
      </p:sp>
      <p:sp>
        <p:nvSpPr>
          <p:cNvPr id="100081" name="row-4-day"/>
          <p:cNvSpPr/>
          <p:nvPr/>
        </p:nvSpPr>
        <p:spPr>
          <a:xfrm>
            <a:off x="9499600" y="49784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82" name="row-4-precision"/>
          <p:cNvSpPr/>
          <p:nvPr/>
        </p:nvSpPr>
        <p:spPr>
          <a:xfrm>
            <a:off x="10261600" y="49784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83" name="row-5-var"/>
          <p:cNvSpPr/>
          <p:nvPr/>
        </p:nvSpPr>
        <p:spPr>
          <a:xfrm>
            <a:off x="5626100" y="53086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VS006  SpO₂</a:t>
            </a:r>
          </a:p>
        </p:txBody>
      </p:sp>
      <p:sp>
        <p:nvSpPr>
          <p:cNvPr id="100084" name="row-5-value"/>
          <p:cNvSpPr/>
          <p:nvPr/>
        </p:nvSpPr>
        <p:spPr>
          <a:xfrm>
            <a:off x="7454900" y="53086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99 %</a:t>
            </a:r>
          </a:p>
        </p:txBody>
      </p:sp>
      <p:sp>
        <p:nvSpPr>
          <p:cNvPr id="100085" name="row-5-day"/>
          <p:cNvSpPr/>
          <p:nvPr/>
        </p:nvSpPr>
        <p:spPr>
          <a:xfrm>
            <a:off x="9499600" y="53086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</a:p>
        </p:txBody>
      </p:sp>
      <p:sp>
        <p:nvSpPr>
          <p:cNvPr id="100086" name="row-5-precision"/>
          <p:cNvSpPr/>
          <p:nvPr/>
        </p:nvSpPr>
        <p:spPr>
          <a:xfrm>
            <a:off x="10261600" y="53086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00087" name="source-2"/>
          <p:cNvSpPr/>
          <p:nvPr/>
        </p:nvSpPr>
        <p:spPr>
          <a:xfrm>
            <a:off x="228600" y="6629400"/>
            <a:ext cx="11112500" cy="203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830" b="0">
                <a:solidFill>
                  <a:srgbClr val="52677A"/>
                </a:solidFill>
                <a:latin typeface="微软雅黑"/>
                <a:ea typeface="微软雅黑"/>
              </a:rPr>
              <a:t>字段值据 docs/数据对齐.md 中的病例示例；*EXAMPLE_01 为展示用关联键，非真实 ID。</a:t>
            </a:r>
          </a:p>
        </p:txBody>
      </p:sp>
      <p:sp>
        <p:nvSpPr>
          <p:cNvPr id="100088" name="takeaway-2"/>
          <p:cNvSpPr/>
          <p:nvPr/>
        </p:nvSpPr>
        <p:spPr>
          <a:xfrm>
            <a:off x="1625600" y="60198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600" b="1">
                <a:solidFill>
                  <a:srgbClr val="006FBD"/>
                </a:solidFill>
                <a:latin typeface="微软雅黑"/>
                <a:ea typeface="微软雅黑"/>
              </a:rPr>
              <a:t>同一套编码能落入相同列；GD 的“第 0 天”不等于精确 0 小时。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1700">
                <a:latin typeface="微软雅黑" charset="-122"/>
                <a:ea typeface="微软雅黑" charset="-122"/>
                <a:cs typeface="微软雅黑" charset="-122"/>
              </a:rPr>
              <a:t>对照源字段、单位与覆盖率；候选映射不等于已通过全量验收</a:t>
            </a:r>
            <a:endParaRPr lang="zh-CN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5334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 xml:space="preserve"> 公开数据映射边界</a:t>
            </a: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100089" name="public-chip-0"/>
          <p:cNvSpPr/>
          <p:nvPr/>
        </p:nvSpPr>
        <p:spPr>
          <a:xfrm>
            <a:off x="12700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280" b="1">
                <a:solidFill>
                  <a:srgbClr val="174876"/>
                </a:solidFill>
                <a:latin typeface="微软雅黑"/>
                <a:ea typeface="微软雅黑"/>
              </a:rPr>
              <a:t>MIMIC-IV  659 次可联结住院</a:t>
            </a:r>
          </a:p>
        </p:txBody>
      </p:sp>
      <p:sp>
        <p:nvSpPr>
          <p:cNvPr id="100090" name="public-chip-1"/>
          <p:cNvSpPr/>
          <p:nvPr/>
        </p:nvSpPr>
        <p:spPr>
          <a:xfrm>
            <a:off x="45466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280" b="1">
                <a:solidFill>
                  <a:srgbClr val="174876"/>
                </a:solidFill>
                <a:latin typeface="微软雅黑"/>
                <a:ea typeface="微软雅黑"/>
              </a:rPr>
              <a:t>eICU  15,929 ARI 候选 / 严格流感 0</a:t>
            </a:r>
          </a:p>
        </p:txBody>
      </p:sp>
      <p:sp>
        <p:nvSpPr>
          <p:cNvPr id="100091" name="public-chip-2"/>
          <p:cNvSpPr/>
          <p:nvPr/>
        </p:nvSpPr>
        <p:spPr>
          <a:xfrm>
            <a:off x="78232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280" b="1">
                <a:solidFill>
                  <a:srgbClr val="174876"/>
                </a:solidFill>
                <a:latin typeface="微软雅黑"/>
                <a:ea typeface="微软雅黑"/>
              </a:rPr>
              <a:t>MC-MED  118,385 次急诊 / 字段 QC</a:t>
            </a:r>
          </a:p>
        </p:txBody>
      </p:sp>
      <p:sp>
        <p:nvSpPr>
          <p:cNvPr id="100092" name="mapping-bg"/>
          <p:cNvSpPr/>
          <p:nvPr/>
        </p:nvSpPr>
        <p:spPr>
          <a:xfrm>
            <a:off x="1270000" y="2667000"/>
            <a:ext cx="97028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3" name="mapping-header"/>
          <p:cNvSpPr/>
          <p:nvPr/>
        </p:nvSpPr>
        <p:spPr>
          <a:xfrm>
            <a:off x="1282700" y="2679700"/>
            <a:ext cx="9677400" cy="444500"/>
          </a:xfrm>
          <a:prstGeom prst="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4" name="mapping-col-0"/>
          <p:cNvSpPr/>
          <p:nvPr/>
        </p:nvSpPr>
        <p:spPr>
          <a:xfrm>
            <a:off x="1346200" y="2717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共同变量</a:t>
            </a:r>
          </a:p>
        </p:txBody>
      </p:sp>
      <p:sp>
        <p:nvSpPr>
          <p:cNvPr id="100095" name="mapping-col-1"/>
          <p:cNvSpPr/>
          <p:nvPr/>
        </p:nvSpPr>
        <p:spPr>
          <a:xfrm>
            <a:off x="3479800" y="271780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医院数据</a:t>
            </a:r>
          </a:p>
        </p:txBody>
      </p:sp>
      <p:sp>
        <p:nvSpPr>
          <p:cNvPr id="100096" name="mapping-col-2"/>
          <p:cNvSpPr/>
          <p:nvPr/>
        </p:nvSpPr>
        <p:spPr>
          <a:xfrm>
            <a:off x="5549900" y="2717800"/>
            <a:ext cx="3670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MIMIC-IV 候选字段</a:t>
            </a:r>
          </a:p>
        </p:txBody>
      </p:sp>
      <p:sp>
        <p:nvSpPr>
          <p:cNvPr id="100097" name="mapping-col-3"/>
          <p:cNvSpPr/>
          <p:nvPr/>
        </p:nvSpPr>
        <p:spPr>
          <a:xfrm>
            <a:off x="9283700" y="2717800"/>
            <a:ext cx="15875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处理</a:t>
            </a:r>
          </a:p>
        </p:txBody>
      </p:sp>
      <p:sp>
        <p:nvSpPr>
          <p:cNvPr id="100098" name="mapping-bg-0"/>
          <p:cNvSpPr/>
          <p:nvPr/>
        </p:nvSpPr>
        <p:spPr>
          <a:xfrm>
            <a:off x="1295400" y="3149600"/>
            <a:ext cx="9652000" cy="5969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9" name="mapping-0-0"/>
          <p:cNvSpPr/>
          <p:nvPr/>
        </p:nvSpPr>
        <p:spPr>
          <a:xfrm>
            <a:off x="1358900" y="32385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VS001  体温 ℃</a:t>
            </a:r>
          </a:p>
        </p:txBody>
      </p:sp>
      <p:sp>
        <p:nvSpPr>
          <p:cNvPr id="100100" name="mapping-0-1"/>
          <p:cNvSpPr/>
          <p:nvPr/>
        </p:nvSpPr>
        <p:spPr>
          <a:xfrm>
            <a:off x="3505200" y="32385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GD 37.8 ℃ 等</a:t>
            </a:r>
          </a:p>
        </p:txBody>
      </p:sp>
      <p:sp>
        <p:nvSpPr>
          <p:cNvPr id="100101" name="mapping-0-2"/>
          <p:cNvSpPr/>
          <p:nvPr/>
        </p:nvSpPr>
        <p:spPr>
          <a:xfrm>
            <a:off x="5588000" y="32385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223762（℃）/ 223761（℉→℃）</a:t>
            </a:r>
          </a:p>
        </p:txBody>
      </p:sp>
      <p:sp>
        <p:nvSpPr>
          <p:cNvPr id="100102" name="mapping-0-3"/>
          <p:cNvSpPr/>
          <p:nvPr/>
        </p:nvSpPr>
        <p:spPr>
          <a:xfrm>
            <a:off x="9309100" y="32385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核对时间后用</a:t>
            </a:r>
          </a:p>
        </p:txBody>
      </p:sp>
      <p:sp>
        <p:nvSpPr>
          <p:cNvPr id="100103" name="mapping-1-0"/>
          <p:cNvSpPr/>
          <p:nvPr/>
        </p:nvSpPr>
        <p:spPr>
          <a:xfrm>
            <a:off x="1358900" y="38481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VS004  收缩压</a:t>
            </a:r>
          </a:p>
        </p:txBody>
      </p:sp>
      <p:sp>
        <p:nvSpPr>
          <p:cNvPr id="100104" name="mapping-1-1"/>
          <p:cNvSpPr/>
          <p:nvPr/>
        </p:nvSpPr>
        <p:spPr>
          <a:xfrm>
            <a:off x="3505200" y="38481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文本 SBP/DBP</a:t>
            </a:r>
          </a:p>
        </p:txBody>
      </p:sp>
      <p:sp>
        <p:nvSpPr>
          <p:cNvPr id="100105" name="mapping-1-2"/>
          <p:cNvSpPr/>
          <p:nvPr/>
        </p:nvSpPr>
        <p:spPr>
          <a:xfrm>
            <a:off x="5588000" y="38481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220179 无创 / 220050 有创</a:t>
            </a:r>
          </a:p>
        </p:txBody>
      </p:sp>
      <p:sp>
        <p:nvSpPr>
          <p:cNvPr id="100106" name="mapping-1-3"/>
          <p:cNvSpPr/>
          <p:nvPr/>
        </p:nvSpPr>
        <p:spPr>
          <a:xfrm>
            <a:off x="9309100" y="38481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仅同测法合并</a:t>
            </a:r>
          </a:p>
        </p:txBody>
      </p:sp>
      <p:sp>
        <p:nvSpPr>
          <p:cNvPr id="100107" name="mapping-bg-2"/>
          <p:cNvSpPr/>
          <p:nvPr/>
        </p:nvSpPr>
        <p:spPr>
          <a:xfrm>
            <a:off x="1295400" y="4368800"/>
            <a:ext cx="9652000" cy="5969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08" name="mapping-2-0"/>
          <p:cNvSpPr/>
          <p:nvPr/>
        </p:nvSpPr>
        <p:spPr>
          <a:xfrm>
            <a:off x="1358900" y="44577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LAB001  白细胞</a:t>
            </a:r>
          </a:p>
        </p:txBody>
      </p:sp>
      <p:sp>
        <p:nvSpPr>
          <p:cNvPr id="100109" name="mapping-2-1"/>
          <p:cNvSpPr/>
          <p:nvPr/>
        </p:nvSpPr>
        <p:spPr>
          <a:xfrm>
            <a:off x="3505200" y="44577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统一 10⁹/L</a:t>
            </a:r>
          </a:p>
        </p:txBody>
      </p:sp>
      <p:sp>
        <p:nvSpPr>
          <p:cNvPr id="100110" name="mapping-2-2"/>
          <p:cNvSpPr/>
          <p:nvPr/>
        </p:nvSpPr>
        <p:spPr>
          <a:xfrm>
            <a:off x="5588000" y="44577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51301/51300；K/uL ×1</a:t>
            </a:r>
          </a:p>
        </p:txBody>
      </p:sp>
      <p:sp>
        <p:nvSpPr>
          <p:cNvPr id="100111" name="mapping-2-3"/>
          <p:cNvSpPr/>
          <p:nvPr/>
        </p:nvSpPr>
        <p:spPr>
          <a:xfrm>
            <a:off x="9309100" y="44577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核对单位后用</a:t>
            </a:r>
          </a:p>
        </p:txBody>
      </p:sp>
      <p:sp>
        <p:nvSpPr>
          <p:cNvPr id="100112" name="mapping-3-0"/>
          <p:cNvSpPr/>
          <p:nvPr/>
        </p:nvSpPr>
        <p:spPr>
          <a:xfrm>
            <a:off x="1358900" y="50673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LAB006  CRP</a:t>
            </a:r>
          </a:p>
        </p:txBody>
      </p:sp>
      <p:sp>
        <p:nvSpPr>
          <p:cNvPr id="100113" name="mapping-3-1"/>
          <p:cNvSpPr/>
          <p:nvPr/>
        </p:nvSpPr>
        <p:spPr>
          <a:xfrm>
            <a:off x="3505200" y="50673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医院覆盖较高</a:t>
            </a:r>
          </a:p>
        </p:txBody>
      </p:sp>
      <p:sp>
        <p:nvSpPr>
          <p:cNvPr id="100114" name="mapping-3-2"/>
          <p:cNvSpPr/>
          <p:nvPr/>
        </p:nvSpPr>
        <p:spPr>
          <a:xfrm>
            <a:off x="5588000" y="50673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50889；窗口内仅 7/659（1.1%）</a:t>
            </a:r>
          </a:p>
        </p:txBody>
      </p:sp>
      <p:sp>
        <p:nvSpPr>
          <p:cNvPr id="100115" name="mapping-3-3"/>
          <p:cNvSpPr/>
          <p:nvPr/>
        </p:nvSpPr>
        <p:spPr>
          <a:xfrm>
            <a:off x="9309100" y="50673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D77932"/>
                </a:solidFill>
                <a:latin typeface="微软雅黑"/>
                <a:ea typeface="微软雅黑"/>
              </a:rPr>
              <a:t>暂不入共同核心</a:t>
            </a:r>
          </a:p>
        </p:txBody>
      </p:sp>
      <p:sp>
        <p:nvSpPr>
          <p:cNvPr id="100116" name="source-3"/>
          <p:cNvSpPr/>
          <p:nvPr/>
        </p:nvSpPr>
        <p:spPr>
          <a:xfrm>
            <a:off x="228600" y="6629400"/>
            <a:ext cx="11112500" cy="203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830" b="0">
                <a:solidFill>
                  <a:srgbClr val="52677A"/>
                </a:solidFill>
                <a:latin typeface="微软雅黑"/>
                <a:ea typeface="微软雅黑"/>
              </a:rPr>
              <a:t>资料：实验执行计划 §4.2–4.3；原稿的 MIMIC 覆盖率。itemid 均需由字典与单位复核。</a:t>
            </a:r>
          </a:p>
        </p:txBody>
      </p:sp>
      <p:sp>
        <p:nvSpPr>
          <p:cNvPr id="100117" name="takeaway-3"/>
          <p:cNvSpPr/>
          <p:nvPr/>
        </p:nvSpPr>
        <p:spPr>
          <a:xfrm>
            <a:off x="1625600" y="60198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600" b="1">
                <a:solidFill>
                  <a:srgbClr val="006FBD"/>
                </a:solidFill>
                <a:latin typeface="微软雅黑"/>
                <a:ea typeface="微软雅黑"/>
              </a:rPr>
              <a:t>共同核心选定义、测法和覆盖都站得住的变量；其余保留来源扩展。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altLang="en-US" sz="1700">
                <a:latin typeface="微软雅黑" charset="-122"/>
                <a:ea typeface="微软雅黑" charset="-122"/>
                <a:cs typeface="微软雅黑" charset="-122"/>
              </a:rPr>
              <a:t>长表提取索引日前可用信息，形成一行输入，再做跨医院验证</a:t>
            </a: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5334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 xml:space="preserve"> 对齐表进入模型</a:t>
            </a: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100118" name="trial-chip-0"/>
          <p:cNvSpPr/>
          <p:nvPr/>
        </p:nvSpPr>
        <p:spPr>
          <a:xfrm>
            <a:off x="12700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350" b="1">
                <a:solidFill>
                  <a:srgbClr val="174876"/>
                </a:solidFill>
                <a:latin typeface="微软雅黑"/>
                <a:ea typeface="微软雅黑"/>
              </a:rPr>
              <a:t>GAM 训练  163 次 / 10 事件</a:t>
            </a:r>
          </a:p>
        </p:txBody>
      </p:sp>
      <p:sp>
        <p:nvSpPr>
          <p:cNvPr id="100119" name="trial-chip-1"/>
          <p:cNvSpPr/>
          <p:nvPr/>
        </p:nvSpPr>
        <p:spPr>
          <a:xfrm>
            <a:off x="45466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350" b="1">
                <a:solidFill>
                  <a:srgbClr val="174876"/>
                </a:solidFill>
                <a:latin typeface="微软雅黑"/>
                <a:ea typeface="微软雅黑"/>
              </a:rPr>
              <a:t>GD 验证  292 次 / 38 事件</a:t>
            </a:r>
          </a:p>
        </p:txBody>
      </p:sp>
      <p:sp>
        <p:nvSpPr>
          <p:cNvPr id="100120" name="trial-chip-2"/>
          <p:cNvSpPr/>
          <p:nvPr/>
        </p:nvSpPr>
        <p:spPr>
          <a:xfrm>
            <a:off x="7823200" y="1993900"/>
            <a:ext cx="314960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50800" tIns="50800" rIns="50800" bIns="50800" anchor="ctr">
            <a:normAutofit/>
          </a:bodyPr>
          <a:lstStyle/>
          <a:p>
            <a:pPr algn="ctr"/>
            <a:r>
              <a:rPr lang="en-US" sz="1350" b="1">
                <a:solidFill>
                  <a:srgbClr val="174876"/>
                </a:solidFill>
                <a:latin typeface="微软雅黑"/>
                <a:ea typeface="微软雅黑"/>
              </a:rPr>
              <a:t>GD 当天转重  26 / 38</a:t>
            </a:r>
          </a:p>
        </p:txBody>
      </p:sp>
      <p:sp>
        <p:nvSpPr>
          <p:cNvPr id="100121" name="feature-bg"/>
          <p:cNvSpPr/>
          <p:nvPr/>
        </p:nvSpPr>
        <p:spPr>
          <a:xfrm>
            <a:off x="1270000" y="2667000"/>
            <a:ext cx="4356100" cy="30226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22" name="feature-head"/>
          <p:cNvSpPr/>
          <p:nvPr/>
        </p:nvSpPr>
        <p:spPr>
          <a:xfrm>
            <a:off x="1435100" y="27686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从 events 到一行输入（字段示意）</a:t>
            </a:r>
          </a:p>
        </p:txBody>
      </p:sp>
      <p:sp>
        <p:nvSpPr>
          <p:cNvPr id="100123" name="feature-row-0"/>
          <p:cNvSpPr/>
          <p:nvPr/>
        </p:nvSpPr>
        <p:spPr>
          <a:xfrm>
            <a:off x="1447800" y="3263900"/>
            <a:ext cx="39751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88900" tIns="88900" rIns="88900" bIns="889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VS001   37.8 ℃    →  体温首值</a:t>
            </a:r>
          </a:p>
        </p:txBody>
      </p:sp>
      <p:sp>
        <p:nvSpPr>
          <p:cNvPr id="100124" name="feature-row-1"/>
          <p:cNvSpPr/>
          <p:nvPr/>
        </p:nvSpPr>
        <p:spPr>
          <a:xfrm>
            <a:off x="1447800" y="3657600"/>
            <a:ext cx="3975100" cy="3429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txBody>
          <a:bodyPr lIns="88900" tIns="88900" rIns="88900" bIns="889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VS002   68 次/分 →  心率首值</a:t>
            </a:r>
          </a:p>
        </p:txBody>
      </p:sp>
      <p:sp>
        <p:nvSpPr>
          <p:cNvPr id="100125" name="feature-row-2"/>
          <p:cNvSpPr/>
          <p:nvPr/>
        </p:nvSpPr>
        <p:spPr>
          <a:xfrm>
            <a:off x="1447800" y="4051300"/>
            <a:ext cx="39751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88900" tIns="88900" rIns="88900" bIns="889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VS004   130 mmHg →  收缩压首值</a:t>
            </a:r>
          </a:p>
        </p:txBody>
      </p:sp>
      <p:sp>
        <p:nvSpPr>
          <p:cNvPr id="100126" name="feature-down"/>
          <p:cNvSpPr/>
          <p:nvPr/>
        </p:nvSpPr>
        <p:spPr>
          <a:xfrm>
            <a:off x="3251200" y="4483100"/>
            <a:ext cx="304800" cy="2794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27" name="wide-row"/>
          <p:cNvSpPr/>
          <p:nvPr/>
        </p:nvSpPr>
        <p:spPr>
          <a:xfrm>
            <a:off x="1435100" y="4876800"/>
            <a:ext cx="4025900" cy="5461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crf_view：年龄 75 / 男 + 15 项临床测量</a:t>
            </a:r>
          </a:p>
        </p:txBody>
      </p:sp>
      <p:sp>
        <p:nvSpPr>
          <p:cNvPr id="100128" name="feature-caution"/>
          <p:cNvSpPr/>
          <p:nvPr/>
        </p:nvSpPr>
        <p:spPr>
          <a:xfrm>
            <a:off x="1422400" y="5435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980" b="0">
                <a:solidFill>
                  <a:srgbClr val="52677A"/>
                </a:solidFill>
                <a:latin typeface="微软雅黑"/>
                <a:ea typeface="微软雅黑"/>
              </a:rPr>
              <a:t>左侧数值仅说明字段形态，不是试验个体结果。</a:t>
            </a:r>
          </a:p>
        </p:txBody>
      </p:sp>
      <p:sp>
        <p:nvSpPr>
          <p:cNvPr id="100129" name="result-bg"/>
          <p:cNvSpPr/>
          <p:nvPr/>
        </p:nvSpPr>
        <p:spPr>
          <a:xfrm>
            <a:off x="5778500" y="2667000"/>
            <a:ext cx="5181600" cy="3022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0" name="result-head"/>
          <p:cNvSpPr/>
          <p:nvPr/>
        </p:nvSpPr>
        <p:spPr>
          <a:xfrm>
            <a:off x="5943600" y="27686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600" b="1">
                <a:solidFill>
                  <a:srgbClr val="174876"/>
                </a:solidFill>
                <a:latin typeface="微软雅黑"/>
                <a:ea typeface="微软雅黑"/>
              </a:rPr>
              <a:t>GD 外部验证  ·  AUROC</a:t>
            </a:r>
          </a:p>
        </p:txBody>
      </p:sp>
      <p:sp>
        <p:nvSpPr>
          <p:cNvPr id="100131" name="result-name-0"/>
          <p:cNvSpPr/>
          <p:nvPr/>
        </p:nvSpPr>
        <p:spPr>
          <a:xfrm>
            <a:off x="5943600" y="3289300"/>
            <a:ext cx="1282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LR</a:t>
            </a:r>
          </a:p>
        </p:txBody>
      </p:sp>
      <p:sp>
        <p:nvSpPr>
          <p:cNvPr id="100132" name="result-track-0"/>
          <p:cNvSpPr/>
          <p:nvPr/>
        </p:nvSpPr>
        <p:spPr>
          <a:xfrm>
            <a:off x="7366000" y="3441700"/>
            <a:ext cx="2844800" cy="25400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3" name="result-dot-0"/>
          <p:cNvSpPr/>
          <p:nvPr/>
        </p:nvSpPr>
        <p:spPr>
          <a:xfrm>
            <a:off x="9486900" y="3365500"/>
            <a:ext cx="177800" cy="177800"/>
          </a:xfrm>
          <a:prstGeom prst="ellipse">
            <a:avLst/>
          </a:prstGeom>
          <a:solidFill>
            <a:srgbClr val="1748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4" name="result-value-0"/>
          <p:cNvSpPr/>
          <p:nvPr/>
        </p:nvSpPr>
        <p:spPr>
          <a:xfrm>
            <a:off x="10261600" y="3289300"/>
            <a:ext cx="5588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0.733</a:t>
            </a:r>
          </a:p>
        </p:txBody>
      </p:sp>
      <p:sp>
        <p:nvSpPr>
          <p:cNvPr id="100135" name="result-name-1"/>
          <p:cNvSpPr/>
          <p:nvPr/>
        </p:nvSpPr>
        <p:spPr>
          <a:xfrm>
            <a:off x="5943600" y="3771900"/>
            <a:ext cx="1282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LightGBM</a:t>
            </a:r>
          </a:p>
        </p:txBody>
      </p:sp>
      <p:sp>
        <p:nvSpPr>
          <p:cNvPr id="100136" name="result-track-1"/>
          <p:cNvSpPr/>
          <p:nvPr/>
        </p:nvSpPr>
        <p:spPr>
          <a:xfrm>
            <a:off x="7366000" y="3924300"/>
            <a:ext cx="2844800" cy="25400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7" name="result-dot-1"/>
          <p:cNvSpPr/>
          <p:nvPr/>
        </p:nvSpPr>
        <p:spPr>
          <a:xfrm>
            <a:off x="9525000" y="3848100"/>
            <a:ext cx="177800" cy="177800"/>
          </a:xfrm>
          <a:prstGeom prst="ellipse">
            <a:avLst/>
          </a:prstGeom>
          <a:solidFill>
            <a:srgbClr val="7FB2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8" name="result-value-1"/>
          <p:cNvSpPr/>
          <p:nvPr/>
        </p:nvSpPr>
        <p:spPr>
          <a:xfrm>
            <a:off x="10261600" y="3771900"/>
            <a:ext cx="5588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0.737</a:t>
            </a:r>
          </a:p>
        </p:txBody>
      </p:sp>
      <p:sp>
        <p:nvSpPr>
          <p:cNvPr id="100139" name="result-name-2"/>
          <p:cNvSpPr/>
          <p:nvPr/>
        </p:nvSpPr>
        <p:spPr>
          <a:xfrm>
            <a:off x="5943600" y="4254500"/>
            <a:ext cx="1282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TabPFN</a:t>
            </a:r>
          </a:p>
        </p:txBody>
      </p:sp>
      <p:sp>
        <p:nvSpPr>
          <p:cNvPr id="100140" name="result-track-2"/>
          <p:cNvSpPr/>
          <p:nvPr/>
        </p:nvSpPr>
        <p:spPr>
          <a:xfrm>
            <a:off x="7366000" y="4406900"/>
            <a:ext cx="2844800" cy="25400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1" name="result-dot-2"/>
          <p:cNvSpPr/>
          <p:nvPr/>
        </p:nvSpPr>
        <p:spPr>
          <a:xfrm>
            <a:off x="9544050" y="4330700"/>
            <a:ext cx="177800" cy="177800"/>
          </a:xfrm>
          <a:prstGeom prst="ellipse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2" name="result-value-2"/>
          <p:cNvSpPr/>
          <p:nvPr/>
        </p:nvSpPr>
        <p:spPr>
          <a:xfrm>
            <a:off x="10261600" y="4254500"/>
            <a:ext cx="5588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0.739</a:t>
            </a:r>
          </a:p>
        </p:txBody>
      </p:sp>
      <p:sp>
        <p:nvSpPr>
          <p:cNvPr id="100143" name="result-name-3"/>
          <p:cNvSpPr/>
          <p:nvPr/>
        </p:nvSpPr>
        <p:spPr>
          <a:xfrm>
            <a:off x="5943600" y="4737100"/>
            <a:ext cx="1282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MIRA R0b</a:t>
            </a:r>
          </a:p>
        </p:txBody>
      </p:sp>
      <p:sp>
        <p:nvSpPr>
          <p:cNvPr id="100144" name="result-track-3"/>
          <p:cNvSpPr/>
          <p:nvPr/>
        </p:nvSpPr>
        <p:spPr>
          <a:xfrm>
            <a:off x="7366000" y="4889500"/>
            <a:ext cx="2844800" cy="25400"/>
          </a:xfrm>
          <a:prstGeom prst="rect">
            <a:avLst/>
          </a:prstGeom>
          <a:solidFill>
            <a:srgbClr val="CCD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5" name="result-dot-3"/>
          <p:cNvSpPr/>
          <p:nvPr/>
        </p:nvSpPr>
        <p:spPr>
          <a:xfrm>
            <a:off x="8310880" y="4813300"/>
            <a:ext cx="177800" cy="177800"/>
          </a:xfrm>
          <a:prstGeom prst="ellipse">
            <a:avLst/>
          </a:prstGeom>
          <a:solidFill>
            <a:srgbClr val="D779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6" name="result-value-3"/>
          <p:cNvSpPr/>
          <p:nvPr/>
        </p:nvSpPr>
        <p:spPr>
          <a:xfrm>
            <a:off x="10261600" y="4737100"/>
            <a:ext cx="5588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0.609</a:t>
            </a:r>
          </a:p>
        </p:txBody>
      </p:sp>
      <p:sp>
        <p:nvSpPr>
          <p:cNvPr id="100147" name="tick-0"/>
          <p:cNvSpPr/>
          <p:nvPr/>
        </p:nvSpPr>
        <p:spPr>
          <a:xfrm>
            <a:off x="7200900" y="52832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050" b="0">
                <a:solidFill>
                  <a:srgbClr val="52677A"/>
                </a:solidFill>
                <a:latin typeface="微软雅黑"/>
                <a:ea typeface="微软雅黑"/>
              </a:rPr>
              <a:t>0.5</a:t>
            </a:r>
          </a:p>
        </p:txBody>
      </p:sp>
      <p:sp>
        <p:nvSpPr>
          <p:cNvPr id="100148" name="tick-1"/>
          <p:cNvSpPr/>
          <p:nvPr/>
        </p:nvSpPr>
        <p:spPr>
          <a:xfrm>
            <a:off x="8149590" y="52832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050" b="0">
                <a:solidFill>
                  <a:srgbClr val="52677A"/>
                </a:solidFill>
                <a:latin typeface="微软雅黑"/>
                <a:ea typeface="微软雅黑"/>
              </a:rPr>
              <a:t>0.6</a:t>
            </a:r>
          </a:p>
        </p:txBody>
      </p:sp>
      <p:sp>
        <p:nvSpPr>
          <p:cNvPr id="100149" name="tick-2"/>
          <p:cNvSpPr/>
          <p:nvPr/>
        </p:nvSpPr>
        <p:spPr>
          <a:xfrm>
            <a:off x="9098280" y="52832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050" b="0">
                <a:solidFill>
                  <a:srgbClr val="52677A"/>
                </a:solidFill>
                <a:latin typeface="微软雅黑"/>
                <a:ea typeface="微软雅黑"/>
              </a:rPr>
              <a:t>0.7</a:t>
            </a:r>
          </a:p>
        </p:txBody>
      </p:sp>
      <p:sp>
        <p:nvSpPr>
          <p:cNvPr id="100150" name="tick-3"/>
          <p:cNvSpPr/>
          <p:nvPr/>
        </p:nvSpPr>
        <p:spPr>
          <a:xfrm>
            <a:off x="10046970" y="52832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050" b="0">
                <a:solidFill>
                  <a:srgbClr val="52677A"/>
                </a:solidFill>
                <a:latin typeface="微软雅黑"/>
                <a:ea typeface="微软雅黑"/>
              </a:rPr>
              <a:t>0.8</a:t>
            </a:r>
          </a:p>
        </p:txBody>
      </p:sp>
      <p:sp>
        <p:nvSpPr>
          <p:cNvPr id="100151" name="source-4"/>
          <p:cNvSpPr/>
          <p:nvPr/>
        </p:nvSpPr>
        <p:spPr>
          <a:xfrm>
            <a:off x="228600" y="6629400"/>
            <a:ext cx="11112500" cy="203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830" b="0">
                <a:solidFill>
                  <a:srgbClr val="52677A"/>
                </a:solidFill>
                <a:latin typeface="微软雅黑"/>
                <a:ea typeface="微软雅黑"/>
              </a:rPr>
              <a:t>资料：原稿 GD 外部验证结果；docs/数据对齐.md 字段示例。O/E = 1.18–2.81。</a:t>
            </a:r>
          </a:p>
        </p:txBody>
      </p:sp>
      <p:sp>
        <p:nvSpPr>
          <p:cNvPr id="100152" name="takeaway-4"/>
          <p:cNvSpPr/>
          <p:nvPr/>
        </p:nvSpPr>
        <p:spPr>
          <a:xfrm>
            <a:off x="1625600" y="60198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600" b="1">
                <a:solidFill>
                  <a:srgbClr val="006FBD"/>
                </a:solidFill>
                <a:latin typeface="微软雅黑"/>
                <a:ea typeface="微软雅黑"/>
              </a:rPr>
              <a:t>输入已可用于外部验证；TabPFN 与 LR 接近，当天事件使时点解释受限。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altLang="en-US" sz="1700">
                <a:latin typeface="微软雅黑" charset="-122"/>
                <a:ea typeface="微软雅黑" charset="-122"/>
                <a:cs typeface="微软雅黑" charset="-122"/>
              </a:rPr>
              <a:t>对齐的不是患者，而是变量含义、可用时间与可比较的结局</a:t>
            </a: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5334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 xml:space="preserve"> 对齐边界与下一步</a:t>
            </a: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100153" name="time-bg"/>
          <p:cNvSpPr/>
          <p:nvPr/>
        </p:nvSpPr>
        <p:spPr>
          <a:xfrm>
            <a:off x="1282700" y="1968500"/>
            <a:ext cx="9677400" cy="762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54" name="time-head"/>
          <p:cNvSpPr/>
          <p:nvPr/>
        </p:nvSpPr>
        <p:spPr>
          <a:xfrm>
            <a:off x="1447800" y="20320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统一输入按天对齐</a:t>
            </a:r>
          </a:p>
        </p:txBody>
      </p:sp>
      <p:sp>
        <p:nvSpPr>
          <p:cNvPr id="100155" name="hospital-time"/>
          <p:cNvSpPr/>
          <p:nvPr/>
        </p:nvSpPr>
        <p:spPr>
          <a:xfrm>
            <a:off x="3517900" y="20193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174876"/>
                </a:solidFill>
                <a:latin typeface="微软雅黑"/>
                <a:ea typeface="微软雅黑"/>
              </a:rPr>
              <a:t>医院：第 0 天  ●── 第 1 天 ── 第 2 天</a:t>
            </a:r>
          </a:p>
        </p:txBody>
      </p:sp>
      <p:sp>
        <p:nvSpPr>
          <p:cNvPr id="100156" name="public-time"/>
          <p:cNvSpPr/>
          <p:nvPr/>
        </p:nvSpPr>
        <p:spPr>
          <a:xfrm>
            <a:off x="3517900" y="23241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52677A"/>
                </a:solidFill>
                <a:latin typeface="微软雅黑"/>
                <a:ea typeface="微软雅黑"/>
              </a:rPr>
              <a:t>公开： 0 h   ·   6 h   ·   12 h   ·   18 h   ·   24 h</a:t>
            </a:r>
          </a:p>
        </p:txBody>
      </p:sp>
      <p:sp>
        <p:nvSpPr>
          <p:cNvPr id="100157" name="boundary-bg-0"/>
          <p:cNvSpPr/>
          <p:nvPr/>
        </p:nvSpPr>
        <p:spPr>
          <a:xfrm>
            <a:off x="1282700" y="2882900"/>
            <a:ext cx="3073400" cy="27051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58" name="boundary-number-bg-0"/>
          <p:cNvSpPr/>
          <p:nvPr/>
        </p:nvSpPr>
        <p:spPr>
          <a:xfrm>
            <a:off x="1435100" y="3035300"/>
            <a:ext cx="431800" cy="431800"/>
          </a:xfrm>
          <a:prstGeom prst="ellipse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59" name="boundary-number-0"/>
          <p:cNvSpPr/>
          <p:nvPr/>
        </p:nvSpPr>
        <p:spPr>
          <a:xfrm>
            <a:off x="1447800" y="30607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0160" name="boundary-title-0"/>
          <p:cNvSpPr/>
          <p:nvPr/>
        </p:nvSpPr>
        <p:spPr>
          <a:xfrm>
            <a:off x="1930400" y="3060700"/>
            <a:ext cx="2235200" cy="355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01  单位与测法</a:t>
            </a:r>
          </a:p>
        </p:txBody>
      </p:sp>
      <p:sp>
        <p:nvSpPr>
          <p:cNvPr id="100161" name="boundary-detail-0"/>
          <p:cNvSpPr/>
          <p:nvPr/>
        </p:nvSpPr>
        <p:spPr>
          <a:xfrm>
            <a:off x="1447800" y="3594100"/>
            <a:ext cx="2743200" cy="9779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t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D-二聚体 FEU / DDU 未区分；</a:t>
            </a:r>
          </a:p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血压要分无创与有创。</a:t>
            </a:r>
          </a:p>
        </p:txBody>
      </p:sp>
      <p:sp>
        <p:nvSpPr>
          <p:cNvPr id="100162" name="boundary-action-bg-0"/>
          <p:cNvSpPr/>
          <p:nvPr/>
        </p:nvSpPr>
        <p:spPr>
          <a:xfrm>
            <a:off x="1447800" y="4800600"/>
            <a:ext cx="2743200" cy="5461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3" name="boundary-action-0"/>
          <p:cNvSpPr/>
          <p:nvPr/>
        </p:nvSpPr>
        <p:spPr>
          <a:xfrm>
            <a:off x="1511300" y="4876800"/>
            <a:ext cx="26162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1">
                <a:solidFill>
                  <a:srgbClr val="174876"/>
                </a:solidFill>
                <a:latin typeface="微软雅黑"/>
                <a:ea typeface="微软雅黑"/>
              </a:rPr>
              <a:t>先冻结字典、单位和测量方式</a:t>
            </a:r>
          </a:p>
        </p:txBody>
      </p:sp>
      <p:sp>
        <p:nvSpPr>
          <p:cNvPr id="100164" name="boundary-bg-1"/>
          <p:cNvSpPr/>
          <p:nvPr/>
        </p:nvSpPr>
        <p:spPr>
          <a:xfrm>
            <a:off x="4584700" y="2882900"/>
            <a:ext cx="3073400" cy="27051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5" name="boundary-number-bg-1"/>
          <p:cNvSpPr/>
          <p:nvPr/>
        </p:nvSpPr>
        <p:spPr>
          <a:xfrm>
            <a:off x="4737100" y="3035300"/>
            <a:ext cx="431800" cy="431800"/>
          </a:xfrm>
          <a:prstGeom prst="ellipse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6" name="boundary-number-1"/>
          <p:cNvSpPr/>
          <p:nvPr/>
        </p:nvSpPr>
        <p:spPr>
          <a:xfrm>
            <a:off x="4749800" y="30607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0167" name="boundary-title-1"/>
          <p:cNvSpPr/>
          <p:nvPr/>
        </p:nvSpPr>
        <p:spPr>
          <a:xfrm>
            <a:off x="5232400" y="3060700"/>
            <a:ext cx="2235200" cy="355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02  时间可用性</a:t>
            </a:r>
          </a:p>
        </p:txBody>
      </p:sp>
      <p:sp>
        <p:nvSpPr>
          <p:cNvPr id="100168" name="boundary-detail-1"/>
          <p:cNvSpPr/>
          <p:nvPr/>
        </p:nvSpPr>
        <p:spPr>
          <a:xfrm>
            <a:off x="4749800" y="3594100"/>
            <a:ext cx="2743200" cy="9779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t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GD 多为日期级；MIMIC 检验</a:t>
            </a:r>
          </a:p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预测时需核对 storetime。</a:t>
            </a:r>
          </a:p>
        </p:txBody>
      </p:sp>
      <p:sp>
        <p:nvSpPr>
          <p:cNvPr id="100169" name="boundary-action-bg-1"/>
          <p:cNvSpPr/>
          <p:nvPr/>
        </p:nvSpPr>
        <p:spPr>
          <a:xfrm>
            <a:off x="4749800" y="4800600"/>
            <a:ext cx="2743200" cy="5461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0" name="boundary-action-1"/>
          <p:cNvSpPr/>
          <p:nvPr/>
        </p:nvSpPr>
        <p:spPr>
          <a:xfrm>
            <a:off x="4813300" y="4876800"/>
            <a:ext cx="26162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1">
                <a:solidFill>
                  <a:srgbClr val="174876"/>
                </a:solidFill>
                <a:latin typeface="微软雅黑"/>
                <a:ea typeface="微软雅黑"/>
              </a:rPr>
              <a:t>保留 event_time / available_time</a:t>
            </a:r>
          </a:p>
        </p:txBody>
      </p:sp>
      <p:sp>
        <p:nvSpPr>
          <p:cNvPr id="100171" name="boundary-bg-2"/>
          <p:cNvSpPr/>
          <p:nvPr/>
        </p:nvSpPr>
        <p:spPr>
          <a:xfrm>
            <a:off x="7886700" y="2882900"/>
            <a:ext cx="3073400" cy="27051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2" name="boundary-number-bg-2"/>
          <p:cNvSpPr/>
          <p:nvPr/>
        </p:nvSpPr>
        <p:spPr>
          <a:xfrm>
            <a:off x="8039100" y="3035300"/>
            <a:ext cx="431800" cy="431800"/>
          </a:xfrm>
          <a:prstGeom prst="ellipse">
            <a:avLst/>
          </a:prstGeom>
          <a:solidFill>
            <a:srgbClr val="D779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3" name="boundary-number-2"/>
          <p:cNvSpPr/>
          <p:nvPr/>
        </p:nvSpPr>
        <p:spPr>
          <a:xfrm>
            <a:off x="8051800" y="30607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00174" name="boundary-title-2"/>
          <p:cNvSpPr/>
          <p:nvPr/>
        </p:nvSpPr>
        <p:spPr>
          <a:xfrm>
            <a:off x="8534400" y="3060700"/>
            <a:ext cx="2235200" cy="355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03  标签与缺失</a:t>
            </a:r>
          </a:p>
        </p:txBody>
      </p:sp>
      <p:sp>
        <p:nvSpPr>
          <p:cNvPr id="100175" name="boundary-detail-2"/>
          <p:cNvSpPr/>
          <p:nvPr/>
        </p:nvSpPr>
        <p:spPr>
          <a:xfrm>
            <a:off x="8051800" y="3594100"/>
            <a:ext cx="2743200" cy="9779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t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eICU 全员在 ICU；当前严格流感 0；</a:t>
            </a:r>
          </a:p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未测 CRP 不等于阴性。</a:t>
            </a:r>
          </a:p>
        </p:txBody>
      </p:sp>
      <p:sp>
        <p:nvSpPr>
          <p:cNvPr id="100176" name="boundary-action-bg-2"/>
          <p:cNvSpPr/>
          <p:nvPr/>
        </p:nvSpPr>
        <p:spPr>
          <a:xfrm>
            <a:off x="8051800" y="4800600"/>
            <a:ext cx="2743200" cy="5461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7" name="boundary-action-2"/>
          <p:cNvSpPr/>
          <p:nvPr/>
        </p:nvSpPr>
        <p:spPr>
          <a:xfrm>
            <a:off x="8115300" y="4876800"/>
            <a:ext cx="26162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50" b="1">
                <a:solidFill>
                  <a:srgbClr val="174876"/>
                </a:solidFill>
                <a:latin typeface="微软雅黑"/>
                <a:ea typeface="微软雅黑"/>
              </a:rPr>
              <a:t>先做标签与泄漏 QC，再验证</a:t>
            </a:r>
          </a:p>
        </p:txBody>
      </p:sp>
      <p:sp>
        <p:nvSpPr>
          <p:cNvPr id="100178" name="source-5"/>
          <p:cNvSpPr/>
          <p:nvPr/>
        </p:nvSpPr>
        <p:spPr>
          <a:xfrm>
            <a:off x="228600" y="6629400"/>
            <a:ext cx="11112500" cy="203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830" b="0">
                <a:solidFill>
                  <a:srgbClr val="52677A"/>
                </a:solidFill>
                <a:latin typeface="微软雅黑"/>
                <a:ea typeface="微软雅黑"/>
              </a:rPr>
              <a:t>资料：docs/数据对齐.md；实验执行计划 §4.2–4.3；原稿中的质量问题与限制（2026-09-28）。</a:t>
            </a:r>
          </a:p>
        </p:txBody>
      </p:sp>
      <p:sp>
        <p:nvSpPr>
          <p:cNvPr id="100179" name="takeaway-5"/>
          <p:cNvSpPr/>
          <p:nvPr/>
        </p:nvSpPr>
        <p:spPr>
          <a:xfrm>
            <a:off x="1625600" y="60198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600" b="1">
                <a:solidFill>
                  <a:srgbClr val="006FBD"/>
                </a:solidFill>
                <a:latin typeface="微软雅黑"/>
                <a:ea typeface="微软雅黑"/>
              </a:rPr>
              <a:t>先冻结字段、时间和结局规则，再开展正式训练与跨来源验证。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WPS 演示</Application>
  <PresentationFormat>宽屏</PresentationFormat>
  <Paragraphs>162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Wingdings</vt:lpstr>
      <vt:lpstr>微软雅黑</vt:lpstr>
      <vt:lpstr>方正雅意黑 GB18030L2</vt:lpstr>
      <vt:lpstr>Times New Roman</vt:lpstr>
      <vt:lpstr>微软雅黑</vt:lpstr>
      <vt:lpstr>苹方-简</vt:lpstr>
      <vt:lpstr>宋体</vt:lpstr>
      <vt:lpstr>汉仪书宋二KW</vt:lpstr>
      <vt:lpstr>Arial Unicode MS</vt:lpstr>
      <vt:lpstr>Times New Roman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edwinnull</cp:lastModifiedBy>
  <cp:revision>165</cp:revision>
  <dcterms:created xsi:type="dcterms:W3CDTF">2026-09-28T09:06:23Z</dcterms:created>
  <dcterms:modified xsi:type="dcterms:W3CDTF">2026-09-28T09:06:23Z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KSOProductBuildVer">
    <vt:lpwstr>2052-12.1.28496.28496</vt:lpwstr>
  </op:property>
  <op:property fmtid="{D5CDD505-2E9C-101B-9397-08002B2CF9AE}" pid="3" name="ICV">
    <vt:lpwstr>AE4FFFACA783C9C49F1BBA6A6CABA7CD_41</vt:lpwstr>
  </op:property>
  <op:property fmtid="{D5CDD505-2E9C-101B-9397-08002B2CF9AE}" pid="4" name="OfficeCLI.Version">
    <vt:lpwstr>1.0.151</vt:lpwstr>
  </op:property>
  <op:property fmtid="{D5CDD505-2E9C-101B-9397-08002B2CF9AE}" pid="5" name="OfficeCLI.LastModified">
    <vt:lpwstr>2026-09-28T09:21:21Z</vt:lpwstr>
  </op:property>
</op:Properties>
</file>