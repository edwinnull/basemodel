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73" r:id="rId3"/>
    <p:sldId id="274" r:id="rId8"/>
    <p:sldId id="275" r:id="rId9"/>
    <p:sldId id="276" r:id="rId10"/>
    <p:sldId id="277" r:id="rId11"/>
    <p:sldId id="278" r:id="rId12"/>
    <p:sldId id="279" r:id="rId13"/>
    <p:sldId id="280" r:id="rId14"/>
    <p:sldId id="281" r:id="rId15"/>
    <p:sldId id="282" r:id="rId16"/>
    <p:sldId id="283" r:id="rId17"/>
    <p:sldId id="284" r:id="rId7"/>
    <p:sldId id="285" r:id="rId6"/>
    <p:sldId id="286" r:id="rId5"/>
    <p:sldId id="287" r:id="rId21"/>
    <p:sldId id="288" r:id="rId22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94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4F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945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4.xml"/><Relationship Id="rId6" Type="http://schemas.openxmlformats.org/officeDocument/2006/relationships/slide" Target="slides/slide13.xml"/><Relationship Id="rId7" Type="http://schemas.openxmlformats.org/officeDocument/2006/relationships/slide" Target="slides/slide12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ableStyles" Target="tableStyles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改后</c:v>
                </c:pt>
              </c:strCache>
            </c:strRef>
          </c:tx>
          <c:spPr>
            <a:solidFill>
              <a:srgbClr val="1F4E94"/>
            </a:solidFill>
            <a:ln>
              <a:noFill/>
            </a:ln>
          </c:spPr>
          <c:dLbls>
            <c:numFmt formatCode="0.0&quot; 秒&quot;" sourceLinked="0"/>
            <c:txPr>
              <a:bodyPr/>
              <a:lstStyle/>
              <a:p>
                <a:pPr>
                  <a:defRPr sz="1150" b="1">
                    <a:solidFill>
                      <a:srgbClr val="11376A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病例时间线（最密一例）</c:v>
                </c:pt>
                <c:pt idx="1">
                  <c:v>医生病例页体征图（最密一例）</c:v>
                </c:pt>
                <c:pt idx="2">
                  <c:v>导入预览抽查一次就诊</c:v>
                </c:pt>
                <c:pt idx="3">
                  <c:v>病例列表首次打开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</c:v>
                </c:pt>
                <c:pt idx="1">
                  <c:v>1.4</c:v>
                </c:pt>
                <c:pt idx="2">
                  <c:v>1.7</c:v>
                </c:pt>
                <c:pt idx="3">
                  <c:v>0.1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改前</c:v>
                </c:pt>
              </c:strCache>
            </c:strRef>
          </c:tx>
          <c:spPr>
            <a:solidFill>
              <a:srgbClr val="C5D0DE"/>
            </a:solidFill>
            <a:ln>
              <a:noFill/>
            </a:ln>
          </c:spPr>
          <c:dLbls>
            <c:numFmt formatCode="0.0&quot; 秒&quot;" sourceLinked="0"/>
            <c:txPr>
              <a:bodyPr/>
              <a:lstStyle/>
              <a:p>
                <a:pPr>
                  <a:defRPr sz="1150" b="1">
                    <a:solidFill>
                      <a:srgbClr val="646E79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病例时间线（最密一例）</c:v>
                </c:pt>
                <c:pt idx="1">
                  <c:v>医生病例页体征图（最密一例）</c:v>
                </c:pt>
                <c:pt idx="2">
                  <c:v>导入预览抽查一次就诊</c:v>
                </c:pt>
                <c:pt idx="3">
                  <c:v>病例列表首次打开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2.6</c:v>
                </c:pt>
                <c:pt idx="1">
                  <c:v>3.7</c:v>
                </c:pt>
                <c:pt idx="2">
                  <c:v>4.4</c:v>
                </c:pt>
                <c:pt idx="3">
                  <c:v>8.9</c:v>
                </c:pt>
              </c:numCache>
            </c:numRef>
          </c:val>
        </c:ser>
        <c:gapWidth val="45"/>
        <c:overlap val="-8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CDDAE8"/>
            </a:solidFill>
          </a:ln>
        </c:spPr>
        <c:txPr>
          <a:bodyPr/>
          <a:lstStyle/>
          <a:p>
            <a:pPr>
              <a:defRPr sz="1200">
                <a:solidFill>
                  <a:srgbClr val="27314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.8"/>
          <c:min val="0.0"/>
        </c:scaling>
        <c:delete val="1"/>
        <c:axPos val="b"/>
        <c:majorTickMark val="none"/>
        <c:minorTickMark val="none"/>
        <c:tickLblPos val="none"/>
        <c:crossAx val="-2068027336"/>
        <c:crosses val="autoZero"/>
      </c:valAx>
    </c:plotArea>
    <c:dispBlanksAs val="gap"/>
  </c:chart>
  <c:txPr>
    <a:bodyPr/>
    <a:lstStyle/>
    <a:p>
      <a:pPr>
        <a:defRPr sz="1200">
          <a:latin typeface="微软雅黑"/>
          <a:ea typeface="微软雅黑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drop20</c:v>
                </c:pt>
              </c:strCache>
            </c:strRef>
          </c:tx>
          <c:spPr>
            <a:solidFill>
              <a:srgbClr val="9DBBE3"/>
            </a:solidFill>
            <a:ln>
              <a:noFill/>
            </a:ln>
          </c:spPr>
          <c:invertIfNegative val="0"/>
          <c:cat>
            <c:strRef>
              <c:f>Sheet1!$A$2:$A$6</c:f>
              <c:strCache>
                <c:ptCount val="5"/>
                <c:pt idx="0">
                  <c:v>FF-LSTM</c:v>
                </c:pt>
                <c:pt idx="1">
                  <c:v>GRU-D</c:v>
                </c:pt>
                <c:pt idx="2">
                  <c:v>BRITS</c:v>
                </c:pt>
                <c:pt idx="3">
                  <c:v>mTAND</c:v>
                </c:pt>
                <c:pt idx="4">
                  <c:v>Raindrop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-0.006</c:v>
                </c:pt>
                <c:pt idx="1">
                  <c:v>-0.02</c:v>
                </c:pt>
                <c:pt idx="2">
                  <c:v>-0.016</c:v>
                </c:pt>
                <c:pt idx="3">
                  <c:v>-0.01</c:v>
                </c:pt>
                <c:pt idx="4">
                  <c:v>-0.008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drop40</c:v>
                </c:pt>
              </c:strCache>
            </c:strRef>
          </c:tx>
          <c:spPr>
            <a:solidFill>
              <a:srgbClr val="1F4E94"/>
            </a:solidFill>
            <a:ln>
              <a:noFill/>
            </a:ln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sz="1000" b="1">
                    <a:solidFill>
                      <a:srgbClr val="11376A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FF-LSTM</c:v>
                </c:pt>
                <c:pt idx="1">
                  <c:v>GRU-D</c:v>
                </c:pt>
                <c:pt idx="2">
                  <c:v>BRITS</c:v>
                </c:pt>
                <c:pt idx="3">
                  <c:v>mTAND</c:v>
                </c:pt>
                <c:pt idx="4">
                  <c:v>Raindrop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-0.016</c:v>
                </c:pt>
                <c:pt idx="1">
                  <c:v>-0.036</c:v>
                </c:pt>
                <c:pt idx="2">
                  <c:v>-0.033</c:v>
                </c:pt>
                <c:pt idx="3">
                  <c:v>-0.024</c:v>
                </c:pt>
                <c:pt idx="4">
                  <c:v>-0.024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continuous5min</c:v>
                </c:pt>
              </c:strCache>
            </c:strRef>
          </c:tx>
          <c:spPr>
            <a:solidFill>
              <a:srgbClr val="00A4CB"/>
            </a:solidFill>
            <a:ln>
              <a:noFill/>
            </a:ln>
          </c:spPr>
          <c:invertIfNegative val="0"/>
          <c:cat>
            <c:strRef>
              <c:f>Sheet1!$A$2:$A$6</c:f>
              <c:strCache>
                <c:ptCount val="5"/>
                <c:pt idx="0">
                  <c:v>FF-LSTM</c:v>
                </c:pt>
                <c:pt idx="1">
                  <c:v>GRU-D</c:v>
                </c:pt>
                <c:pt idx="2">
                  <c:v>BRITS</c:v>
                </c:pt>
                <c:pt idx="3">
                  <c:v>mTAND</c:v>
                </c:pt>
                <c:pt idx="4">
                  <c:v>Raindrop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-0.005</c:v>
                </c:pt>
                <c:pt idx="1">
                  <c:v>-0.009</c:v>
                </c:pt>
                <c:pt idx="2">
                  <c:v>-0.011</c:v>
                </c:pt>
                <c:pt idx="3">
                  <c:v>0.004</c:v>
                </c:pt>
                <c:pt idx="4">
                  <c:v>-0.001</c:v>
                </c:pt>
              </c:numCache>
            </c:numRef>
          </c:val>
        </c:ser>
        <c:gapWidth val="7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>
            <a:solidFill>
              <a:srgbClr val="CDDAE8"/>
            </a:solidFill>
          </a:ln>
        </c:spPr>
        <c:txPr>
          <a:bodyPr/>
          <a:lstStyle/>
          <a:p>
            <a:pPr>
              <a:defRPr sz="1200">
                <a:solidFill>
                  <a:srgbClr val="27314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1"/>
          <c:min val="-0.045"/>
        </c:scaling>
        <c:delete val="0"/>
        <c:axPos val="l"/>
        <c:majorGridlines>
          <c:spPr>
            <a:ln w="9525">
              <a:solidFill>
                <a:srgbClr val="E3EAF3"/>
              </a:solidFill>
            </a:ln>
          </c:spPr>
        </c:majorGridlines>
        <c:numFmt formatCode="0.0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50">
                <a:solidFill>
                  <a:srgbClr val="646E79"/>
                </a:solidFill>
              </a:defRPr>
            </a:pPr>
          </a:p>
        </c:txPr>
        <c:crossAx val="-2068027336"/>
        <c:crosses val="autoZero"/>
        <c:majorUnit val="0.01"/>
      </c:valAx>
    </c:plotArea>
    <c:dispBlanksAs val="gap"/>
  </c:chart>
  <c:txPr>
    <a:bodyPr/>
    <a:lstStyle/>
    <a:p>
      <a:pPr>
        <a:defRPr sz="1200">
          <a:latin typeface="微软雅黑"/>
          <a:ea typeface="微软雅黑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后端测试数</c:v>
                </c:pt>
              </c:strCache>
            </c:strRef>
          </c:tx>
          <c:spPr>
            <a:ln w="31750">
              <a:solidFill>
                <a:srgbClr val="1F4E94"/>
              </a:solidFill>
            </a:ln>
          </c:spPr>
          <c:marker>
            <c:symbol val="circle"/>
            <c:size val="8"/>
            <c:spPr>
              <a:solidFill>
                <a:srgbClr val="1F4E94"/>
              </a:solidFill>
              <a:ln>
                <a:solidFill>
                  <a:srgbClr val="FFFFFF"/>
                </a:solidFill>
              </a:ln>
            </c:spPr>
          </c:marker>
          <c:dLbls>
            <c:txPr>
              <a:bodyPr/>
              <a:lstStyle/>
              <a:p>
                <a:pPr>
                  <a:defRPr sz="1200" b="1">
                    <a:solidFill>
                      <a:srgbClr val="11376A"/>
                    </a:solidFill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10-16</c:v>
                </c:pt>
                <c:pt idx="1">
                  <c:v>10-18</c:v>
                </c:pt>
                <c:pt idx="2">
                  <c:v>10-19</c:v>
                </c:pt>
                <c:pt idx="3">
                  <c:v>10-20</c:v>
                </c:pt>
                <c:pt idx="4">
                  <c:v>10-22</c:v>
                </c:pt>
                <c:pt idx="5">
                  <c:v>10-23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124</c:v>
                </c:pt>
                <c:pt idx="1">
                  <c:v>155</c:v>
                </c:pt>
                <c:pt idx="2">
                  <c:v>157</c:v>
                </c:pt>
                <c:pt idx="3">
                  <c:v>159</c:v>
                </c:pt>
                <c:pt idx="4">
                  <c:v>203</c:v>
                </c:pt>
                <c:pt idx="5">
                  <c:v>204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DDAE8"/>
            </a:solidFill>
          </a:ln>
        </c:spPr>
        <c:txPr>
          <a:bodyPr/>
          <a:lstStyle/>
          <a:p>
            <a:pPr>
              <a:defRPr sz="1200">
                <a:solidFill>
                  <a:srgbClr val="273140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230.0"/>
          <c:min val="100.0"/>
        </c:scaling>
        <c:delete val="0"/>
        <c:axPos val="l"/>
        <c:majorGridlines>
          <c:spPr>
            <a:ln w="9525">
              <a:solidFill>
                <a:srgbClr val="E3EAF3"/>
              </a:solidFill>
            </a:ln>
          </c:spPr>
        </c:majorGridlines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646E79"/>
                </a:solidFill>
              </a:defRPr>
            </a:pPr>
          </a:p>
        </c:txPr>
        <c:crossAx val="2118791784"/>
        <c:crosses val="autoZero"/>
        <c:majorUnit val="50.0"/>
      </c:valAx>
    </c:plotArea>
    <c:plotVisOnly val="1"/>
    <c:dispBlanksAs val="gap"/>
    <c:showDLblsOverMax val="0"/>
  </c:chart>
  <c:txPr>
    <a:bodyPr/>
    <a:lstStyle/>
    <a:p>
      <a:pPr>
        <a:defRPr sz="1200">
          <a:latin typeface="微软雅黑"/>
          <a:ea typeface="微软雅黑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943" y="1143000"/>
            <a:ext cx="5486114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封面。本周指 10-17（周六）至 10-23（周五）。内容：本周成果、现状判断、周末两天的安排、下周衔接。全部数字为聚合量，来自 BaseModel 与 flucase 仓库里的文档；没有读任何真实病例。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 1 分钟。先给结论：系统已经跑在数据前面，周末最值钱的事是把真实数据跑一遍、把计数交回来。10-23 晚计划变动，年底出结果暂不考虑，周末只排医院线和六模型实验的事。四个问题对应后面的页码。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 1.5 分钟。左边是 BaseModel 已有的探索：本机的时序基础模型权重、GAM→GD v1.0 的结果（实验进度.md）；右边是医院数据的变化：GD CRF 几乎没有时序，这周 flucase 读进来的 GD 原始导出是护理 + 监护的分钟级记录。底部是共用的家底。年底出结果暂不考虑（10-23 计划变动）。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 1.5 分钟。按天讲：10-17 部署；10-18 拿到 GD 原始导出后写读取器（D50–D58）并做性能改造；10-19、10-20 试用后的修改和提速；10-21 医生端体征图；10-21 / 10-22 六模型实验本人负责的三个模型跑完；10-22 规则集 v0.2、v0.3 与 std_v3；10-23 确认 D69–D73 并部署。三步：读得进、判得齐、交得出。深蓝圆点是当天部署的日子。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 1.5 分钟。GD 原始导出是一整套 20 个 xlsx（13 类表），按表头认表、按 ENCT_ID / 住院号挂接。性能数字均为虚构数据（618 次住院、79–88 万条记录）上的本机实测，来自 flucase README 10-18 至 10-21 各行；真实 GD 约 40 万条。检验只有 JZH 时不入库，要等 GD 补编号。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 2 分钟。依据《流行性感冒诊疗方案（2025年版）》p6–7、p12。深蓝实心是方案原文判据，白底蓝框是代理，虚线是弱代理（只进 primary_img 敏感性口径）。D66、D67 之后，重型主要靠“新开始氧疗”、危重型主要靠“进入 ICU”，这两个代理在两院的检出机会不同（GD 来自医嘱和科室，GAM 来自病历文字），所以要用 §7 第 11–14 项的真实计数检验。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 1.5 分钟。流程条里青色是本周新增或升级的环节。std_v3 是 std_v2 的超集；默认 Parquet，可选 CSV、Excel；facts 默认不导、可勾选；只给管理员，下载写审计和数据使用台账。五份文档：前三份 10-22 起草，方案 10-22 起草、10-23 补 D69–D73，讲解页 10-23。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 1.5 分钟。MC-MED 冻结 benchmark，decomp_60，六项生命体征、0–15 分钟输入窗；每个模型只训练一次，四套测试集用同一 checkpoint 打分，以 CSN 为单位 paired bootstrap 1,000 次。数字为 5 个 seed 的均值，来自服务器 week04 结果（docs/claude_project/02_项目背景知识.md §6.3 的聚合表）。只说“机制与观测策略敏感性存在关联”，不做因果主张。OPL-MT-MNAR 的结果等合作同学。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 1 分钟。测试数按 README 各行记录：10-16 晚 124（D48、D49），10-18 155（GD 原始导出 143 + 性能改造），10-19 157，10-20 159，10-22 203（v0.2 170 + v0.3 与 std_v3），10-23 204；服务器上 206 个通过。部署：10-17、10-20、10-21、10-23。规则集本周新增 v0.2、v0.3，v0、v0.1 保留不动。截图来自 10-16 的研究者测试教程，虚构演示数据。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 1.5 分钟。四栏：已完成（但只在虚构数据上）、只有你能做的、等你决定的、等外部的。要点是第二栏：Claude 不读真实病例，真实数据上的导入、重算、计数只能由你来做。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 2 分钟。三件事都只有你能做。① 先导一份重导前的基线，否则没法比较规则改动前后；② 只回报计数，按 §7 的格式；③ §8 第 11 项是 A 档，第 14 项同意即可开工；六模型实验的三项 B 档要和合作同学一起定，先把选项写清楚发过去。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 1.5 分钟。不赶年底以后，核心约 6 小时：周六 4、周日 2；下午和晚上的事都是可选。下面左边是可以交给 Claude 并行做的（只用虚构数据），右边是有余力再做的。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 1.5 分钟。§7 共 14 项（方案 §7）。对齐报告 alignment_report.json 直接给出第 2、4 项和第 11、13 项的一部分；第 11 项其余、第 12、14 项需要一个只出计数的小脚本。暂缓的几项依赖阶段 1 还没做的功能或审计脚本。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 1.5 分钟。A 档决定归你，这里只给选项。第 11 项影响标签定义；第 14 项是技术做法，同意即可开工。下面五项来自分析稿 §6 与 10-23 讲解页，不急，下周组会前定。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 1.5 分钟。关键路径：计数交回 → 定稿口径与读取器 → 医生试用 → 流感高峰（12 月至次年 1 月）前上线前瞻收集。六模型实验等合作同学的 OPL-MT-MNAR 结果，口径对齐后再做汇总和配对比较。日期是建议，不是已定排期。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结束页。周末必做三件事见第 11 页，核对清单见第 13 页，待定决定见第 14 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chart" Target="../charts/chart3.xml"/><Relationship Id="rId4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21"/>
          <p:cNvSpPr>
            <a:spLocks noGrp="1"/>
          </p:cNvSpPr>
          <p:nvPr/>
        </p:nvSpPr>
        <p:spPr>
          <a:xfrm>
            <a:off x="3676459" y="828175"/>
            <a:ext cx="5334992" cy="5549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3600">
                <a:solidFill>
                  <a:srgbClr val="035393"/>
                </a:solidFill>
                <a:latin typeface="华文隶书" panose="02010800040101010101" charset="-122"/>
                <a:ea typeface="华文隶书" panose="02010800040101010101" charset="-122"/>
                <a:cs typeface="华文隶书" panose="02010800040101010101" charset="-122"/>
              </a:rPr>
              <a:t>明德·厚学·求是·创新 </a:t>
            </a:r>
            <a:endParaRPr sz="3600"/>
          </a:p>
        </p:txBody>
      </p:sp>
      <p:sp>
        <p:nvSpPr>
          <p:cNvPr id="3" name="矩形 22"/>
          <p:cNvSpPr>
            <a:spLocks noGrp="1"/>
          </p:cNvSpPr>
          <p:nvPr/>
        </p:nvSpPr>
        <p:spPr>
          <a:xfrm>
            <a:off x="0" y="1096132"/>
            <a:ext cx="3239601" cy="17779"/>
          </a:xfrm>
          <a:prstGeom prst="rect">
            <a:avLst/>
          </a:prstGeom>
          <a:solidFill>
            <a:srgbClr val="4472C4"/>
          </a:solidFill>
          <a:ln w="12700">
            <a:solidFill>
              <a:srgbClr val="2F528F"/>
            </a:solidFill>
          </a:ln>
        </p:spPr>
        <p:txBody>
          <a:bodyPr/>
          <a:p/>
        </p:txBody>
      </p:sp>
      <p:sp>
        <p:nvSpPr>
          <p:cNvPr id="4" name="矩形 23"/>
          <p:cNvSpPr>
            <a:spLocks noGrp="1"/>
          </p:cNvSpPr>
          <p:nvPr/>
        </p:nvSpPr>
        <p:spPr>
          <a:xfrm>
            <a:off x="8951764" y="1096132"/>
            <a:ext cx="3239601" cy="17779"/>
          </a:xfrm>
          <a:prstGeom prst="rect">
            <a:avLst/>
          </a:prstGeom>
          <a:solidFill>
            <a:srgbClr val="4472C4"/>
          </a:solidFill>
          <a:ln w="12700">
            <a:solidFill>
              <a:srgbClr val="223962"/>
            </a:solidFill>
          </a:ln>
        </p:spPr>
        <p:txBody>
          <a:bodyPr/>
          <a:p/>
        </p:txBody>
      </p:sp>
      <p:sp>
        <p:nvSpPr>
          <p:cNvPr id="5" name="矩形 24-shape"/>
          <p:cNvSpPr>
            <a:spLocks noGrp="1"/>
          </p:cNvSpPr>
          <p:nvPr/>
        </p:nvSpPr>
        <p:spPr>
          <a:xfrm>
            <a:off x="0" y="2070171"/>
            <a:ext cx="12191365" cy="1687742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</a:ln>
        </p:spPr>
        <p:txBody>
          <a:bodyPr/>
          <a:p/>
        </p:txBody>
      </p:sp>
      <p:sp>
        <p:nvSpPr>
          <p:cNvPr id="6" name="矩形 24-text"/>
          <p:cNvSpPr>
            <a:spLocks noGrp="1"/>
          </p:cNvSpPr>
          <p:nvPr/>
        </p:nvSpPr>
        <p:spPr>
          <a:xfrm>
            <a:off x="0" y="2070171"/>
            <a:ext cx="12191365" cy="168774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buClrTx/>
              <a:buSzTx/>
              <a:buFontTx/>
              <a:buNone/>
            </a:pPr>
            <a:r>
              <a:rPr lang="zh-CN" altLang="en-US" sz="3600">
                <a:solidFill>
                  <a:schemeClr val="bg1"/>
                </a:solidFill>
                <a:effectLst>
                  <a:outerShdw blurRad="50800" dist="50800" dir="5400000" algn="ctr" rotWithShape="0">
                    <a:srgbClr val="000000"/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老年流感转重研究：本周总结与周末计划</a:t>
            </a:r>
            <a:endParaRPr lang="zh-CN" altLang="en-US" sz="3600">
              <a:solidFill>
                <a:schemeClr val="bg1"/>
              </a:solidFill>
              <a:effectLst>
                <a:outerShdw blurRad="50800" dist="50800" dir="5400000" algn="ctr" rotWithShape="0">
                  <a:srgbClr val="000000"/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25"/>
          <p:cNvSpPr>
            <a:spLocks noGrp="1"/>
          </p:cNvSpPr>
          <p:nvPr/>
        </p:nvSpPr>
        <p:spPr>
          <a:xfrm>
            <a:off x="0" y="3783312"/>
            <a:ext cx="12191365" cy="1036266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buClrTx/>
              <a:buSzTx/>
              <a:buNone/>
            </a:pPr>
            <a:r>
              <a:rPr lang="zh-CN" altLang="en-US" sz="2400">
                <a:solidFill>
                  <a:schemeClr val="bg1"/>
                </a:solidFill>
                <a:effectLst>
                  <a:outerShdw blurRad="50800" dist="50800" dir="5400000" algn="ctr" rotWithShape="0">
                    <a:srgbClr val="000000"/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本周成果 · 现状判断 · 周末必做 · 下周衔接</a:t>
            </a:r>
            <a:endParaRPr lang="zh-CN" altLang="en-US" sz="2400">
              <a:solidFill>
                <a:schemeClr val="bg1"/>
              </a:solidFill>
              <a:effectLst>
                <a:outerShdw blurRad="50800" dist="50800" dir="5400000" algn="ctr" rotWithShape="0">
                  <a:srgbClr val="000000"/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3" name="TextBox 9"/>
          <p:cNvSpPr>
            <a:spLocks noGrp="1"/>
          </p:cNvSpPr>
          <p:nvPr/>
        </p:nvSpPr>
        <p:spPr>
          <a:xfrm>
            <a:off x="4620019" y="4965620"/>
            <a:ext cx="2952596" cy="40002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buClrTx/>
              <a:buSzTx/>
              <a:buFontTx/>
              <a:buNone/>
            </a:pPr>
            <a:r>
              <a:rPr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2026年10月23日</a:t>
            </a:r>
            <a:endParaRPr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顶部色条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E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标题栏"/>
          <p:cNvSpPr/>
          <p:nvPr/>
        </p:nvSpPr>
        <p:spPr>
          <a:xfrm>
            <a:off x="0" y="219456"/>
            <a:ext cx="9418320" cy="530352"/>
          </a:xfrm>
          <a:prstGeom prst="rect">
            <a:avLst/>
          </a:prstGeom>
          <a:solidFill>
            <a:srgbClr val="4075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章节标签"/>
          <p:cNvSpPr/>
          <p:nvPr/>
        </p:nvSpPr>
        <p:spPr>
          <a:xfrm>
            <a:off x="320040" y="301752"/>
            <a:ext cx="666496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36576" tIns="18288" rIns="36576" bIns="18288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zh-CN" altLang="en-US">
                <a:solidFill>
                  <a:srgbClr val="1F4E94"/>
                </a:solidFill>
                <a:latin typeface="微软雅黑"/>
                <a:ea typeface="微软雅黑"/>
                <a:cs typeface="微软雅黑"/>
              </a:rPr>
              <a:t>要点</a:t>
            </a:r>
          </a:p>
        </p:txBody>
      </p:sp>
      <p:sp>
        <p:nvSpPr>
          <p:cNvPr id="5" name="标题"/>
          <p:cNvSpPr txBox="1"/>
          <p:nvPr/>
        </p:nvSpPr>
        <p:spPr>
          <a:xfrm>
            <a:off x="1132839" y="219456"/>
            <a:ext cx="814832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四个问题与一句话回答</a:t>
            </a:r>
          </a:p>
        </p:txBody>
      </p:sp>
      <p:sp>
        <p:nvSpPr>
          <p:cNvPr id="6" name="分隔线"/>
          <p:cNvSpPr/>
          <p:nvPr/>
        </p:nvSpPr>
        <p:spPr>
          <a:xfrm>
            <a:off x="457200" y="896112"/>
            <a:ext cx="11228832" cy="36576"/>
          </a:xfrm>
          <a:prstGeom prst="rect">
            <a:avLst/>
          </a:prstGeom>
          <a:solidFill>
            <a:srgbClr val="00A4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关键信息条"/>
          <p:cNvSpPr/>
          <p:nvPr/>
        </p:nvSpPr>
        <p:spPr>
          <a:xfrm>
            <a:off x="502920" y="1024128"/>
            <a:ext cx="11183112" cy="457200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关键信息"/>
          <p:cNvSpPr txBox="1"/>
          <p:nvPr/>
        </p:nvSpPr>
        <p:spPr>
          <a:xfrm>
            <a:off x="685800" y="1024128"/>
            <a:ext cx="10817352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核心判断：系统已经跑在数据前面，周末最值钱的是把真实数据跑一遍、把计数交回来。</a:t>
            </a:r>
          </a:p>
        </p:txBody>
      </p:sp>
      <p:sp>
        <p:nvSpPr>
          <p:cNvPr id="9" name="结论框"/>
          <p:cNvSpPr/>
          <p:nvPr/>
        </p:nvSpPr>
        <p:spPr>
          <a:xfrm>
            <a:off x="502920" y="5870448"/>
            <a:ext cx="11183112" cy="420624"/>
          </a:xfrm>
          <a:prstGeom prst="rect">
            <a:avLst/>
          </a:prstGeom>
          <a:solidFill>
            <a:srgbClr val="FCEF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结论"/>
          <p:cNvSpPr txBox="1"/>
          <p:nvPr/>
        </p:nvSpPr>
        <p:spPr>
          <a:xfrm>
            <a:off x="685800" y="5870448"/>
            <a:ext cx="10817352" cy="42062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计划调整（10-23）：</a:t>
            </a:r>
            <a:r>
              <a:rPr sz="1500" b="0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年底出结果暂不考虑；周末只排医院线和六模型实验的事。</a:t>
            </a:r>
          </a:p>
        </p:txBody>
      </p:sp>
      <p:sp>
        <p:nvSpPr>
          <p:cNvPr id="11" name="页脚"/>
          <p:cNvSpPr txBox="1"/>
          <p:nvPr/>
        </p:nvSpPr>
        <p:spPr>
          <a:xfrm>
            <a:off x="502920" y="6455664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老年流感转重研究 · 本周总结与周末计划</a:t>
            </a:r>
          </a:p>
        </p:txBody>
      </p:sp>
      <p:sp>
        <p:nvSpPr>
          <p:cNvPr id="12" name="页码"/>
          <p:cNvSpPr txBox="1"/>
          <p:nvPr/>
        </p:nvSpPr>
        <p:spPr>
          <a:xfrm>
            <a:off x="10680192" y="6455664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8CADED80-BD46-4CC2-96FD-2C77A03D95A7}" type="slidenum">
              <a:rPr lang="zh-CN" sz="1050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2</a:t>
            </a:fld>
          </a:p>
        </p:txBody>
      </p:sp>
      <p:sp>
        <p:nvSpPr>
          <p:cNvPr id="13" name="Rounded Rectangle 12"/>
          <p:cNvSpPr/>
          <p:nvPr/>
        </p:nvSpPr>
        <p:spPr>
          <a:xfrm>
            <a:off x="658368" y="1700784"/>
            <a:ext cx="1088136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DDAE8"/>
            </a:solidFill>
          </a:ln>
          <a:effectLst>
            <a:outerShdw blurRad="63500" dist="19050" dir="5400000" algn="t" rotWithShape="0">
              <a:srgbClr val="1F3B66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68680" y="1847088"/>
            <a:ext cx="658368" cy="548640"/>
          </a:xfrm>
          <a:prstGeom prst="roundRect">
            <a:avLst>
              <a:gd name="adj" fmla="val 15000"/>
            </a:avLst>
          </a:prstGeom>
          <a:solidFill>
            <a:srgbClr val="1F4E94"/>
          </a:solidFill>
          <a:ln>
            <a:noFill/>
          </a:ln>
        </p:spPr>
        <p:txBody>
          <a:bodyPr rtlCol="0" anchor="ctr" wrap="square" lIns="36576" tIns="18288" rIns="36576" bIns="18288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55648" y="1764792"/>
            <a:ext cx="8229600" cy="3840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本周做成了什么？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55648" y="2148840"/>
            <a:ext cx="8366760" cy="32918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flucase 读得进 GD 原始导出、两院同口径判得齐、std_v3 交得出；六模型实验跑完本人三个模型。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222992" y="1883664"/>
            <a:ext cx="0" cy="475488"/>
          </a:xfrm>
          <a:prstGeom prst="line">
            <a:avLst/>
          </a:prstGeom>
          <a:ln w="12700">
            <a:solidFill>
              <a:srgbClr val="CDDAE8"/>
            </a:solidFill>
          </a:ln>
        </p:spPr>
      </p:cxnSp>
      <p:sp>
        <p:nvSpPr>
          <p:cNvPr id="18" name="TextBox 17"/>
          <p:cNvSpPr txBox="1"/>
          <p:nvPr/>
        </p:nvSpPr>
        <p:spPr>
          <a:xfrm>
            <a:off x="10259568" y="1700784"/>
            <a:ext cx="1207008" cy="8412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zh-CN" altLang="en-US">
                <a:solidFill>
                  <a:srgbClr val="4075BE"/>
                </a:solidFill>
                <a:latin typeface="微软雅黑"/>
                <a:ea typeface="微软雅黑"/>
                <a:cs typeface="微软雅黑"/>
              </a:rPr>
              <a:t>第 4–9 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2670048"/>
            <a:ext cx="1088136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DDAE8"/>
            </a:solidFill>
          </a:ln>
          <a:effectLst>
            <a:outerShdw blurRad="63500" dist="19050" dir="5400000" algn="t" rotWithShape="0">
              <a:srgbClr val="1F3B66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68680" y="2816352"/>
            <a:ext cx="658368" cy="548640"/>
          </a:xfrm>
          <a:prstGeom prst="roundRect">
            <a:avLst>
              <a:gd name="adj" fmla="val 15000"/>
            </a:avLst>
          </a:prstGeom>
          <a:solidFill>
            <a:srgbClr val="1F4E94"/>
          </a:solidFill>
          <a:ln>
            <a:noFill/>
          </a:ln>
        </p:spPr>
        <p:txBody>
          <a:bodyPr rtlCol="0" anchor="ctr" wrap="square" lIns="36576" tIns="18288" rIns="36576" bIns="18288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55648" y="2734056"/>
            <a:ext cx="8229600" cy="3840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现在卡在哪里？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55648" y="3118104"/>
            <a:ext cx="8366760" cy="32918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全部只在虚构数据上验证过；v0.3 靠“新开始氧疗”“进 ICU”定级，要用真实计数检验。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0222992" y="2852928"/>
            <a:ext cx="0" cy="475487"/>
          </a:xfrm>
          <a:prstGeom prst="line">
            <a:avLst/>
          </a:prstGeom>
          <a:ln w="12700">
            <a:solidFill>
              <a:srgbClr val="CDDAE8"/>
            </a:solidFill>
          </a:ln>
        </p:spPr>
      </p:cxnSp>
      <p:sp>
        <p:nvSpPr>
          <p:cNvPr id="24" name="TextBox 23"/>
          <p:cNvSpPr txBox="1"/>
          <p:nvPr/>
        </p:nvSpPr>
        <p:spPr>
          <a:xfrm>
            <a:off x="10259568" y="2670048"/>
            <a:ext cx="1207008" cy="8412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zh-CN" altLang="en-US">
                <a:solidFill>
                  <a:srgbClr val="4075BE"/>
                </a:solidFill>
                <a:latin typeface="微软雅黑"/>
                <a:ea typeface="微软雅黑"/>
                <a:cs typeface="微软雅黑"/>
              </a:rPr>
              <a:t>第 10 页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639312"/>
            <a:ext cx="1088136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DDAE8"/>
            </a:solidFill>
          </a:ln>
          <a:effectLst>
            <a:outerShdw blurRad="63500" dist="19050" dir="5400000" algn="t" rotWithShape="0">
              <a:srgbClr val="1F3B66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68680" y="3785616"/>
            <a:ext cx="658368" cy="548640"/>
          </a:xfrm>
          <a:prstGeom prst="roundRect">
            <a:avLst>
              <a:gd name="adj" fmla="val 15000"/>
            </a:avLst>
          </a:prstGeom>
          <a:solidFill>
            <a:srgbClr val="1F4E94"/>
          </a:solidFill>
          <a:ln>
            <a:noFill/>
          </a:ln>
        </p:spPr>
        <p:txBody>
          <a:bodyPr rtlCol="0" anchor="ctr" wrap="square" lIns="36576" tIns="18288" rIns="36576" bIns="18288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55648" y="3703320"/>
            <a:ext cx="8229600" cy="3840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周末必须做什么？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55648" y="4087368"/>
            <a:ext cx="8366760" cy="32918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服务器重导并按 v0.3 重算；交回 §7 核对计数；定两项决定，和合作同学对齐六模型口径。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0222992" y="3822192"/>
            <a:ext cx="0" cy="475488"/>
          </a:xfrm>
          <a:prstGeom prst="line">
            <a:avLst/>
          </a:prstGeom>
          <a:ln w="12700">
            <a:solidFill>
              <a:srgbClr val="CDDAE8"/>
            </a:solidFill>
          </a:ln>
        </p:spPr>
      </p:cxnSp>
      <p:sp>
        <p:nvSpPr>
          <p:cNvPr id="30" name="TextBox 29"/>
          <p:cNvSpPr txBox="1"/>
          <p:nvPr/>
        </p:nvSpPr>
        <p:spPr>
          <a:xfrm>
            <a:off x="10259568" y="3639312"/>
            <a:ext cx="1207008" cy="8412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zh-CN" altLang="en-US">
                <a:solidFill>
                  <a:srgbClr val="4075BE"/>
                </a:solidFill>
                <a:latin typeface="微软雅黑"/>
                <a:ea typeface="微软雅黑"/>
                <a:cs typeface="微软雅黑"/>
              </a:rPr>
              <a:t>第 11–14 页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4608576"/>
            <a:ext cx="1088136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DDAE8"/>
            </a:solidFill>
          </a:ln>
          <a:effectLst>
            <a:outerShdw blurRad="63500" dist="19050" dir="5400000" algn="t" rotWithShape="0">
              <a:srgbClr val="1F3B66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68680" y="4754880"/>
            <a:ext cx="658368" cy="548640"/>
          </a:xfrm>
          <a:prstGeom prst="roundRect">
            <a:avLst>
              <a:gd name="adj" fmla="val 15000"/>
            </a:avLst>
          </a:prstGeom>
          <a:solidFill>
            <a:srgbClr val="1F4E94"/>
          </a:solidFill>
          <a:ln>
            <a:noFill/>
          </a:ln>
        </p:spPr>
        <p:txBody>
          <a:bodyPr rtlCol="0" anchor="ctr" wrap="square" lIns="36576" tIns="18288" rIns="36576" bIns="18288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55648" y="4672584"/>
            <a:ext cx="8229600" cy="3840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下周怎么接上？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55648" y="5056632"/>
            <a:ext cx="8366760" cy="32918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计数交回后改规则、开阶段 1 其余项；约医生做可用性测试；六模型结果齐了再汇总。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0222992" y="4791456"/>
            <a:ext cx="0" cy="475488"/>
          </a:xfrm>
          <a:prstGeom prst="line">
            <a:avLst/>
          </a:prstGeom>
          <a:ln w="12700">
            <a:solidFill>
              <a:srgbClr val="CDDAE8"/>
            </a:solidFill>
          </a:ln>
        </p:spPr>
      </p:cxnSp>
      <p:sp>
        <p:nvSpPr>
          <p:cNvPr id="36" name="TextBox 35"/>
          <p:cNvSpPr txBox="1"/>
          <p:nvPr/>
        </p:nvSpPr>
        <p:spPr>
          <a:xfrm>
            <a:off x="10259568" y="4608576"/>
            <a:ext cx="1207008" cy="8412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zh-CN" altLang="en-US">
                <a:solidFill>
                  <a:srgbClr val="4075BE"/>
                </a:solidFill>
                <a:latin typeface="微软雅黑"/>
                <a:ea typeface="微软雅黑"/>
                <a:cs typeface="微软雅黑"/>
              </a:rPr>
              <a:t>第 15 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顶部色条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E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标题栏"/>
          <p:cNvSpPr/>
          <p:nvPr/>
        </p:nvSpPr>
        <p:spPr>
          <a:xfrm>
            <a:off x="0" y="219456"/>
            <a:ext cx="9418320" cy="530352"/>
          </a:xfrm>
          <a:prstGeom prst="rect">
            <a:avLst/>
          </a:prstGeom>
          <a:solidFill>
            <a:srgbClr val="4075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章节标签"/>
          <p:cNvSpPr/>
          <p:nvPr/>
        </p:nvSpPr>
        <p:spPr>
          <a:xfrm>
            <a:off x="320040" y="301752"/>
            <a:ext cx="666496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36576" tIns="18288" rIns="36576" bIns="18288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zh-CN" altLang="en-US">
                <a:solidFill>
                  <a:srgbClr val="1F4E94"/>
                </a:solidFill>
                <a:latin typeface="微软雅黑"/>
                <a:ea typeface="微软雅黑"/>
                <a:cs typeface="微软雅黑"/>
              </a:rPr>
              <a:t>全景</a:t>
            </a:r>
          </a:p>
        </p:txBody>
      </p:sp>
      <p:sp>
        <p:nvSpPr>
          <p:cNvPr id="5" name="标题"/>
          <p:cNvSpPr txBox="1"/>
          <p:nvPr/>
        </p:nvSpPr>
        <p:spPr>
          <a:xfrm>
            <a:off x="1132839" y="219456"/>
            <a:ext cx="814832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BaseModel 的探索与医院数据</a:t>
            </a:r>
          </a:p>
        </p:txBody>
      </p:sp>
      <p:sp>
        <p:nvSpPr>
          <p:cNvPr id="6" name="分隔线"/>
          <p:cNvSpPr/>
          <p:nvPr/>
        </p:nvSpPr>
        <p:spPr>
          <a:xfrm>
            <a:off x="457200" y="896112"/>
            <a:ext cx="11228832" cy="36576"/>
          </a:xfrm>
          <a:prstGeom prst="rect">
            <a:avLst/>
          </a:prstGeom>
          <a:solidFill>
            <a:srgbClr val="00A4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关键信息条"/>
          <p:cNvSpPr/>
          <p:nvPr/>
        </p:nvSpPr>
        <p:spPr>
          <a:xfrm>
            <a:off x="502920" y="1024128"/>
            <a:ext cx="11183112" cy="457200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关键信息"/>
          <p:cNvSpPr txBox="1"/>
          <p:nvPr/>
        </p:nvSpPr>
        <p:spPr>
          <a:xfrm>
            <a:off x="685800" y="1024128"/>
            <a:ext cx="10817352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BaseModel 攒下了模型、文献和两院对齐的经验；这周 flucase 把 GD 原始导出读了进来。</a:t>
            </a:r>
          </a:p>
        </p:txBody>
      </p:sp>
      <p:sp>
        <p:nvSpPr>
          <p:cNvPr id="9" name="结论框"/>
          <p:cNvSpPr/>
          <p:nvPr/>
        </p:nvSpPr>
        <p:spPr>
          <a:xfrm>
            <a:off x="502920" y="5870448"/>
            <a:ext cx="11183112" cy="420624"/>
          </a:xfrm>
          <a:prstGeom prst="rect">
            <a:avLst/>
          </a:prstGeom>
          <a:solidFill>
            <a:srgbClr val="FCEF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结论"/>
          <p:cNvSpPr txBox="1"/>
          <p:nvPr/>
        </p:nvSpPr>
        <p:spPr>
          <a:xfrm>
            <a:off x="685800" y="5870448"/>
            <a:ext cx="10817352" cy="42062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可以先做：</a:t>
            </a:r>
            <a:r>
              <a:rPr sz="1500" b="0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用只出计数的小脚本看 GD 原始导出每次住院的体征密度，判断时序基础模型能不能用回医院数据。</a:t>
            </a:r>
          </a:p>
        </p:txBody>
      </p:sp>
      <p:sp>
        <p:nvSpPr>
          <p:cNvPr id="11" name="页脚"/>
          <p:cNvSpPr txBox="1"/>
          <p:nvPr/>
        </p:nvSpPr>
        <p:spPr>
          <a:xfrm>
            <a:off x="502920" y="6455664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老年流感转重研究 · 本周总结与周末计划</a:t>
            </a:r>
          </a:p>
        </p:txBody>
      </p:sp>
      <p:sp>
        <p:nvSpPr>
          <p:cNvPr id="12" name="页码"/>
          <p:cNvSpPr txBox="1"/>
          <p:nvPr/>
        </p:nvSpPr>
        <p:spPr>
          <a:xfrm>
            <a:off x="10680192" y="6455664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6F445D61-4C21-4B36-8573-AE8818E62A06}" type="slidenum">
              <a:rPr lang="zh-CN" sz="1050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3</a:t>
            </a:fld>
          </a:p>
        </p:txBody>
      </p:sp>
      <p:sp>
        <p:nvSpPr>
          <p:cNvPr id="13" name="Rectangle 12"/>
          <p:cNvSpPr/>
          <p:nvPr/>
        </p:nvSpPr>
        <p:spPr>
          <a:xfrm>
            <a:off x="502920" y="1664208"/>
            <a:ext cx="5477256" cy="3154680"/>
          </a:xfrm>
          <a:prstGeom prst="rect">
            <a:avLst/>
          </a:prstGeom>
          <a:solidFill>
            <a:srgbClr val="FFFFFF"/>
          </a:solidFill>
          <a:ln w="9525">
            <a:solidFill>
              <a:srgbClr val="CDDAE8"/>
            </a:solidFill>
          </a:ln>
          <a:effectLst>
            <a:outerShdw blurRad="63500" dist="19050" dir="5400000" algn="t" rotWithShape="0">
              <a:srgbClr val="1F3B66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1664208"/>
            <a:ext cx="5477256" cy="438912"/>
          </a:xfrm>
          <a:prstGeom prst="rect">
            <a:avLst/>
          </a:prstGeom>
          <a:solidFill>
            <a:srgbClr val="1F4E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1664208"/>
            <a:ext cx="5202936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BaseModel · 已有的探索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" y="2231136"/>
            <a:ext cx="2103120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zh-CN" altLang="en-US">
                <a:solidFill>
                  <a:srgbClr val="1F4E94"/>
                </a:solidFill>
                <a:latin typeface="微软雅黑"/>
                <a:ea typeface="微软雅黑"/>
                <a:cs typeface="微软雅黑"/>
              </a:rPr>
              <a:t>16 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39" y="2231136"/>
            <a:ext cx="3008376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时序基础模型权重已在本机（Chronos、TimesFM、Moirai、Toto 等）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67512" y="2889504"/>
            <a:ext cx="5148072" cy="0"/>
          </a:xfrm>
          <a:prstGeom prst="line">
            <a:avLst/>
          </a:prstGeom>
          <a:ln w="9525">
            <a:solidFill>
              <a:srgbClr val="E3EAF3"/>
            </a:solidFill>
          </a:ln>
        </p:spPr>
      </p:cxnSp>
      <p:sp>
        <p:nvSpPr>
          <p:cNvPr id="19" name="TextBox 18"/>
          <p:cNvSpPr txBox="1"/>
          <p:nvPr/>
        </p:nvSpPr>
        <p:spPr>
          <a:xfrm>
            <a:off x="667512" y="2944368"/>
            <a:ext cx="2103120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zh-CN" altLang="en-US">
                <a:solidFill>
                  <a:srgbClr val="1F4E94"/>
                </a:solidFill>
                <a:latin typeface="微软雅黑"/>
                <a:ea typeface="微软雅黑"/>
                <a:cs typeface="微软雅黑"/>
              </a:rPr>
              <a:t>0.733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39" y="2944368"/>
            <a:ext cx="3008376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GAM 训练 → GD 外部验证，LR 的 AUROC（0.627–0.826）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67512" y="3602735"/>
            <a:ext cx="5148072" cy="0"/>
          </a:xfrm>
          <a:prstGeom prst="line">
            <a:avLst/>
          </a:prstGeom>
          <a:ln w="9525">
            <a:solidFill>
              <a:srgbClr val="E3EAF3"/>
            </a:solidFill>
          </a:ln>
        </p:spPr>
      </p:cxnSp>
      <p:sp>
        <p:nvSpPr>
          <p:cNvPr id="22" name="TextBox 21"/>
          <p:cNvSpPr txBox="1"/>
          <p:nvPr/>
        </p:nvSpPr>
        <p:spPr>
          <a:xfrm>
            <a:off x="667512" y="3657600"/>
            <a:ext cx="2103120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zh-CN" altLang="en-US">
                <a:solidFill>
                  <a:srgbClr val="1F4E94"/>
                </a:solidFill>
                <a:latin typeface="微软雅黑"/>
                <a:ea typeface="微软雅黑"/>
                <a:cs typeface="微软雅黑"/>
              </a:rPr>
              <a:t>0.709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39" y="3657600"/>
            <a:ext cx="3008376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只用 15 个输入变量就能区分两院（站点可区分性 AUROC）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4361688"/>
            <a:ext cx="5202936" cy="347472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361688"/>
            <a:ext cx="4928616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09-29 的结论：在稀疏的 GD CRF 上，时序模型赢不了 LR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08776" y="1664208"/>
            <a:ext cx="5477256" cy="3154680"/>
          </a:xfrm>
          <a:prstGeom prst="rect">
            <a:avLst/>
          </a:prstGeom>
          <a:solidFill>
            <a:srgbClr val="FFFFFF"/>
          </a:solidFill>
          <a:ln w="9525">
            <a:solidFill>
              <a:srgbClr val="CDDAE8"/>
            </a:solidFill>
          </a:ln>
          <a:effectLst>
            <a:outerShdw blurRad="63500" dist="19050" dir="5400000" algn="t" rotWithShape="0">
              <a:srgbClr val="1F3B66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08776" y="1664208"/>
            <a:ext cx="5477256" cy="438912"/>
          </a:xfrm>
          <a:prstGeom prst="rect">
            <a:avLst/>
          </a:prstGeom>
          <a:solidFill>
            <a:srgbClr val="1F4E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45936" y="1664208"/>
            <a:ext cx="5202936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医院数据 · 从稀疏到可用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3368" y="2231136"/>
            <a:ext cx="2103120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zh-CN" altLang="en-US">
                <a:solidFill>
                  <a:srgbClr val="1F4E94"/>
                </a:solidFill>
                <a:latin typeface="微软雅黑"/>
                <a:ea typeface="微软雅黑"/>
                <a:cs typeface="微软雅黑"/>
              </a:rPr>
              <a:t>99.4%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40496" y="2231136"/>
            <a:ext cx="3008376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GD CRF 的变量序列只有 1 个时间点，撑不起时序模型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373368" y="2889504"/>
            <a:ext cx="5148072" cy="0"/>
          </a:xfrm>
          <a:prstGeom prst="line">
            <a:avLst/>
          </a:prstGeom>
          <a:ln w="9525">
            <a:solidFill>
              <a:srgbClr val="E3EAF3"/>
            </a:solidFill>
          </a:ln>
        </p:spPr>
      </p:cxnSp>
      <p:sp>
        <p:nvSpPr>
          <p:cNvPr id="32" name="TextBox 31"/>
          <p:cNvSpPr txBox="1"/>
          <p:nvPr/>
        </p:nvSpPr>
        <p:spPr>
          <a:xfrm>
            <a:off x="6373368" y="2944368"/>
            <a:ext cx="2103120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zh-CN" altLang="en-US">
                <a:solidFill>
                  <a:srgbClr val="1F4E94"/>
                </a:solidFill>
                <a:latin typeface="微软雅黑"/>
                <a:ea typeface="微软雅黑"/>
                <a:cs typeface="微软雅黑"/>
              </a:rPr>
              <a:t>10 / 38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40496" y="2944368"/>
            <a:ext cx="3008376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可识别的转重事件（GAM 163 次住院 / GD 292 次住院）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373368" y="3602735"/>
            <a:ext cx="5148072" cy="0"/>
          </a:xfrm>
          <a:prstGeom prst="line">
            <a:avLst/>
          </a:prstGeom>
          <a:ln w="9525">
            <a:solidFill>
              <a:srgbClr val="E3EAF3"/>
            </a:solidFill>
          </a:ln>
        </p:spPr>
      </p:cxnSp>
      <p:sp>
        <p:nvSpPr>
          <p:cNvPr id="35" name="TextBox 34"/>
          <p:cNvSpPr txBox="1"/>
          <p:nvPr/>
        </p:nvSpPr>
        <p:spPr>
          <a:xfrm>
            <a:off x="6373368" y="3657600"/>
            <a:ext cx="2103120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zh-CN" altLang="en-US">
                <a:solidFill>
                  <a:srgbClr val="1F4E94"/>
                </a:solidFill>
                <a:latin typeface="微软雅黑"/>
                <a:ea typeface="微软雅黑"/>
                <a:cs typeface="微软雅黑"/>
              </a:rPr>
              <a:t>约 40 万条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40496" y="3657600"/>
            <a:ext cx="3008376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GD 原始导出：护理 + 监护的分钟级记录，flucase 已能读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45936" y="4361688"/>
            <a:ext cx="5202936" cy="347472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83096" y="4361688"/>
            <a:ext cx="4928616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这周起，GD 第一次有了密集的时序数据（待真实计数确认）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4956048"/>
            <a:ext cx="2658618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DDAE8"/>
            </a:solidFill>
          </a:ln>
          <a:effectLst>
            <a:outerShdw blurRad="63500" dist="19050" dir="5400000" algn="t" rotWithShape="0">
              <a:srgbClr val="1F3B66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9224" y="5010912"/>
            <a:ext cx="2366010" cy="404164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 lang="zh-CN" altLang="en-US">
                <a:solidFill>
                  <a:srgbClr val="1F4E94"/>
                </a:solidFill>
                <a:latin typeface="微软雅黑"/>
                <a:ea typeface="微软雅黑"/>
                <a:cs typeface="微软雅黑"/>
              </a:rPr>
              <a:t>24 篇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9224" y="5415076"/>
            <a:ext cx="2366010" cy="250545"/>
          </a:xfrm>
          <a:prstGeom prst="rect">
            <a:avLst/>
          </a:prstGeom>
          <a:noFill/>
        </p:spPr>
        <p:txBody>
          <a:bodyPr wrap="square" lIns="0" tIns="18288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论文精读笔记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344418" y="4956048"/>
            <a:ext cx="2658618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DDAE8"/>
            </a:solidFill>
          </a:ln>
          <a:effectLst>
            <a:outerShdw blurRad="63500" dist="19050" dir="5400000" algn="t" rotWithShape="0">
              <a:srgbClr val="1F3B66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490722" y="5010912"/>
            <a:ext cx="2366010" cy="404164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 lang="zh-CN" altLang="en-US">
                <a:solidFill>
                  <a:srgbClr val="1F4E94"/>
                </a:solidFill>
                <a:latin typeface="微软雅黑"/>
                <a:ea typeface="微软雅黑"/>
                <a:cs typeface="微软雅黑"/>
              </a:rPr>
              <a:t>3 份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90722" y="5415076"/>
            <a:ext cx="2366010" cy="250545"/>
          </a:xfrm>
          <a:prstGeom prst="rect">
            <a:avLst/>
          </a:prstGeom>
          <a:noFill/>
        </p:spPr>
        <p:txBody>
          <a:bodyPr wrap="square" lIns="0" tIns="18288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调研报告 + 本周数据集讲解页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85916" y="4956048"/>
            <a:ext cx="2658618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DDAE8"/>
            </a:solidFill>
          </a:ln>
          <a:effectLst>
            <a:outerShdw blurRad="63500" dist="19050" dir="5400000" algn="t" rotWithShape="0">
              <a:srgbClr val="1F3B66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32220" y="5010912"/>
            <a:ext cx="2366010" cy="404164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 lang="zh-CN" altLang="en-US">
                <a:solidFill>
                  <a:srgbClr val="1F4E94"/>
                </a:solidFill>
                <a:latin typeface="微软雅黑"/>
                <a:ea typeface="微软雅黑"/>
                <a:cs typeface="微软雅黑"/>
              </a:rPr>
              <a:t>5 个模型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32220" y="5415076"/>
            <a:ext cx="2366010" cy="250545"/>
          </a:xfrm>
          <a:prstGeom prst="rect">
            <a:avLst/>
          </a:prstGeom>
          <a:noFill/>
        </p:spPr>
        <p:txBody>
          <a:bodyPr wrap="square" lIns="0" tIns="18288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六模型实验已出结果（本人 3 个）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027414" y="4956048"/>
            <a:ext cx="2658618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DDAE8"/>
            </a:solidFill>
          </a:ln>
          <a:effectLst>
            <a:outerShdw blurRad="63500" dist="19050" dir="5400000" algn="t" rotWithShape="0">
              <a:srgbClr val="1F3B66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73718" y="5010912"/>
            <a:ext cx="2366010" cy="404164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 lang="zh-CN" altLang="en-US">
                <a:solidFill>
                  <a:srgbClr val="1F4E94"/>
                </a:solidFill>
                <a:latin typeface="微软雅黑"/>
                <a:ea typeface="微软雅黑"/>
                <a:cs typeface="微软雅黑"/>
              </a:rPr>
              <a:t>D1–D73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73718" y="5415076"/>
            <a:ext cx="2366010" cy="250545"/>
          </a:xfrm>
          <a:prstGeom prst="rect">
            <a:avLst/>
          </a:prstGeom>
          <a:noFill/>
        </p:spPr>
        <p:txBody>
          <a:bodyPr wrap="square" lIns="0" tIns="18288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决策记录（本周新增 24 条）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顶部色条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E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标题栏"/>
          <p:cNvSpPr/>
          <p:nvPr/>
        </p:nvSpPr>
        <p:spPr>
          <a:xfrm>
            <a:off x="0" y="219456"/>
            <a:ext cx="9418320" cy="530352"/>
          </a:xfrm>
          <a:prstGeom prst="rect">
            <a:avLst/>
          </a:prstGeom>
          <a:solidFill>
            <a:srgbClr val="4075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章节标签"/>
          <p:cNvSpPr/>
          <p:nvPr/>
        </p:nvSpPr>
        <p:spPr>
          <a:xfrm>
            <a:off x="320040" y="301752"/>
            <a:ext cx="666496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36576" tIns="18288" rIns="36576" bIns="18288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zh-CN" altLang="en-US">
                <a:solidFill>
                  <a:srgbClr val="1F4E94"/>
                </a:solidFill>
                <a:latin typeface="微软雅黑"/>
                <a:ea typeface="微软雅黑"/>
                <a:cs typeface="微软雅黑"/>
              </a:rPr>
              <a:t>本周</a:t>
            </a:r>
          </a:p>
        </p:txBody>
      </p:sp>
      <p:sp>
        <p:nvSpPr>
          <p:cNvPr id="5" name="标题"/>
          <p:cNvSpPr txBox="1"/>
          <p:nvPr/>
        </p:nvSpPr>
        <p:spPr>
          <a:xfrm>
            <a:off x="1132839" y="219456"/>
            <a:ext cx="814832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七天三步：读得进、判得齐、交得出</a:t>
            </a:r>
          </a:p>
        </p:txBody>
      </p:sp>
      <p:sp>
        <p:nvSpPr>
          <p:cNvPr id="6" name="分隔线"/>
          <p:cNvSpPr/>
          <p:nvPr/>
        </p:nvSpPr>
        <p:spPr>
          <a:xfrm>
            <a:off x="457200" y="896112"/>
            <a:ext cx="11228832" cy="36576"/>
          </a:xfrm>
          <a:prstGeom prst="rect">
            <a:avLst/>
          </a:prstGeom>
          <a:solidFill>
            <a:srgbClr val="00A4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关键信息条"/>
          <p:cNvSpPr/>
          <p:nvPr/>
        </p:nvSpPr>
        <p:spPr>
          <a:xfrm>
            <a:off x="502920" y="1024128"/>
            <a:ext cx="11183112" cy="457200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关键信息"/>
          <p:cNvSpPr txBox="1"/>
          <p:nvPr/>
        </p:nvSpPr>
        <p:spPr>
          <a:xfrm>
            <a:off x="685800" y="1024128"/>
            <a:ext cx="10817352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10-17 至 10-23：从读入 GD 原始导出，到两院按同一口径分级，再到统一格式导出。</a:t>
            </a:r>
          </a:p>
        </p:txBody>
      </p:sp>
      <p:sp>
        <p:nvSpPr>
          <p:cNvPr id="9" name="结论框"/>
          <p:cNvSpPr/>
          <p:nvPr/>
        </p:nvSpPr>
        <p:spPr>
          <a:xfrm>
            <a:off x="502920" y="5870448"/>
            <a:ext cx="11183112" cy="420624"/>
          </a:xfrm>
          <a:prstGeom prst="rect">
            <a:avLst/>
          </a:prstGeom>
          <a:solidFill>
            <a:srgbClr val="FCEF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结论"/>
          <p:cNvSpPr txBox="1"/>
          <p:nvPr/>
        </p:nvSpPr>
        <p:spPr>
          <a:xfrm>
            <a:off x="685800" y="5870448"/>
            <a:ext cx="10817352" cy="42062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节奏：</a:t>
            </a:r>
            <a:r>
              <a:rPr sz="1500" b="0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4 次部署到专用服务器；每一步先在虚构数据上测试，你确认后再合并。</a:t>
            </a:r>
          </a:p>
        </p:txBody>
      </p:sp>
      <p:sp>
        <p:nvSpPr>
          <p:cNvPr id="11" name="页脚"/>
          <p:cNvSpPr txBox="1"/>
          <p:nvPr/>
        </p:nvSpPr>
        <p:spPr>
          <a:xfrm>
            <a:off x="502920" y="6455664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老年流感转重研究 · 本周总结与周末计划</a:t>
            </a:r>
          </a:p>
        </p:txBody>
      </p:sp>
      <p:sp>
        <p:nvSpPr>
          <p:cNvPr id="12" name="页码"/>
          <p:cNvSpPr txBox="1"/>
          <p:nvPr/>
        </p:nvSpPr>
        <p:spPr>
          <a:xfrm>
            <a:off x="10680192" y="6455664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8D60047E-08BA-489D-83F5-D9B98C146005}" type="slidenum">
              <a:rPr lang="zh-CN" sz="1050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4</a:t>
            </a:fld>
          </a:p>
        </p:txBody>
      </p:sp>
      <p:cxnSp>
        <p:nvCxnSpPr>
          <p:cNvPr id="13" name="Connector 12"/>
          <p:cNvCxnSpPr/>
          <p:nvPr/>
        </p:nvCxnSpPr>
        <p:spPr>
          <a:xfrm>
            <a:off x="777240" y="2331720"/>
            <a:ext cx="10607040" cy="0"/>
          </a:xfrm>
          <a:prstGeom prst="line">
            <a:avLst/>
          </a:prstGeom>
          <a:ln w="31750">
            <a:solidFill>
              <a:srgbClr val="1F4E94"/>
            </a:solidFill>
            <a:tailEnd type="triangle" w="med" len="med"/>
          </a:ln>
        </p:spPr>
      </p:cxnSp>
      <p:sp>
        <p:nvSpPr>
          <p:cNvPr id="14" name="Oval 13"/>
          <p:cNvSpPr/>
          <p:nvPr/>
        </p:nvSpPr>
        <p:spPr>
          <a:xfrm>
            <a:off x="1115568" y="2212848"/>
            <a:ext cx="237744" cy="237744"/>
          </a:xfrm>
          <a:prstGeom prst="ellipse">
            <a:avLst/>
          </a:prstGeom>
          <a:solidFill>
            <a:srgbClr val="1F4E94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" y="1700784"/>
            <a:ext cx="1572768" cy="457200"/>
          </a:xfrm>
          <a:prstGeom prst="rect">
            <a:avLst/>
          </a:prstGeom>
          <a:noFill/>
        </p:spPr>
        <p:txBody>
          <a:bodyPr wrap="square" lIns="45720" tIns="27432" rIns="45720" bIns="27432" anchor="b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10-17 周六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" y="2523744"/>
            <a:ext cx="1572768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部署到专用服务器</a:t>
            </a:r>
            <a:br>
              <a:rPr lang="zh-CN" sz="1200">
                <a:latin typeface="微软雅黑"/>
                <a:ea typeface="微软雅黑"/>
                <a:cs typeface="微软雅黑"/>
              </a:rPr>
            </a:br>
            <a:r>
              <a:rPr sz="120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124 个测试通过</a:t>
            </a:r>
          </a:p>
        </p:txBody>
      </p:sp>
      <p:sp>
        <p:nvSpPr>
          <p:cNvPr id="17" name="Oval 16"/>
          <p:cNvSpPr/>
          <p:nvPr/>
        </p:nvSpPr>
        <p:spPr>
          <a:xfrm>
            <a:off x="2731008" y="2212848"/>
            <a:ext cx="237744" cy="237744"/>
          </a:xfrm>
          <a:prstGeom prst="ellipse">
            <a:avLst/>
          </a:prstGeom>
          <a:solidFill>
            <a:srgbClr val="00A4CB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63496" y="1700784"/>
            <a:ext cx="1572768" cy="457200"/>
          </a:xfrm>
          <a:prstGeom prst="rect">
            <a:avLst/>
          </a:prstGeom>
          <a:noFill/>
        </p:spPr>
        <p:txBody>
          <a:bodyPr wrap="square" lIns="45720" tIns="27432" rIns="45720" bIns="27432" anchor="b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10-18 周日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63496" y="2523744"/>
            <a:ext cx="1572768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读 GD 原始导出</a:t>
            </a:r>
            <a:br>
              <a:rPr lang="zh-CN" sz="1200">
                <a:latin typeface="微软雅黑"/>
                <a:ea typeface="微软雅黑"/>
                <a:cs typeface="微软雅黑"/>
              </a:rPr>
            </a:br>
            <a:r>
              <a:rPr sz="120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D50–D58；性能改造</a:t>
            </a:r>
          </a:p>
        </p:txBody>
      </p:sp>
      <p:sp>
        <p:nvSpPr>
          <p:cNvPr id="20" name="Oval 19"/>
          <p:cNvSpPr/>
          <p:nvPr/>
        </p:nvSpPr>
        <p:spPr>
          <a:xfrm>
            <a:off x="4346448" y="2212848"/>
            <a:ext cx="237744" cy="237744"/>
          </a:xfrm>
          <a:prstGeom prst="ellipse">
            <a:avLst/>
          </a:prstGeom>
          <a:solidFill>
            <a:srgbClr val="00A4CB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78935" y="1700784"/>
            <a:ext cx="1572768" cy="457200"/>
          </a:xfrm>
          <a:prstGeom prst="rect">
            <a:avLst/>
          </a:prstGeom>
          <a:noFill/>
        </p:spPr>
        <p:txBody>
          <a:bodyPr wrap="square" lIns="45720" tIns="27432" rIns="45720" bIns="27432" anchor="b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10-19 周一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78935" y="2523744"/>
            <a:ext cx="1572768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试用后三处修改</a:t>
            </a:r>
            <a:br>
              <a:rPr lang="zh-CN" sz="1200">
                <a:latin typeface="微软雅黑"/>
                <a:ea typeface="微软雅黑"/>
                <a:cs typeface="微软雅黑"/>
              </a:rPr>
            </a:br>
            <a:r>
              <a:rPr sz="120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放弃导入、翻页</a:t>
            </a:r>
          </a:p>
        </p:txBody>
      </p:sp>
      <p:sp>
        <p:nvSpPr>
          <p:cNvPr id="23" name="Oval 22"/>
          <p:cNvSpPr/>
          <p:nvPr/>
        </p:nvSpPr>
        <p:spPr>
          <a:xfrm>
            <a:off x="5961888" y="2212848"/>
            <a:ext cx="237744" cy="237744"/>
          </a:xfrm>
          <a:prstGeom prst="ellipse">
            <a:avLst/>
          </a:prstGeom>
          <a:solidFill>
            <a:srgbClr val="1F4E94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94376" y="1700784"/>
            <a:ext cx="1572768" cy="457200"/>
          </a:xfrm>
          <a:prstGeom prst="rect">
            <a:avLst/>
          </a:prstGeom>
          <a:noFill/>
        </p:spPr>
        <p:txBody>
          <a:bodyPr wrap="square" lIns="45720" tIns="27432" rIns="45720" bIns="27432" anchor="b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10-20 周二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94376" y="2523744"/>
            <a:ext cx="1572768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压缩包读取提速</a:t>
            </a:r>
            <a:br>
              <a:rPr lang="zh-CN" sz="1200">
                <a:latin typeface="微软雅黑"/>
                <a:ea typeface="微软雅黑"/>
                <a:cs typeface="微软雅黑"/>
              </a:rPr>
            </a:br>
            <a:r>
              <a:rPr sz="120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部署</a:t>
            </a:r>
          </a:p>
        </p:txBody>
      </p:sp>
      <p:sp>
        <p:nvSpPr>
          <p:cNvPr id="26" name="Oval 25"/>
          <p:cNvSpPr/>
          <p:nvPr/>
        </p:nvSpPr>
        <p:spPr>
          <a:xfrm>
            <a:off x="7577327" y="2212848"/>
            <a:ext cx="237744" cy="237744"/>
          </a:xfrm>
          <a:prstGeom prst="ellipse">
            <a:avLst/>
          </a:prstGeom>
          <a:solidFill>
            <a:srgbClr val="1F4E94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09815" y="1700784"/>
            <a:ext cx="1572768" cy="457200"/>
          </a:xfrm>
          <a:prstGeom prst="rect">
            <a:avLst/>
          </a:prstGeom>
          <a:noFill/>
        </p:spPr>
        <p:txBody>
          <a:bodyPr wrap="square" lIns="45720" tIns="27432" rIns="45720" bIns="27432" anchor="b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10-21 周三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9815" y="2523744"/>
            <a:ext cx="1572768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医生端体征图</a:t>
            </a:r>
            <a:br>
              <a:rPr lang="zh-CN" sz="1200">
                <a:latin typeface="微软雅黑"/>
                <a:ea typeface="微软雅黑"/>
                <a:cs typeface="微软雅黑"/>
              </a:rPr>
            </a:br>
            <a:r>
              <a:rPr sz="120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修预览显示；部署</a:t>
            </a:r>
          </a:p>
        </p:txBody>
      </p:sp>
      <p:sp>
        <p:nvSpPr>
          <p:cNvPr id="29" name="Oval 28"/>
          <p:cNvSpPr/>
          <p:nvPr/>
        </p:nvSpPr>
        <p:spPr>
          <a:xfrm>
            <a:off x="9192767" y="2212848"/>
            <a:ext cx="237744" cy="237744"/>
          </a:xfrm>
          <a:prstGeom prst="ellipse">
            <a:avLst/>
          </a:prstGeom>
          <a:solidFill>
            <a:srgbClr val="00A4CB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25256" y="1700784"/>
            <a:ext cx="1572768" cy="457200"/>
          </a:xfrm>
          <a:prstGeom prst="rect">
            <a:avLst/>
          </a:prstGeom>
          <a:noFill/>
        </p:spPr>
        <p:txBody>
          <a:bodyPr wrap="square" lIns="45720" tIns="27432" rIns="45720" bIns="27432" anchor="b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10-22 周四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25256" y="2523744"/>
            <a:ext cx="1572768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规则集 v0.2→v0.3</a:t>
            </a:r>
            <a:br>
              <a:rPr lang="zh-CN" sz="1200">
                <a:latin typeface="微软雅黑"/>
                <a:ea typeface="微软雅黑"/>
                <a:cs typeface="微软雅黑"/>
              </a:rPr>
            </a:br>
            <a:r>
              <a:rPr sz="120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std_v3、导出页</a:t>
            </a:r>
          </a:p>
        </p:txBody>
      </p:sp>
      <p:sp>
        <p:nvSpPr>
          <p:cNvPr id="32" name="Oval 31"/>
          <p:cNvSpPr/>
          <p:nvPr/>
        </p:nvSpPr>
        <p:spPr>
          <a:xfrm>
            <a:off x="10808207" y="2212848"/>
            <a:ext cx="237744" cy="237744"/>
          </a:xfrm>
          <a:prstGeom prst="ellipse">
            <a:avLst/>
          </a:prstGeom>
          <a:solidFill>
            <a:srgbClr val="1F4E94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140696" y="1700784"/>
            <a:ext cx="1572768" cy="457200"/>
          </a:xfrm>
          <a:prstGeom prst="rect">
            <a:avLst/>
          </a:prstGeom>
          <a:noFill/>
        </p:spPr>
        <p:txBody>
          <a:bodyPr wrap="square" lIns="45720" tIns="27432" rIns="45720" bIns="27432" anchor="b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10-23 周五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40696" y="2523744"/>
            <a:ext cx="1572768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确认 D69–D73</a:t>
            </a:r>
            <a:br>
              <a:rPr lang="zh-CN" sz="1200">
                <a:latin typeface="微软雅黑"/>
                <a:ea typeface="微软雅黑"/>
                <a:cs typeface="微软雅黑"/>
              </a:rPr>
            </a:br>
            <a:r>
              <a:rPr sz="120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部署，206 个测试</a:t>
            </a:r>
          </a:p>
        </p:txBody>
      </p:sp>
      <p:sp>
        <p:nvSpPr>
          <p:cNvPr id="35" name="Oval 34"/>
          <p:cNvSpPr/>
          <p:nvPr/>
        </p:nvSpPr>
        <p:spPr>
          <a:xfrm>
            <a:off x="585216" y="3182112"/>
            <a:ext cx="146304" cy="146304"/>
          </a:xfrm>
          <a:prstGeom prst="ellipse">
            <a:avLst/>
          </a:prstGeom>
          <a:solidFill>
            <a:srgbClr val="1F4E94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6384" y="3127248"/>
            <a:ext cx="2011680" cy="256032"/>
          </a:xfrm>
          <a:prstGeom prst="rect">
            <a:avLst/>
          </a:prstGeom>
          <a:noFill/>
        </p:spPr>
        <p:txBody>
          <a:bodyPr wrap="square" lIns="36576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当天部署到专用服务器</a:t>
            </a:r>
          </a:p>
        </p:txBody>
      </p:sp>
      <p:sp>
        <p:nvSpPr>
          <p:cNvPr id="37" name="Oval 36"/>
          <p:cNvSpPr/>
          <p:nvPr/>
        </p:nvSpPr>
        <p:spPr>
          <a:xfrm>
            <a:off x="2670048" y="3182112"/>
            <a:ext cx="146304" cy="146304"/>
          </a:xfrm>
          <a:prstGeom prst="ellipse">
            <a:avLst/>
          </a:prstGeom>
          <a:solidFill>
            <a:srgbClr val="00A4CB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871216" y="3127248"/>
            <a:ext cx="1463040" cy="256032"/>
          </a:xfrm>
          <a:prstGeom prst="rect">
            <a:avLst/>
          </a:prstGeom>
          <a:noFill/>
        </p:spPr>
        <p:txBody>
          <a:bodyPr wrap="square" lIns="36576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开发与试用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909815" y="3118104"/>
            <a:ext cx="3188207" cy="274320"/>
          </a:xfrm>
          <a:prstGeom prst="roundRect">
            <a:avLst>
              <a:gd name="adj" fmla="val 50000"/>
            </a:avLst>
          </a:prstGeom>
          <a:solidFill>
            <a:srgbClr val="F5F8FC"/>
          </a:solidFill>
          <a:ln w="12700">
            <a:solidFill>
              <a:srgbClr val="4075BE"/>
            </a:solidFill>
          </a:ln>
        </p:spPr>
        <p:txBody>
          <a:bodyPr rtlCol="0" anchor="ctr" wrap="none" lIns="36576" tIns="18288" rIns="36576" bIns="18288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六模型实验：本人 3 个模型 × 5 个 seed 跑完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" y="3493008"/>
            <a:ext cx="3575304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CDDAE8"/>
            </a:solidFill>
          </a:ln>
          <a:effectLst>
            <a:outerShdw blurRad="63500" dist="19050" dir="5400000" algn="t" rotWithShape="0">
              <a:srgbClr val="1F3B66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02920" y="3493008"/>
            <a:ext cx="3575304" cy="420624"/>
          </a:xfrm>
          <a:prstGeom prst="rect">
            <a:avLst/>
          </a:prstGeom>
          <a:solidFill>
            <a:srgbClr val="1F4E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3493008"/>
            <a:ext cx="3300984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① 读得进：GD 原始导出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" y="4005072"/>
            <a:ext cx="3282696" cy="1645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82880" indent="-182880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Clr>
                <a:srgbClr val="4075BE"/>
              </a:buClr>
              <a:buFont typeface="Arial"/>
              <a:buChar char="•"/>
            </a:pPr>
            <a:r>
              <a:rPr sz="130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一整套 20 个 xlsx、13 类表，按表头认表、自动挂接</a:t>
            </a:r>
          </a:p>
          <a:p>
            <a:pPr algn="l" marL="182880" indent="-182880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Clr>
                <a:srgbClr val="4075BE"/>
              </a:buClr>
              <a:buFont typeface="Arial"/>
              <a:buChar char="•"/>
            </a:pPr>
            <a:r>
              <a:rPr sz="130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文件夹、zip、rar、7z 都能整包上传</a:t>
            </a:r>
          </a:p>
          <a:p>
            <a:pPr algn="l" marL="182880" indent="-182880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Clr>
                <a:srgbClr val="4075BE"/>
              </a:buClr>
              <a:buFont typeface="Arial"/>
              <a:buChar char="•"/>
            </a:pPr>
            <a:r>
              <a:rPr sz="130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约 40 万条的真实数据量级，读取放在子进程里跑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06824" y="3493008"/>
            <a:ext cx="3575304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CDDAE8"/>
            </a:solidFill>
          </a:ln>
          <a:effectLst>
            <a:outerShdw blurRad="63500" dist="19050" dir="5400000" algn="t" rotWithShape="0">
              <a:srgbClr val="1F3B66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306824" y="3493008"/>
            <a:ext cx="3575304" cy="420624"/>
          </a:xfrm>
          <a:prstGeom prst="rect">
            <a:avLst/>
          </a:prstGeom>
          <a:solidFill>
            <a:srgbClr val="1F4E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443984" y="3493008"/>
            <a:ext cx="3300984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② 判得齐：两院同一口径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53128" y="4005072"/>
            <a:ext cx="3282696" cy="1645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82880" indent="-182880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Clr>
                <a:srgbClr val="4075BE"/>
              </a:buClr>
              <a:buFont typeface="Arial"/>
              <a:buChar char="•"/>
            </a:pPr>
            <a:r>
              <a:rPr sz="130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两院共用一套文字规则、ICU 科室规则、诊断名称规则</a:t>
            </a:r>
          </a:p>
          <a:p>
            <a:pPr algn="l" marL="182880" indent="-182880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Clr>
                <a:srgbClr val="4075BE"/>
              </a:buClr>
              <a:buFont typeface="Arial"/>
              <a:buChar char="•"/>
            </a:pPr>
            <a:r>
              <a:rPr sz="130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规则集 v0.3：每条判据标“原文 / 代理 / 弱代理”</a:t>
            </a:r>
          </a:p>
          <a:p>
            <a:pPr algn="l" marL="182880" indent="-182880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Clr>
                <a:srgbClr val="4075BE"/>
              </a:buClr>
              <a:buFont typeface="Arial"/>
              <a:buChar char="•"/>
            </a:pPr>
            <a:r>
              <a:rPr sz="130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人群、主口径、多次就诊的规则已定（D69–D73）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110728" y="3493008"/>
            <a:ext cx="3575304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CDDAE8"/>
            </a:solidFill>
          </a:ln>
          <a:effectLst>
            <a:outerShdw blurRad="63500" dist="19050" dir="5400000" algn="t" rotWithShape="0">
              <a:srgbClr val="1F3B66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110728" y="3493008"/>
            <a:ext cx="3575304" cy="420624"/>
          </a:xfrm>
          <a:prstGeom prst="rect">
            <a:avLst/>
          </a:prstGeom>
          <a:solidFill>
            <a:srgbClr val="1F4E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47888" y="3493008"/>
            <a:ext cx="3300984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③ 交得出：std_v3 统一导出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57032" y="4005072"/>
            <a:ext cx="3282696" cy="1645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82880" indent="-182880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Clr>
                <a:srgbClr val="4075BE"/>
              </a:buClr>
              <a:buFont typeface="Arial"/>
              <a:buChar char="•"/>
            </a:pPr>
            <a:r>
              <a:rPr sz="130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两院同表、同列、同编码、同取值</a:t>
            </a:r>
          </a:p>
          <a:p>
            <a:pPr algn="l" marL="182880" indent="-182880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Clr>
                <a:srgbClr val="4075BE"/>
              </a:buClr>
              <a:buFont typeface="Arial"/>
              <a:buChar char="•"/>
            </a:pPr>
            <a:r>
              <a:rPr sz="130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“数据导出”页一键下载：Parquet / CSV / Excel</a:t>
            </a:r>
          </a:p>
          <a:p>
            <a:pPr algn="l" marL="182880" indent="-182880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Clr>
                <a:srgbClr val="4075BE"/>
              </a:buClr>
              <a:buFont typeface="Arial"/>
              <a:buChar char="•"/>
            </a:pPr>
            <a:r>
              <a:rPr sz="130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附对齐报告、字典、manifest，同一快照可复现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顶部色条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E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标题栏"/>
          <p:cNvSpPr/>
          <p:nvPr/>
        </p:nvSpPr>
        <p:spPr>
          <a:xfrm>
            <a:off x="0" y="219456"/>
            <a:ext cx="9418320" cy="530352"/>
          </a:xfrm>
          <a:prstGeom prst="rect">
            <a:avLst/>
          </a:prstGeom>
          <a:solidFill>
            <a:srgbClr val="4075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章节标签"/>
          <p:cNvSpPr/>
          <p:nvPr/>
        </p:nvSpPr>
        <p:spPr>
          <a:xfrm>
            <a:off x="320040" y="301752"/>
            <a:ext cx="844296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36576" tIns="18288" rIns="36576" bIns="18288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zh-CN" altLang="en-US">
                <a:solidFill>
                  <a:srgbClr val="1F4E94"/>
                </a:solidFill>
                <a:latin typeface="微软雅黑"/>
                <a:ea typeface="微软雅黑"/>
                <a:cs typeface="微软雅黑"/>
              </a:rPr>
              <a:t>成果一</a:t>
            </a:r>
          </a:p>
        </p:txBody>
      </p:sp>
      <p:sp>
        <p:nvSpPr>
          <p:cNvPr id="5" name="标题"/>
          <p:cNvSpPr txBox="1"/>
          <p:nvPr/>
        </p:nvSpPr>
        <p:spPr>
          <a:xfrm>
            <a:off x="1310640" y="219456"/>
            <a:ext cx="797052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GD 原始导出：读得进，也读得动</a:t>
            </a:r>
          </a:p>
        </p:txBody>
      </p:sp>
      <p:sp>
        <p:nvSpPr>
          <p:cNvPr id="6" name="分隔线"/>
          <p:cNvSpPr/>
          <p:nvPr/>
        </p:nvSpPr>
        <p:spPr>
          <a:xfrm>
            <a:off x="457200" y="896112"/>
            <a:ext cx="11228832" cy="36576"/>
          </a:xfrm>
          <a:prstGeom prst="rect">
            <a:avLst/>
          </a:prstGeom>
          <a:solidFill>
            <a:srgbClr val="00A4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关键信息条"/>
          <p:cNvSpPr/>
          <p:nvPr/>
        </p:nvSpPr>
        <p:spPr>
          <a:xfrm>
            <a:off x="502920" y="1024128"/>
            <a:ext cx="11183112" cy="457200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关键信息"/>
          <p:cNvSpPr txBox="1"/>
          <p:nvPr/>
        </p:nvSpPr>
        <p:spPr>
          <a:xfrm>
            <a:off x="685800" y="1024128"/>
            <a:ext cx="10817352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GD 病历系统的原始导出整套读入；数据量上来以后，页面和内存都压下来了。</a:t>
            </a:r>
          </a:p>
        </p:txBody>
      </p:sp>
      <p:sp>
        <p:nvSpPr>
          <p:cNvPr id="9" name="结论框"/>
          <p:cNvSpPr/>
          <p:nvPr/>
        </p:nvSpPr>
        <p:spPr>
          <a:xfrm>
            <a:off x="502920" y="5870448"/>
            <a:ext cx="11183112" cy="420624"/>
          </a:xfrm>
          <a:prstGeom prst="rect">
            <a:avLst/>
          </a:prstGeom>
          <a:solidFill>
            <a:srgbClr val="FCEF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结论"/>
          <p:cNvSpPr txBox="1"/>
          <p:nvPr/>
        </p:nvSpPr>
        <p:spPr>
          <a:xfrm>
            <a:off x="685800" y="5870448"/>
            <a:ext cx="10817352" cy="42062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口径说明：</a:t>
            </a:r>
            <a:r>
              <a:rPr sz="1500" b="0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性能数字是虚构数据（618 次住院、79–88 万条记录）上的本机实测；真实 GD 约 40 万条。</a:t>
            </a:r>
          </a:p>
        </p:txBody>
      </p:sp>
      <p:sp>
        <p:nvSpPr>
          <p:cNvPr id="11" name="页脚"/>
          <p:cNvSpPr txBox="1"/>
          <p:nvPr/>
        </p:nvSpPr>
        <p:spPr>
          <a:xfrm>
            <a:off x="502920" y="6455664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老年流感转重研究 · 本周总结与周末计划</a:t>
            </a:r>
          </a:p>
        </p:txBody>
      </p:sp>
      <p:sp>
        <p:nvSpPr>
          <p:cNvPr id="12" name="页码"/>
          <p:cNvSpPr txBox="1"/>
          <p:nvPr/>
        </p:nvSpPr>
        <p:spPr>
          <a:xfrm>
            <a:off x="10680192" y="6455664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84F30AFF-F17D-47B1-928E-A16FEC7DF8C0}" type="slidenum">
              <a:rPr lang="zh-CN" sz="1050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5</a:t>
            </a:fld>
          </a:p>
        </p:txBody>
      </p:sp>
      <p:sp>
        <p:nvSpPr>
          <p:cNvPr id="13" name="Rectangle 12"/>
          <p:cNvSpPr/>
          <p:nvPr/>
        </p:nvSpPr>
        <p:spPr>
          <a:xfrm>
            <a:off x="502920" y="1664208"/>
            <a:ext cx="5029200" cy="4041648"/>
          </a:xfrm>
          <a:prstGeom prst="rect">
            <a:avLst/>
          </a:prstGeom>
          <a:solidFill>
            <a:srgbClr val="FFFFFF"/>
          </a:solidFill>
          <a:ln w="9525">
            <a:solidFill>
              <a:srgbClr val="CDDAE8"/>
            </a:solidFill>
          </a:ln>
          <a:effectLst>
            <a:outerShdw blurRad="63500" dist="19050" dir="5400000" algn="t" rotWithShape="0">
              <a:srgbClr val="1F3B66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1664208"/>
            <a:ext cx="5029200" cy="420624"/>
          </a:xfrm>
          <a:prstGeom prst="rect">
            <a:avLst/>
          </a:prstGeom>
          <a:solidFill>
            <a:srgbClr val="1F4E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1664208"/>
            <a:ext cx="4754880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读法：一整套文件一起读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" y="2194560"/>
            <a:ext cx="4700016" cy="3474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82880" indent="-182880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  <a:buClr>
                <a:srgbClr val="4075BE"/>
              </a:buClr>
              <a:buFont typeface="Arial"/>
              <a:buChar char="•"/>
            </a:pPr>
            <a:r>
              <a:rPr sz="130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认表：</a:t>
            </a:r>
            <a:r>
              <a:rPr sz="130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按表头认出 13 类表——入院记录、医嘱、生命体征、检验、检查、病程等</a:t>
            </a:r>
          </a:p>
          <a:p>
            <a:pPr algn="l" marL="182880" indent="-182880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  <a:buClr>
                <a:srgbClr val="4075BE"/>
              </a:buClr>
              <a:buFont typeface="Arial"/>
              <a:buChar char="•"/>
            </a:pPr>
            <a:r>
              <a:rPr sz="130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挂接：</a:t>
            </a:r>
            <a:r>
              <a:rPr sz="130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按 ENCT_ID / ENCT_UUID / 住院号挂成一次次住院</a:t>
            </a:r>
          </a:p>
          <a:p>
            <a:pPr algn="l" marL="182880" indent="-182880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  <a:buClr>
                <a:srgbClr val="4075BE"/>
              </a:buClr>
              <a:buFont typeface="Arial"/>
              <a:buChar char="•"/>
            </a:pPr>
            <a:r>
              <a:rPr sz="130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上传：</a:t>
            </a:r>
            <a:r>
              <a:rPr sz="130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整个文件夹，或 zip、rar、7z 压缩包（D57）</a:t>
            </a:r>
          </a:p>
          <a:p>
            <a:pPr algn="l" marL="182880" indent="-182880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  <a:buClr>
                <a:srgbClr val="4075BE"/>
              </a:buClr>
              <a:buFont typeface="Arial"/>
              <a:buChar char="•"/>
            </a:pPr>
            <a:r>
              <a:rPr sz="130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清洗：</a:t>
            </a:r>
            <a:r>
              <a:rPr sz="130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体温漏小数点自动 ÷10，原值保留（D55）；SpO2 的吸氧状态按医嘱推断</a:t>
            </a:r>
          </a:p>
          <a:p>
            <a:pPr algn="l" marL="182880" indent="-182880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  <a:buClr>
                <a:srgbClr val="4075BE"/>
              </a:buClr>
              <a:buFont typeface="Arial"/>
              <a:buChar char="•"/>
            </a:pPr>
            <a:r>
              <a:rPr sz="130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诊断：</a:t>
            </a:r>
            <a:r>
              <a:rPr sz="130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编码与名称拆开读；名称缺失时，查院内 ICD 字典（3.7 万条）补上</a:t>
            </a:r>
          </a:p>
          <a:p>
            <a:pPr algn="l" marL="182880" indent="-182880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  <a:buClr>
                <a:srgbClr val="4075BE"/>
              </a:buClr>
              <a:buFont typeface="Arial"/>
              <a:buChar char="•"/>
            </a:pPr>
            <a:r>
              <a:rPr sz="130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缺口：</a:t>
            </a:r>
            <a:r>
              <a:rPr sz="130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只有 JZH 的检验先不入库，等 GD 补编号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60720" y="1664208"/>
            <a:ext cx="5925312" cy="2724912"/>
          </a:xfrm>
          <a:prstGeom prst="rect">
            <a:avLst/>
          </a:prstGeom>
          <a:solidFill>
            <a:srgbClr val="FFFFFF"/>
          </a:solidFill>
          <a:ln w="9525">
            <a:solidFill>
              <a:srgbClr val="CDDAE8"/>
            </a:solidFill>
          </a:ln>
          <a:effectLst>
            <a:outerShdw blurRad="63500" dist="19050" dir="5400000" algn="t" rotWithShape="0">
              <a:srgbClr val="1F3B66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0" y="1737360"/>
            <a:ext cx="384048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响应时间（秒）：改前 → 改后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811512" y="1847088"/>
            <a:ext cx="164592" cy="128016"/>
          </a:xfrm>
          <a:prstGeom prst="rect">
            <a:avLst/>
          </a:prstGeom>
          <a:solidFill>
            <a:srgbClr val="C5D0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12680" y="1773936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改前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680192" y="1847088"/>
            <a:ext cx="164592" cy="128016"/>
          </a:xfrm>
          <a:prstGeom prst="rect">
            <a:avLst/>
          </a:prstGeom>
          <a:solidFill>
            <a:srgbClr val="1F4E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881360" y="1773936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改后</a:t>
            </a:r>
          </a:p>
        </p:txBody>
      </p:sp>
      <p:graphicFrame>
        <p:nvGraphicFramePr>
          <p:cNvPr id="23" name="响应时间条形图"/>
          <p:cNvGraphicFramePr>
            <a:graphicFrameLocks noGrp="1"/>
          </p:cNvGraphicFramePr>
          <p:nvPr/>
        </p:nvGraphicFramePr>
        <p:xfrm>
          <a:off x="5852159" y="2103120"/>
          <a:ext cx="5696712" cy="22402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4" name="Rectangle 23"/>
          <p:cNvSpPr/>
          <p:nvPr/>
        </p:nvSpPr>
        <p:spPr>
          <a:xfrm>
            <a:off x="5760720" y="4526280"/>
            <a:ext cx="1865376" cy="1179576"/>
          </a:xfrm>
          <a:prstGeom prst="rect">
            <a:avLst/>
          </a:prstGeom>
          <a:solidFill>
            <a:srgbClr val="FFFFFF"/>
          </a:solidFill>
          <a:ln w="9525">
            <a:solidFill>
              <a:srgbClr val="CDDAE8"/>
            </a:solidFill>
          </a:ln>
          <a:effectLst>
            <a:outerShdw blurRad="63500" dist="19050" dir="5400000" algn="t" rotWithShape="0">
              <a:srgbClr val="1F3B66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07024" y="4581144"/>
            <a:ext cx="1572768" cy="613379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zh-CN" altLang="en-US">
                <a:solidFill>
                  <a:srgbClr val="1F4E94"/>
                </a:solidFill>
                <a:latin typeface="微软雅黑"/>
                <a:ea typeface="微软雅黑"/>
                <a:cs typeface="微软雅黑"/>
              </a:rPr>
              <a:t>1.4 → 0.3 GB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07024" y="5194523"/>
            <a:ext cx="1572768" cy="427573"/>
          </a:xfrm>
          <a:prstGeom prst="rect">
            <a:avLst/>
          </a:prstGeom>
          <a:noFill/>
        </p:spPr>
        <p:txBody>
          <a:bodyPr wrap="square" lIns="0" tIns="18288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服务进程常驻内存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90688" y="4526280"/>
            <a:ext cx="1865376" cy="1179576"/>
          </a:xfrm>
          <a:prstGeom prst="rect">
            <a:avLst/>
          </a:prstGeom>
          <a:solidFill>
            <a:srgbClr val="FFFFFF"/>
          </a:solidFill>
          <a:ln w="9525">
            <a:solidFill>
              <a:srgbClr val="CDDAE8"/>
            </a:solidFill>
          </a:ln>
          <a:effectLst>
            <a:outerShdw blurRad="63500" dist="19050" dir="5400000" algn="t" rotWithShape="0">
              <a:srgbClr val="1F3B66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36992" y="4581144"/>
            <a:ext cx="1572768" cy="613379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zh-CN" altLang="en-US">
                <a:solidFill>
                  <a:srgbClr val="1F4E94"/>
                </a:solidFill>
                <a:latin typeface="微软雅黑"/>
                <a:ea typeface="微软雅黑"/>
                <a:cs typeface="微软雅黑"/>
              </a:rPr>
              <a:t>1.13 GB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36992" y="5194523"/>
            <a:ext cx="1572768" cy="427573"/>
          </a:xfrm>
          <a:prstGeom prst="rect">
            <a:avLst/>
          </a:prstGeom>
          <a:noFill/>
        </p:spPr>
        <p:txBody>
          <a:bodyPr wrap="square" lIns="0" tIns="18288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读 87.6 万条时的峰值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820656" y="4526280"/>
            <a:ext cx="1865376" cy="1179576"/>
          </a:xfrm>
          <a:prstGeom prst="rect">
            <a:avLst/>
          </a:prstGeom>
          <a:solidFill>
            <a:srgbClr val="FFFFFF"/>
          </a:solidFill>
          <a:ln w="9525">
            <a:solidFill>
              <a:srgbClr val="CDDAE8"/>
            </a:solidFill>
          </a:ln>
          <a:effectLst>
            <a:outerShdw blurRad="63500" dist="19050" dir="5400000" algn="t" rotWithShape="0">
              <a:srgbClr val="1F3B66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66960" y="4581144"/>
            <a:ext cx="1572768" cy="613379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zh-CN" altLang="en-US">
                <a:solidFill>
                  <a:srgbClr val="1F4E94"/>
                </a:solidFill>
                <a:latin typeface="微软雅黑"/>
                <a:ea typeface="微软雅黑"/>
                <a:cs typeface="微软雅黑"/>
              </a:rPr>
              <a:t>174 → 148 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66960" y="5194523"/>
            <a:ext cx="1572768" cy="427573"/>
          </a:xfrm>
          <a:prstGeom prst="rect">
            <a:avLst/>
          </a:prstGeom>
          <a:noFill/>
        </p:spPr>
        <p:txBody>
          <a:bodyPr wrap="square" lIns="0" tIns="18288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整套读取一次的用时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顶部色条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E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标题栏"/>
          <p:cNvSpPr/>
          <p:nvPr/>
        </p:nvSpPr>
        <p:spPr>
          <a:xfrm>
            <a:off x="0" y="219456"/>
            <a:ext cx="9418320" cy="530352"/>
          </a:xfrm>
          <a:prstGeom prst="rect">
            <a:avLst/>
          </a:prstGeom>
          <a:solidFill>
            <a:srgbClr val="4075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章节标签"/>
          <p:cNvSpPr/>
          <p:nvPr/>
        </p:nvSpPr>
        <p:spPr>
          <a:xfrm>
            <a:off x="320040" y="301752"/>
            <a:ext cx="844296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36576" tIns="18288" rIns="36576" bIns="18288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zh-CN" altLang="en-US">
                <a:solidFill>
                  <a:srgbClr val="1F4E94"/>
                </a:solidFill>
                <a:latin typeface="微软雅黑"/>
                <a:ea typeface="微软雅黑"/>
                <a:cs typeface="微软雅黑"/>
              </a:rPr>
              <a:t>成果二</a:t>
            </a:r>
          </a:p>
        </p:txBody>
      </p:sp>
      <p:sp>
        <p:nvSpPr>
          <p:cNvPr id="5" name="标题"/>
          <p:cNvSpPr txBox="1"/>
          <p:nvPr/>
        </p:nvSpPr>
        <p:spPr>
          <a:xfrm>
            <a:off x="1310640" y="219456"/>
            <a:ext cx="797052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两院同一口径的重症判定：规则集 v0.3</a:t>
            </a:r>
          </a:p>
        </p:txBody>
      </p:sp>
      <p:sp>
        <p:nvSpPr>
          <p:cNvPr id="6" name="分隔线"/>
          <p:cNvSpPr/>
          <p:nvPr/>
        </p:nvSpPr>
        <p:spPr>
          <a:xfrm>
            <a:off x="457200" y="896112"/>
            <a:ext cx="11228832" cy="36576"/>
          </a:xfrm>
          <a:prstGeom prst="rect">
            <a:avLst/>
          </a:prstGeom>
          <a:solidFill>
            <a:srgbClr val="00A4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关键信息条"/>
          <p:cNvSpPr/>
          <p:nvPr/>
        </p:nvSpPr>
        <p:spPr>
          <a:xfrm>
            <a:off x="502920" y="1024128"/>
            <a:ext cx="11183112" cy="457200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关键信息"/>
          <p:cNvSpPr txBox="1"/>
          <p:nvPr/>
        </p:nvSpPr>
        <p:spPr>
          <a:xfrm>
            <a:off x="685800" y="1024128"/>
            <a:ext cx="10817352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依据《流行性感冒诊疗方案（2025年版）》，每条判据都标明来源：方案原文、代理或弱代理。</a:t>
            </a:r>
          </a:p>
        </p:txBody>
      </p:sp>
      <p:sp>
        <p:nvSpPr>
          <p:cNvPr id="9" name="结论框"/>
          <p:cNvSpPr/>
          <p:nvPr/>
        </p:nvSpPr>
        <p:spPr>
          <a:xfrm>
            <a:off x="502920" y="5870448"/>
            <a:ext cx="11183112" cy="420624"/>
          </a:xfrm>
          <a:prstGeom prst="rect">
            <a:avLst/>
          </a:prstGeom>
          <a:solidFill>
            <a:srgbClr val="FCEF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结论"/>
          <p:cNvSpPr txBox="1"/>
          <p:nvPr/>
        </p:nvSpPr>
        <p:spPr>
          <a:xfrm>
            <a:off x="685800" y="5870448"/>
            <a:ext cx="10817352" cy="42062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最大的风险：</a:t>
            </a:r>
            <a:r>
              <a:rPr sz="1500" b="0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重型主要靠“新开始氧疗”，危重型主要靠“进 ICU”和机械通气；两院检出机会不同，需真实计数检验。</a:t>
            </a:r>
          </a:p>
        </p:txBody>
      </p:sp>
      <p:sp>
        <p:nvSpPr>
          <p:cNvPr id="11" name="页脚"/>
          <p:cNvSpPr txBox="1"/>
          <p:nvPr/>
        </p:nvSpPr>
        <p:spPr>
          <a:xfrm>
            <a:off x="502920" y="6455664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老年流感转重研究 · 本周总结与周末计划</a:t>
            </a:r>
          </a:p>
        </p:txBody>
      </p:sp>
      <p:sp>
        <p:nvSpPr>
          <p:cNvPr id="12" name="页码"/>
          <p:cNvSpPr txBox="1"/>
          <p:nvPr/>
        </p:nvSpPr>
        <p:spPr>
          <a:xfrm>
            <a:off x="10680192" y="6455664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54BCE461-C0CA-462E-9B0B-3A9AA770F55D}" type="slidenum">
              <a:rPr lang="zh-CN" sz="1050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6</a:t>
            </a:fld>
          </a:p>
        </p:txBody>
      </p:sp>
      <p:sp>
        <p:nvSpPr>
          <p:cNvPr id="13" name="Rounded Rectangle 12"/>
          <p:cNvSpPr/>
          <p:nvPr/>
        </p:nvSpPr>
        <p:spPr>
          <a:xfrm>
            <a:off x="502920" y="1645920"/>
            <a:ext cx="976376" cy="274320"/>
          </a:xfrm>
          <a:prstGeom prst="roundRect">
            <a:avLst>
              <a:gd name="adj" fmla="val 30000"/>
            </a:avLst>
          </a:prstGeom>
          <a:solidFill>
            <a:srgbClr val="1F4E94"/>
          </a:solidFill>
          <a:ln>
            <a:noFill/>
          </a:ln>
        </p:spPr>
        <p:txBody>
          <a:bodyPr rtlCol="0" anchor="ctr" wrap="none" lIns="36576" tIns="18288" rIns="36576" bIns="18288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方案原文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16456" y="1645920"/>
            <a:ext cx="680212" cy="2743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9050">
            <a:solidFill>
              <a:srgbClr val="4075BE"/>
            </a:solidFill>
          </a:ln>
        </p:spPr>
        <p:txBody>
          <a:bodyPr rtlCol="0" anchor="ctr" wrap="none" lIns="36576" tIns="18288" rIns="36576" bIns="18288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代理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33828" y="1645920"/>
            <a:ext cx="2161032" cy="2743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8A94A6"/>
            </a:solidFill>
            <a:prstDash val="dash"/>
          </a:ln>
        </p:spPr>
        <p:txBody>
          <a:bodyPr rtlCol="0" anchor="ctr" wrap="none" lIns="36576" tIns="18288" rIns="36576" bIns="18288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弱代理（只进敏感性分析）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77740" y="164592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括号里是对应的研究者决定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048256"/>
            <a:ext cx="7589520" cy="512064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2048256"/>
            <a:ext cx="1143000" cy="512064"/>
          </a:xfrm>
          <a:prstGeom prst="rect">
            <a:avLst/>
          </a:prstGeom>
          <a:solidFill>
            <a:srgbClr val="D9786C"/>
          </a:solidFill>
          <a:ln>
            <a:noFill/>
          </a:ln>
        </p:spPr>
        <p:txBody>
          <a:bodyPr rtlCol="0" anchor="ctr" wrap="square" lIns="36576" tIns="18288" rIns="36576" bIns="18288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中型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28800" y="2139696"/>
            <a:ext cx="1898523" cy="329184"/>
          </a:xfrm>
          <a:prstGeom prst="roundRect">
            <a:avLst>
              <a:gd name="adj" fmla="val 30000"/>
            </a:avLst>
          </a:prstGeom>
          <a:solidFill>
            <a:srgbClr val="1F4E94"/>
          </a:solidFill>
          <a:ln>
            <a:noFill/>
          </a:ln>
        </p:spPr>
        <p:txBody>
          <a:bodyPr rtlCol="0" anchor="ctr" wrap="none" lIns="36576" tIns="18288" rIns="36576" bIns="18288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影像或诊断提示肺炎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37051" y="2139696"/>
            <a:ext cx="2601912" cy="329184"/>
          </a:xfrm>
          <a:prstGeom prst="roundRect">
            <a:avLst>
              <a:gd name="adj" fmla="val 30000"/>
            </a:avLst>
          </a:prstGeom>
          <a:solidFill>
            <a:srgbClr val="1F4E94"/>
          </a:solidFill>
          <a:ln>
            <a:noFill/>
          </a:ln>
        </p:spPr>
        <p:txBody>
          <a:bodyPr rtlCol="0" anchor="ctr" wrap="none" lIns="36576" tIns="18288" rIns="36576" bIns="18288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气促 / 呼吸困难（不用咳嗽）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2688336"/>
            <a:ext cx="7589520" cy="950976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2688336"/>
            <a:ext cx="1143000" cy="9509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rtlCol="0" anchor="ctr" wrap="square" lIns="36576" tIns="18288" rIns="36576" bIns="18288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828800" y="2779776"/>
            <a:ext cx="1457642" cy="329184"/>
          </a:xfrm>
          <a:prstGeom prst="roundRect">
            <a:avLst>
              <a:gd name="adj" fmla="val 30000"/>
            </a:avLst>
          </a:prstGeom>
          <a:solidFill>
            <a:srgbClr val="1F4E94"/>
          </a:solidFill>
          <a:ln>
            <a:noFill/>
          </a:ln>
        </p:spPr>
        <p:txBody>
          <a:bodyPr rtlCol="0" anchor="ctr" wrap="none" lIns="36576" tIns="18288" rIns="36576" bIns="18288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RR ≥ 30 次/分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96170" y="2779776"/>
            <a:ext cx="1821116" cy="329184"/>
          </a:xfrm>
          <a:prstGeom prst="roundRect">
            <a:avLst>
              <a:gd name="adj" fmla="val 30000"/>
            </a:avLst>
          </a:prstGeom>
          <a:solidFill>
            <a:srgbClr val="1F4E94"/>
          </a:solidFill>
          <a:ln>
            <a:noFill/>
          </a:ln>
        </p:spPr>
        <p:txBody>
          <a:bodyPr rtlCol="0" anchor="ctr" wrap="none" lIns="36576" tIns="18288" rIns="36576" bIns="18288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吸空气 SpO2 ≤ 93%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27015" y="2779776"/>
            <a:ext cx="1753806" cy="329184"/>
          </a:xfrm>
          <a:prstGeom prst="roundRect">
            <a:avLst>
              <a:gd name="adj" fmla="val 30000"/>
            </a:avLst>
          </a:prstGeom>
          <a:solidFill>
            <a:srgbClr val="1F4E94"/>
          </a:solidFill>
          <a:ln>
            <a:noFill/>
          </a:ln>
        </p:spPr>
        <p:txBody>
          <a:bodyPr rtlCol="0" anchor="ctr" wrap="none" lIns="36576" tIns="18288" rIns="36576" bIns="18288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PaO2/FiO2 ≤ 300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828800" y="3218688"/>
            <a:ext cx="2191321" cy="32918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9050">
            <a:solidFill>
              <a:srgbClr val="4075BE"/>
            </a:solidFill>
          </a:ln>
        </p:spPr>
        <p:txBody>
          <a:bodyPr rtlCol="0" anchor="ctr" wrap="none" lIns="36576" tIns="18288" rIns="36576" bIns="18288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新开始普通氧疗（D67）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29849" y="3218688"/>
            <a:ext cx="1854771" cy="32918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9050">
            <a:solidFill>
              <a:srgbClr val="4075BE"/>
            </a:solidFill>
          </a:ln>
        </p:spPr>
        <p:txBody>
          <a:bodyPr rtlCol="0" anchor="ctr" wrap="none" lIns="36576" tIns="18288" rIns="36576" bIns="18288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高流量氧疗（D60）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94349" y="3218688"/>
            <a:ext cx="1393698" cy="32918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9050">
            <a:solidFill>
              <a:srgbClr val="4075BE"/>
            </a:solidFill>
          </a:ln>
        </p:spPr>
        <p:txBody>
          <a:bodyPr rtlCol="0" anchor="ctr" wrap="none" lIns="36576" tIns="18288" rIns="36576" bIns="18288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呼吸衰竭诊断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3694176"/>
            <a:ext cx="7589520" cy="950976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" y="3694176"/>
            <a:ext cx="1143000" cy="950976"/>
          </a:xfrm>
          <a:prstGeom prst="rect">
            <a:avLst/>
          </a:prstGeom>
          <a:solidFill>
            <a:srgbClr val="8E1F14"/>
          </a:solidFill>
          <a:ln>
            <a:noFill/>
          </a:ln>
        </p:spPr>
        <p:txBody>
          <a:bodyPr rtlCol="0" anchor="ctr" wrap="square" lIns="36576" tIns="18288" rIns="36576" bIns="18288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危重型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828800" y="3785615"/>
            <a:ext cx="2527871" cy="329184"/>
          </a:xfrm>
          <a:prstGeom prst="roundRect">
            <a:avLst>
              <a:gd name="adj" fmla="val 30000"/>
            </a:avLst>
          </a:prstGeom>
          <a:solidFill>
            <a:srgbClr val="1F4E94"/>
          </a:solidFill>
          <a:ln>
            <a:noFill/>
          </a:ln>
        </p:spPr>
        <p:txBody>
          <a:bodyPr rtlCol="0" anchor="ctr" wrap="none" lIns="36576" tIns="18288" rIns="36576" bIns="18288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有创或无创机械通气（D61）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66399" y="3785615"/>
            <a:ext cx="720598" cy="329184"/>
          </a:xfrm>
          <a:prstGeom prst="roundRect">
            <a:avLst>
              <a:gd name="adj" fmla="val 30000"/>
            </a:avLst>
          </a:prstGeom>
          <a:solidFill>
            <a:srgbClr val="1F4E94"/>
          </a:solidFill>
          <a:ln>
            <a:noFill/>
          </a:ln>
        </p:spPr>
        <p:txBody>
          <a:bodyPr rtlCol="0" anchor="ctr" wrap="none" lIns="36576" tIns="18288" rIns="36576" bIns="18288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休克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296725" y="3785615"/>
            <a:ext cx="2177859" cy="329184"/>
          </a:xfrm>
          <a:prstGeom prst="roundRect">
            <a:avLst>
              <a:gd name="adj" fmla="val 30000"/>
            </a:avLst>
          </a:prstGeom>
          <a:solidFill>
            <a:srgbClr val="1F4E94"/>
          </a:solidFill>
          <a:ln>
            <a:noFill/>
          </a:ln>
        </p:spPr>
        <p:txBody>
          <a:bodyPr rtlCol="0" anchor="ctr" wrap="none" lIns="36576" tIns="18288" rIns="36576" bIns="18288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ICU + 器官衰竭（D62）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828800" y="4224527"/>
            <a:ext cx="1693227" cy="32918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9050">
            <a:solidFill>
              <a:srgbClr val="4075BE"/>
            </a:solidFill>
          </a:ln>
        </p:spPr>
        <p:txBody>
          <a:bodyPr rtlCol="0" anchor="ctr" wrap="none" lIns="36576" tIns="18288" rIns="36576" bIns="18288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进入 ICU（D66）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631755" y="4224527"/>
            <a:ext cx="774446" cy="32918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9050">
            <a:solidFill>
              <a:srgbClr val="4075BE"/>
            </a:solidFill>
          </a:ln>
        </p:spPr>
        <p:txBody>
          <a:bodyPr rtlCol="0" anchor="ctr" wrap="none" lIns="36576" tIns="18288" rIns="36576" bIns="18288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ECMO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15929" y="4224527"/>
            <a:ext cx="888873" cy="32918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9050">
            <a:solidFill>
              <a:srgbClr val="4075BE"/>
            </a:solidFill>
          </a:ln>
        </p:spPr>
        <p:txBody>
          <a:bodyPr rtlCol="0" anchor="ctr" wrap="none" lIns="36576" tIns="18288" rIns="36576" bIns="18288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升压药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4700016"/>
            <a:ext cx="7589520" cy="512064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02920" y="4700016"/>
            <a:ext cx="1143000" cy="512064"/>
          </a:xfrm>
          <a:prstGeom prst="rect">
            <a:avLst/>
          </a:prstGeom>
          <a:solidFill>
            <a:srgbClr val="8A94A6"/>
          </a:solidFill>
          <a:ln>
            <a:noFill/>
          </a:ln>
        </p:spPr>
        <p:txBody>
          <a:bodyPr rtlCol="0" anchor="ctr" wrap="square" lIns="36576" tIns="18288" rIns="36576" bIns="18288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敏感性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828800" y="4791455"/>
            <a:ext cx="3776471" cy="32918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8A94A6"/>
            </a:solidFill>
            <a:prstDash val="dash"/>
          </a:ln>
        </p:spPr>
        <p:txBody>
          <a:bodyPr rtlCol="0" anchor="ctr" wrap="none" lIns="36576" tIns="18288" rIns="36576" bIns="18288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24–48 小时影像进展 &gt; 50% 的弱代理（D63）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5285232"/>
            <a:ext cx="758952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ICU + 器官衰竭的“器官”含 ARDS 与急性肝衰竭（D62）；影像进展只进 primary_img 口径，不进分级本身（D63）。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321040" y="1645920"/>
            <a:ext cx="3364991" cy="4059936"/>
          </a:xfrm>
          <a:prstGeom prst="rect">
            <a:avLst/>
          </a:prstGeom>
          <a:solidFill>
            <a:srgbClr val="FFFFFF"/>
          </a:solidFill>
          <a:ln w="9525">
            <a:solidFill>
              <a:srgbClr val="CDDAE8"/>
            </a:solidFill>
          </a:ln>
          <a:effectLst>
            <a:outerShdw blurRad="63500" dist="19050" dir="5400000" algn="t" rotWithShape="0">
              <a:srgbClr val="1F3B66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321040" y="1645920"/>
            <a:ext cx="3364991" cy="420624"/>
          </a:xfrm>
          <a:prstGeom prst="rect">
            <a:avLst/>
          </a:prstGeom>
          <a:solidFill>
            <a:srgbClr val="1F4E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58200" y="1645920"/>
            <a:ext cx="3090672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口径（D69–D73 已定）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67344" y="2157984"/>
            <a:ext cx="3072384" cy="35112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82880" indent="-182880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Clr>
                <a:srgbClr val="4075BE"/>
              </a:buClr>
              <a:buFont typeface="Arial"/>
              <a:buChar char="•"/>
            </a:pPr>
            <a:r>
              <a:rPr sz="125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主口径：</a:t>
            </a:r>
            <a:r>
              <a:rPr sz="125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primary = 治疗类 + 诊断类（D69）</a:t>
            </a:r>
          </a:p>
          <a:p>
            <a:pPr algn="l" marL="182880" indent="-182880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Clr>
                <a:srgbClr val="4075BE"/>
              </a:buClr>
              <a:buFont typeface="Arial"/>
              <a:buChar char="•"/>
            </a:pPr>
            <a:r>
              <a:rPr sz="125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敏感性：</a:t>
            </a:r>
            <a:r>
              <a:rPr sz="125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生理类、只用方案原文、加影像进展、O3 的 7 天窗</a:t>
            </a:r>
          </a:p>
          <a:p>
            <a:pPr algn="l" marL="182880" indent="-182880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Clr>
                <a:srgbClr val="4075BE"/>
              </a:buClr>
              <a:buFont typeface="Arial"/>
              <a:buChar char="•"/>
            </a:pPr>
            <a:r>
              <a:rPr sz="125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人群：</a:t>
            </a:r>
            <a:r>
              <a:rPr sz="125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确诊且 ≥60 岁为主分析，≥65 岁亚组（D70）</a:t>
            </a:r>
          </a:p>
          <a:p>
            <a:pPr algn="l" marL="182880" indent="-182880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Clr>
                <a:srgbClr val="4075BE"/>
              </a:buClr>
              <a:buFont typeface="Arial"/>
              <a:buChar char="•"/>
            </a:pPr>
            <a:r>
              <a:rPr sz="125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“新开始”：</a:t>
            </a:r>
            <a:r>
              <a:rPr sz="125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长期家庭氧疗、家庭无创者不算（D71）</a:t>
            </a:r>
          </a:p>
          <a:p>
            <a:pPr algn="l" marL="182880" indent="-182880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Clr>
                <a:srgbClr val="4075BE"/>
              </a:buClr>
              <a:buFont typeface="Arial"/>
              <a:buChar char="•"/>
            </a:pPr>
            <a:r>
              <a:rPr sz="125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术后转入 ICU：</a:t>
            </a:r>
            <a:r>
              <a:rPr sz="125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照算危重型，单独计数（D72）</a:t>
            </a:r>
          </a:p>
          <a:p>
            <a:pPr algn="l" marL="182880" indent="-182880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Clr>
                <a:srgbClr val="4075BE"/>
              </a:buClr>
              <a:buFont typeface="Arial"/>
              <a:buChar char="•"/>
            </a:pPr>
            <a:r>
              <a:rPr sz="125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多次就诊：</a:t>
            </a:r>
            <a:r>
              <a:rPr sz="125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每人每流感季取第一次（D73，ISO 第 40 周起）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顶部色条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E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标题栏"/>
          <p:cNvSpPr/>
          <p:nvPr/>
        </p:nvSpPr>
        <p:spPr>
          <a:xfrm>
            <a:off x="0" y="219456"/>
            <a:ext cx="9418320" cy="530352"/>
          </a:xfrm>
          <a:prstGeom prst="rect">
            <a:avLst/>
          </a:prstGeom>
          <a:solidFill>
            <a:srgbClr val="4075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章节标签"/>
          <p:cNvSpPr/>
          <p:nvPr/>
        </p:nvSpPr>
        <p:spPr>
          <a:xfrm>
            <a:off x="320040" y="301752"/>
            <a:ext cx="844296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36576" tIns="18288" rIns="36576" bIns="18288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zh-CN" altLang="en-US">
                <a:solidFill>
                  <a:srgbClr val="1F4E94"/>
                </a:solidFill>
                <a:latin typeface="微软雅黑"/>
                <a:ea typeface="微软雅黑"/>
                <a:cs typeface="微软雅黑"/>
              </a:rPr>
              <a:t>成果三</a:t>
            </a:r>
          </a:p>
        </p:txBody>
      </p:sp>
      <p:sp>
        <p:nvSpPr>
          <p:cNvPr id="5" name="标题"/>
          <p:cNvSpPr txBox="1"/>
          <p:nvPr/>
        </p:nvSpPr>
        <p:spPr>
          <a:xfrm>
            <a:off x="1310640" y="219456"/>
            <a:ext cx="797052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std_v3 统一导出，配五份多中心文档</a:t>
            </a:r>
          </a:p>
        </p:txBody>
      </p:sp>
      <p:sp>
        <p:nvSpPr>
          <p:cNvPr id="6" name="分隔线"/>
          <p:cNvSpPr/>
          <p:nvPr/>
        </p:nvSpPr>
        <p:spPr>
          <a:xfrm>
            <a:off x="457200" y="896112"/>
            <a:ext cx="11228832" cy="36576"/>
          </a:xfrm>
          <a:prstGeom prst="rect">
            <a:avLst/>
          </a:prstGeom>
          <a:solidFill>
            <a:srgbClr val="00A4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关键信息条"/>
          <p:cNvSpPr/>
          <p:nvPr/>
        </p:nvSpPr>
        <p:spPr>
          <a:xfrm>
            <a:off x="502920" y="1024128"/>
            <a:ext cx="11183112" cy="457200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关键信息"/>
          <p:cNvSpPr txBox="1"/>
          <p:nvPr/>
        </p:nvSpPr>
        <p:spPr>
          <a:xfrm>
            <a:off x="685800" y="1024128"/>
            <a:ext cx="10817352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不要求医院按规范导出：flucase 适配各院已有导出，两院导出同一标准格式（10-22 决定）。</a:t>
            </a:r>
          </a:p>
        </p:txBody>
      </p:sp>
      <p:sp>
        <p:nvSpPr>
          <p:cNvPr id="9" name="结论框"/>
          <p:cNvSpPr/>
          <p:nvPr/>
        </p:nvSpPr>
        <p:spPr>
          <a:xfrm>
            <a:off x="502920" y="5870448"/>
            <a:ext cx="11183112" cy="420624"/>
          </a:xfrm>
          <a:prstGeom prst="rect">
            <a:avLst/>
          </a:prstGeom>
          <a:solidFill>
            <a:srgbClr val="FCEF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结论"/>
          <p:cNvSpPr txBox="1"/>
          <p:nvPr/>
        </p:nvSpPr>
        <p:spPr>
          <a:xfrm>
            <a:off x="685800" y="5870448"/>
            <a:ext cx="10817352" cy="42062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还没做：</a:t>
            </a:r>
            <a:r>
              <a:rPr sz="1500" b="0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来源类型与检验报告时间两列、mappings 与取值表、按就诊分批写（看真实峰值内存再定）。</a:t>
            </a:r>
          </a:p>
        </p:txBody>
      </p:sp>
      <p:sp>
        <p:nvSpPr>
          <p:cNvPr id="11" name="页脚"/>
          <p:cNvSpPr txBox="1"/>
          <p:nvPr/>
        </p:nvSpPr>
        <p:spPr>
          <a:xfrm>
            <a:off x="502920" y="6455664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老年流感转重研究 · 本周总结与周末计划</a:t>
            </a:r>
          </a:p>
        </p:txBody>
      </p:sp>
      <p:sp>
        <p:nvSpPr>
          <p:cNvPr id="12" name="页码"/>
          <p:cNvSpPr txBox="1"/>
          <p:nvPr/>
        </p:nvSpPr>
        <p:spPr>
          <a:xfrm>
            <a:off x="10680192" y="6455664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E3658E53-85A6-4372-857B-3811676FEBD9}" type="slidenum">
              <a:rPr lang="zh-CN" sz="1050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7</a:t>
            </a:fld>
          </a:p>
        </p:txBody>
      </p:sp>
      <p:sp>
        <p:nvSpPr>
          <p:cNvPr id="13" name="Pentagon 12"/>
          <p:cNvSpPr/>
          <p:nvPr/>
        </p:nvSpPr>
        <p:spPr>
          <a:xfrm>
            <a:off x="502920" y="1645920"/>
            <a:ext cx="1461897" cy="548640"/>
          </a:xfrm>
          <a:prstGeom prst="homePlate">
            <a:avLst>
              <a:gd name="adj" fmla="val 28000"/>
            </a:avLst>
          </a:prstGeom>
          <a:solidFill>
            <a:srgbClr val="1F4E94"/>
          </a:solidFill>
          <a:ln>
            <a:noFill/>
          </a:ln>
        </p:spPr>
        <p:txBody>
          <a:bodyPr rtlCol="0" anchor="ctr" wrap="square" lIns="73152" tIns="0" rIns="36576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原始导出</a:t>
            </a:r>
          </a:p>
        </p:txBody>
      </p:sp>
      <p:sp>
        <p:nvSpPr>
          <p:cNvPr id="14" name="Chevron 13"/>
          <p:cNvSpPr/>
          <p:nvPr/>
        </p:nvSpPr>
        <p:spPr>
          <a:xfrm>
            <a:off x="1891665" y="1645920"/>
            <a:ext cx="1461897" cy="548640"/>
          </a:xfrm>
          <a:prstGeom prst="chevron">
            <a:avLst>
              <a:gd name="adj" fmla="val 28000"/>
            </a:avLst>
          </a:prstGeom>
          <a:solidFill>
            <a:srgbClr val="00A4CB"/>
          </a:solidFill>
          <a:ln>
            <a:noFill/>
          </a:ln>
        </p:spPr>
        <p:txBody>
          <a:bodyPr rtlCol="0" anchor="ctr" wrap="square" lIns="73152" tIns="0" rIns="36576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读取器</a:t>
            </a:r>
          </a:p>
        </p:txBody>
      </p:sp>
      <p:sp>
        <p:nvSpPr>
          <p:cNvPr id="15" name="Chevron 14"/>
          <p:cNvSpPr/>
          <p:nvPr/>
        </p:nvSpPr>
        <p:spPr>
          <a:xfrm>
            <a:off x="3280410" y="1645920"/>
            <a:ext cx="1461897" cy="548640"/>
          </a:xfrm>
          <a:prstGeom prst="chevron">
            <a:avLst>
              <a:gd name="adj" fmla="val 28000"/>
            </a:avLst>
          </a:prstGeom>
          <a:solidFill>
            <a:srgbClr val="4075BE"/>
          </a:solidFill>
          <a:ln>
            <a:noFill/>
          </a:ln>
        </p:spPr>
        <p:txBody>
          <a:bodyPr rtlCol="0" anchor="ctr" wrap="square" lIns="73152" tIns="0" rIns="36576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病例库</a:t>
            </a:r>
          </a:p>
        </p:txBody>
      </p:sp>
      <p:sp>
        <p:nvSpPr>
          <p:cNvPr id="16" name="Chevron 15"/>
          <p:cNvSpPr/>
          <p:nvPr/>
        </p:nvSpPr>
        <p:spPr>
          <a:xfrm>
            <a:off x="4669155" y="1645920"/>
            <a:ext cx="1461897" cy="548640"/>
          </a:xfrm>
          <a:prstGeom prst="chevron">
            <a:avLst>
              <a:gd name="adj" fmla="val 28000"/>
            </a:avLst>
          </a:prstGeom>
          <a:solidFill>
            <a:srgbClr val="00A4CB"/>
          </a:solidFill>
          <a:ln>
            <a:noFill/>
          </a:ln>
        </p:spPr>
        <p:txBody>
          <a:bodyPr rtlCol="0" anchor="ctr" wrap="square" lIns="73152" tIns="0" rIns="36576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分级 v0.3</a:t>
            </a:r>
          </a:p>
        </p:txBody>
      </p:sp>
      <p:sp>
        <p:nvSpPr>
          <p:cNvPr id="17" name="Chevron 16"/>
          <p:cNvSpPr/>
          <p:nvPr/>
        </p:nvSpPr>
        <p:spPr>
          <a:xfrm>
            <a:off x="6057900" y="1645920"/>
            <a:ext cx="1461897" cy="548640"/>
          </a:xfrm>
          <a:prstGeom prst="chevron">
            <a:avLst>
              <a:gd name="adj" fmla="val 28000"/>
            </a:avLst>
          </a:prstGeom>
          <a:solidFill>
            <a:srgbClr val="1F4E94"/>
          </a:solidFill>
          <a:ln>
            <a:noFill/>
          </a:ln>
        </p:spPr>
        <p:txBody>
          <a:bodyPr rtlCol="0" anchor="ctr" wrap="square" lIns="73152" tIns="0" rIns="36576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复核</a:t>
            </a:r>
          </a:p>
        </p:txBody>
      </p:sp>
      <p:sp>
        <p:nvSpPr>
          <p:cNvPr id="18" name="Chevron 17"/>
          <p:cNvSpPr/>
          <p:nvPr/>
        </p:nvSpPr>
        <p:spPr>
          <a:xfrm>
            <a:off x="7446645" y="1645920"/>
            <a:ext cx="1461897" cy="548640"/>
          </a:xfrm>
          <a:prstGeom prst="chevron">
            <a:avLst>
              <a:gd name="adj" fmla="val 28000"/>
            </a:avLst>
          </a:prstGeom>
          <a:solidFill>
            <a:srgbClr val="4075BE"/>
          </a:solidFill>
          <a:ln>
            <a:noFill/>
          </a:ln>
        </p:spPr>
        <p:txBody>
          <a:bodyPr rtlCol="0" anchor="ctr" wrap="square" lIns="73152" tIns="0" rIns="36576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冻结快照</a:t>
            </a:r>
          </a:p>
        </p:txBody>
      </p:sp>
      <p:sp>
        <p:nvSpPr>
          <p:cNvPr id="19" name="Chevron 18"/>
          <p:cNvSpPr/>
          <p:nvPr/>
        </p:nvSpPr>
        <p:spPr>
          <a:xfrm>
            <a:off x="8835390" y="1645920"/>
            <a:ext cx="1461897" cy="548640"/>
          </a:xfrm>
          <a:prstGeom prst="chevron">
            <a:avLst>
              <a:gd name="adj" fmla="val 28000"/>
            </a:avLst>
          </a:prstGeom>
          <a:solidFill>
            <a:srgbClr val="00A4CB"/>
          </a:solidFill>
          <a:ln>
            <a:noFill/>
          </a:ln>
        </p:spPr>
        <p:txBody>
          <a:bodyPr rtlCol="0" anchor="ctr" wrap="square" lIns="73152" tIns="0" rIns="36576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std_v3</a:t>
            </a:r>
          </a:p>
        </p:txBody>
      </p:sp>
      <p:sp>
        <p:nvSpPr>
          <p:cNvPr id="20" name="Chevron 19"/>
          <p:cNvSpPr/>
          <p:nvPr/>
        </p:nvSpPr>
        <p:spPr>
          <a:xfrm>
            <a:off x="10224135" y="1645920"/>
            <a:ext cx="1461897" cy="548640"/>
          </a:xfrm>
          <a:prstGeom prst="chevron">
            <a:avLst>
              <a:gd name="adj" fmla="val 28000"/>
            </a:avLst>
          </a:prstGeom>
          <a:solidFill>
            <a:srgbClr val="00A4CB"/>
          </a:solidFill>
          <a:ln>
            <a:noFill/>
          </a:ln>
        </p:spPr>
        <p:txBody>
          <a:bodyPr rtlCol="0" anchor="ctr" wrap="square" lIns="73152" tIns="0" rIns="36576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研究者下载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231136"/>
            <a:ext cx="1118311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青色为本周新增或升级的环节：GD 原始导出读取器与统一文字规则、规则集 v0.3、std_v3 与“数据导出”页。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2542032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std_v3 导出包里有什么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502920" y="2871216"/>
          <a:ext cx="5486400" cy="270662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31720"/>
                <a:gridCol w="3154680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文件</a:t>
                      </a:r>
                    </a:p>
                  </a:txBody>
                  <a:tcPr marL="91440" marT="27432" marR="7315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4E9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一行是什么</a:t>
                      </a:r>
                    </a:p>
                  </a:txBody>
                  <a:tcPr marL="91440" marT="27432" marR="7315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4E94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 lang="zh-CN" altLang="en-US">
                          <a:solidFill>
                            <a:srgbClr val="11376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encounters</a:t>
                      </a:r>
                    </a:p>
                  </a:txBody>
                  <a:tcPr marL="91440" marT="27432" marR="7315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 lang="zh-CN" altLang="en-US">
                          <a:solidFill>
                            <a:srgbClr val="2731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一次就诊：中心、ICU 起止、流感季索引</a:t>
                      </a:r>
                    </a:p>
                  </a:txBody>
                  <a:tcPr marL="91440" marT="27432" marR="7315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 lang="zh-CN" altLang="en-US">
                          <a:solidFill>
                            <a:srgbClr val="11376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events</a:t>
                      </a:r>
                    </a:p>
                  </a:txBody>
                  <a:tcPr marL="91440" marT="27432" marR="7315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 lang="zh-CN" altLang="en-US">
                          <a:solidFill>
                            <a:srgbClr val="2731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一条记录：规则号、时间含义、吸氧状态</a:t>
                      </a:r>
                    </a:p>
                  </a:txBody>
                  <a:tcPr marL="91440" marT="27432" marR="7315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 lang="zh-CN" altLang="en-US">
                          <a:solidFill>
                            <a:srgbClr val="11376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vitals · labs · treatments</a:t>
                      </a:r>
                      <a:br>
                        <a:rPr lang="zh-CN" sz="1200">
                          <a:latin typeface="微软雅黑"/>
                          <a:ea typeface="微软雅黑"/>
                          <a:cs typeface="微软雅黑"/>
                        </a:rPr>
                      </a:br>
                      <a:r>
                        <a:rPr sz="1200" b="1" i="0" lang="zh-CN" altLang="en-US">
                          <a:solidFill>
                            <a:srgbClr val="11376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diagnoses · flu_tests</a:t>
                      </a:r>
                    </a:p>
                  </a:txBody>
                  <a:tcPr marL="91440" marT="27432" marR="7315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 lang="zh-CN" altLang="en-US">
                          <a:solidFill>
                            <a:srgbClr val="2731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按领域拆好的视图（默认导出）</a:t>
                      </a:r>
                    </a:p>
                  </a:txBody>
                  <a:tcPr marL="91440" marT="27432" marR="7315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 lang="zh-CN" altLang="en-US">
                          <a:solidFill>
                            <a:srgbClr val="11376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severity_timeline</a:t>
                      </a:r>
                      <a:br>
                        <a:rPr lang="zh-CN" sz="1200">
                          <a:latin typeface="微软雅黑"/>
                          <a:ea typeface="微软雅黑"/>
                          <a:cs typeface="微软雅黑"/>
                        </a:rPr>
                      </a:br>
                      <a:r>
                        <a:rPr sz="1200" b="1" i="0" lang="zh-CN" altLang="en-US">
                          <a:solidFill>
                            <a:srgbClr val="11376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outcomes</a:t>
                      </a:r>
                    </a:p>
                  </a:txBody>
                  <a:tcPr marL="91440" marT="27432" marR="7315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 lang="zh-CN" altLang="en-US">
                          <a:solidFill>
                            <a:srgbClr val="2731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分级时间线；各口径候选结局</a:t>
                      </a:r>
                    </a:p>
                  </a:txBody>
                  <a:tcPr marL="91440" marT="27432" marR="7315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 lang="zh-CN" altLang="en-US">
                          <a:solidFill>
                            <a:srgbClr val="11376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facts</a:t>
                      </a:r>
                    </a:p>
                  </a:txBody>
                  <a:tcPr marL="91440" marT="27432" marR="7315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 lang="zh-CN" altLang="en-US">
                          <a:solidFill>
                            <a:srgbClr val="2731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自动层与证据（可勾选，默认不导）</a:t>
                      </a:r>
                    </a:p>
                  </a:txBody>
                  <a:tcPr marL="91440" marT="27432" marR="7315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 lang="zh-CN" altLang="en-US">
                          <a:solidFill>
                            <a:srgbClr val="11376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alignment_report.json</a:t>
                      </a:r>
                    </a:p>
                  </a:txBody>
                  <a:tcPr marL="91440" marT="27432" marR="7315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 lang="zh-CN" altLang="en-US">
                          <a:solidFill>
                            <a:srgbClr val="2731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按中心的覆盖率、来源、精度、一致率</a:t>
                      </a:r>
                    </a:p>
                  </a:txBody>
                  <a:tcPr marL="91440" marT="27432" marR="7315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6217920" y="2542032"/>
            <a:ext cx="5468112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本周新写的五份文档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2871216"/>
            <a:ext cx="5468112" cy="5120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DDAE8"/>
            </a:solidFill>
          </a:ln>
          <a:effectLst>
            <a:outerShdw blurRad="63500" dist="19050" dir="5400000" algn="t" rotWithShape="0">
              <a:srgbClr val="1F3B66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327648" y="2962656"/>
            <a:ext cx="329184" cy="329184"/>
          </a:xfrm>
          <a:prstGeom prst="roundRect">
            <a:avLst>
              <a:gd name="adj" fmla="val 20000"/>
            </a:avLst>
          </a:prstGeom>
          <a:solidFill>
            <a:srgbClr val="1F4E94"/>
          </a:solidFill>
          <a:ln>
            <a:noFill/>
          </a:ln>
        </p:spPr>
        <p:txBody>
          <a:bodyPr rtlCol="0" anchor="ctr" wrap="square" lIns="36576" tIns="18288" rIns="36576" bIns="18288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84848" y="2898648"/>
            <a:ext cx="4782312" cy="2468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多中心统一格式与数据集建设：分析与建议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84848" y="3136392"/>
            <a:ext cx="4782312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“统一格式”其实是三件事：结构统一、语义统一、数据集治理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3438144"/>
            <a:ext cx="5468112" cy="5120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DDAE8"/>
            </a:solidFill>
          </a:ln>
          <a:effectLst>
            <a:outerShdw blurRad="63500" dist="19050" dir="5400000" algn="t" rotWithShape="0">
              <a:srgbClr val="1F3B66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327648" y="3529584"/>
            <a:ext cx="329184" cy="329184"/>
          </a:xfrm>
          <a:prstGeom prst="roundRect">
            <a:avLst>
              <a:gd name="adj" fmla="val 20000"/>
            </a:avLst>
          </a:prstGeom>
          <a:solidFill>
            <a:srgbClr val="1F4E94"/>
          </a:solidFill>
          <a:ln>
            <a:noFill/>
          </a:ln>
        </p:spPr>
        <p:txBody>
          <a:bodyPr rtlCol="0" anchor="ctr" wrap="square" lIns="36576" tIns="18288" rIns="36576" bIns="18288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84848" y="3465576"/>
            <a:ext cx="4782312" cy="2468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取数规范 v1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84848" y="3703320"/>
            <a:ext cx="4782312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两院表结构的参考；按研究者决定，不发给医院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4005072"/>
            <a:ext cx="5468112" cy="5120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DDAE8"/>
            </a:solidFill>
          </a:ln>
          <a:effectLst>
            <a:outerShdw blurRad="63500" dist="19050" dir="5400000" algn="t" rotWithShape="0">
              <a:srgbClr val="1F3B66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327648" y="4096512"/>
            <a:ext cx="329184" cy="329184"/>
          </a:xfrm>
          <a:prstGeom prst="roundRect">
            <a:avLst>
              <a:gd name="adj" fmla="val 20000"/>
            </a:avLst>
          </a:prstGeom>
          <a:solidFill>
            <a:srgbClr val="1F4E94"/>
          </a:solidFill>
          <a:ln>
            <a:noFill/>
          </a:ln>
        </p:spPr>
        <p:txBody>
          <a:bodyPr rtlCol="0" anchor="ctr" wrap="square" lIns="36576" tIns="18288" rIns="36576" bIns="18288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84848" y="4032504"/>
            <a:ext cx="4782312" cy="2468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统一数据规范 v1（草案）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84848" y="4270248"/>
            <a:ext cx="4782312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以后“共享版”（去标识）的发布层，兼容 MEDS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0" y="4572000"/>
            <a:ext cx="5468112" cy="5120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DDAE8"/>
            </a:solidFill>
          </a:ln>
          <a:effectLst>
            <a:outerShdw blurRad="63500" dist="19050" dir="5400000" algn="t" rotWithShape="0">
              <a:srgbClr val="1F3B66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327648" y="4663440"/>
            <a:ext cx="329184" cy="329184"/>
          </a:xfrm>
          <a:prstGeom prst="roundRect">
            <a:avLst>
              <a:gd name="adj" fmla="val 20000"/>
            </a:avLst>
          </a:prstGeom>
          <a:solidFill>
            <a:srgbClr val="1F4E94"/>
          </a:solidFill>
          <a:ln>
            <a:noFill/>
          </a:ln>
        </p:spPr>
        <p:txBody>
          <a:bodyPr rtlCol="0" anchor="ctr" wrap="square" lIns="36576" tIns="18288" rIns="36576" bIns="18288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84848" y="4599432"/>
            <a:ext cx="4782312" cy="2468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GD 与 GAM 对齐及统一导出方案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84848" y="4837176"/>
            <a:ext cx="4782312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D59–D73 的依据；§7 真实数据核对清单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17920" y="5138928"/>
            <a:ext cx="5468112" cy="5120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DDAE8"/>
            </a:solidFill>
          </a:ln>
          <a:effectLst>
            <a:outerShdw blurRad="63500" dist="19050" dir="5400000" algn="t" rotWithShape="0">
              <a:srgbClr val="1F3B66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327648" y="5230368"/>
            <a:ext cx="329184" cy="329184"/>
          </a:xfrm>
          <a:prstGeom prst="roundRect">
            <a:avLst>
              <a:gd name="adj" fmla="val 20000"/>
            </a:avLst>
          </a:prstGeom>
          <a:solidFill>
            <a:srgbClr val="00A4CB"/>
          </a:solidFill>
          <a:ln>
            <a:noFill/>
          </a:ln>
        </p:spPr>
        <p:txBody>
          <a:bodyPr rtlCol="0" anchor="ctr" wrap="square" lIns="36576" tIns="18288" rIns="36576" bIns="18288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84848" y="5166360"/>
            <a:ext cx="4782312" cy="2468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医学时序数据集的格式与划分（讲解页）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84848" y="5404104"/>
            <a:ext cx="4782312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MIMIC-IV、eICU、HiRID 等怎么定格式、给切分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顶部色条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E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标题栏"/>
          <p:cNvSpPr/>
          <p:nvPr/>
        </p:nvSpPr>
        <p:spPr>
          <a:xfrm>
            <a:off x="0" y="219456"/>
            <a:ext cx="9418320" cy="530352"/>
          </a:xfrm>
          <a:prstGeom prst="rect">
            <a:avLst/>
          </a:prstGeom>
          <a:solidFill>
            <a:srgbClr val="4075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章节标签"/>
          <p:cNvSpPr/>
          <p:nvPr/>
        </p:nvSpPr>
        <p:spPr>
          <a:xfrm>
            <a:off x="320040" y="301752"/>
            <a:ext cx="844296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36576" tIns="18288" rIns="36576" bIns="18288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zh-CN" altLang="en-US">
                <a:solidFill>
                  <a:srgbClr val="1F4E94"/>
                </a:solidFill>
                <a:latin typeface="微软雅黑"/>
                <a:ea typeface="微软雅黑"/>
                <a:cs typeface="微软雅黑"/>
              </a:rPr>
              <a:t>成果四</a:t>
            </a:r>
          </a:p>
        </p:txBody>
      </p:sp>
      <p:sp>
        <p:nvSpPr>
          <p:cNvPr id="5" name="标题"/>
          <p:cNvSpPr txBox="1"/>
          <p:nvPr/>
        </p:nvSpPr>
        <p:spPr>
          <a:xfrm>
            <a:off x="1310640" y="219456"/>
            <a:ext cx="797052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六模型观测删减敏感性实验（与合作同学分工）</a:t>
            </a:r>
          </a:p>
        </p:txBody>
      </p:sp>
      <p:sp>
        <p:nvSpPr>
          <p:cNvPr id="6" name="分隔线"/>
          <p:cNvSpPr/>
          <p:nvPr/>
        </p:nvSpPr>
        <p:spPr>
          <a:xfrm>
            <a:off x="457200" y="896112"/>
            <a:ext cx="11228832" cy="36576"/>
          </a:xfrm>
          <a:prstGeom prst="rect">
            <a:avLst/>
          </a:prstGeom>
          <a:solidFill>
            <a:srgbClr val="00A4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关键信息条"/>
          <p:cNvSpPr/>
          <p:nvPr/>
        </p:nvSpPr>
        <p:spPr>
          <a:xfrm>
            <a:off x="502920" y="1024128"/>
            <a:ext cx="11183112" cy="457200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关键信息"/>
          <p:cNvSpPr txBox="1"/>
          <p:nvPr/>
        </p:nvSpPr>
        <p:spPr>
          <a:xfrm>
            <a:off x="685800" y="1024128"/>
            <a:ext cx="10817352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随机删减观测时，五个模型的 AUPRC 都在下降，删得越多降得越多；群体指标不变时，个体预测也会翻转。</a:t>
            </a:r>
          </a:p>
        </p:txBody>
      </p:sp>
      <p:sp>
        <p:nvSpPr>
          <p:cNvPr id="9" name="结论框"/>
          <p:cNvSpPr/>
          <p:nvPr/>
        </p:nvSpPr>
        <p:spPr>
          <a:xfrm>
            <a:off x="502920" y="5870448"/>
            <a:ext cx="11183112" cy="420624"/>
          </a:xfrm>
          <a:prstGeom prst="rect">
            <a:avLst/>
          </a:prstGeom>
          <a:solidFill>
            <a:srgbClr val="FCEF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结论"/>
          <p:cNvSpPr txBox="1"/>
          <p:nvPr/>
        </p:nvSpPr>
        <p:spPr>
          <a:xfrm>
            <a:off x="685800" y="5870448"/>
            <a:ext cx="10817352" cy="42062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待定（B 档）：</a:t>
            </a:r>
            <a:r>
              <a:rPr sz="1500" b="0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类别加权口径怎么标；Raindrop seed 2028 要不要重跑；配对比较前是否先登记。</a:t>
            </a:r>
          </a:p>
        </p:txBody>
      </p:sp>
      <p:sp>
        <p:nvSpPr>
          <p:cNvPr id="11" name="页脚"/>
          <p:cNvSpPr txBox="1"/>
          <p:nvPr/>
        </p:nvSpPr>
        <p:spPr>
          <a:xfrm>
            <a:off x="502920" y="6455664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老年流感转重研究 · 本周总结与周末计划</a:t>
            </a:r>
          </a:p>
        </p:txBody>
      </p:sp>
      <p:sp>
        <p:nvSpPr>
          <p:cNvPr id="12" name="页码"/>
          <p:cNvSpPr txBox="1"/>
          <p:nvPr/>
        </p:nvSpPr>
        <p:spPr>
          <a:xfrm>
            <a:off x="10680192" y="6455664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01681261-DB85-4CB2-981B-2A770252498B}" type="slidenum">
              <a:rPr lang="zh-CN" sz="1050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8</a:t>
            </a:fld>
          </a:p>
        </p:txBody>
      </p:sp>
      <p:sp>
        <p:nvSpPr>
          <p:cNvPr id="13" name="Rectangle 12"/>
          <p:cNvSpPr/>
          <p:nvPr/>
        </p:nvSpPr>
        <p:spPr>
          <a:xfrm>
            <a:off x="502920" y="1664208"/>
            <a:ext cx="5760720" cy="4041648"/>
          </a:xfrm>
          <a:prstGeom prst="rect">
            <a:avLst/>
          </a:prstGeom>
          <a:solidFill>
            <a:srgbClr val="FFFFFF"/>
          </a:solidFill>
          <a:ln w="9525">
            <a:solidFill>
              <a:srgbClr val="CDDAE8"/>
            </a:solidFill>
          </a:ln>
          <a:effectLst>
            <a:outerShdw blurRad="63500" dist="19050" dir="5400000" algn="t" rotWithShape="0">
              <a:srgbClr val="1F3B66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1737360"/>
            <a:ext cx="5394959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ΔAUPRC（相对原始测试集，5 个 seed 均值）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066543"/>
            <a:ext cx="5394959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MC-MED · decomp_60 · 同一 checkpoint 打四套测试集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2432304"/>
            <a:ext cx="164592" cy="128016"/>
          </a:xfrm>
          <a:prstGeom prst="rect">
            <a:avLst/>
          </a:prstGeom>
          <a:solidFill>
            <a:srgbClr val="9DBBE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2359152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drop20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724406" y="2432304"/>
            <a:ext cx="164592" cy="128016"/>
          </a:xfrm>
          <a:prstGeom prst="rect">
            <a:avLst/>
          </a:prstGeom>
          <a:solidFill>
            <a:srgbClr val="1F4E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934718" y="2359152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drop40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63012" y="2432304"/>
            <a:ext cx="164592" cy="128016"/>
          </a:xfrm>
          <a:prstGeom prst="rect">
            <a:avLst/>
          </a:prstGeom>
          <a:solidFill>
            <a:srgbClr val="00A4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73324" y="2359152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continuous5min</a:t>
            </a:r>
          </a:p>
        </p:txBody>
      </p:sp>
      <p:graphicFrame>
        <p:nvGraphicFramePr>
          <p:cNvPr id="22" name="六模型 ΔAUPRC 柱状图"/>
          <p:cNvGraphicFramePr>
            <a:graphicFrameLocks noGrp="1"/>
          </p:cNvGraphicFramePr>
          <p:nvPr/>
        </p:nvGraphicFramePr>
        <p:xfrm>
          <a:off x="594360" y="2651760"/>
          <a:ext cx="5577840" cy="25603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685800" y="5248656"/>
            <a:ext cx="5394959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本人负责 BRITS、mTAND、Raindrop；合作同学负责 FF-LSTM、GRU-D，OPL-MT-MNAR 结果待出。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6492240" y="1664208"/>
          <a:ext cx="5193792" cy="20116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280160"/>
                <a:gridCol w="1188720"/>
                <a:gridCol w="1188720"/>
                <a:gridCol w="1536192"/>
              </a:tblGrid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模型</a:t>
                      </a:r>
                    </a:p>
                  </a:txBody>
                  <a:tcPr marL="91440" marT="27432" marR="7315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4E9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原始 AUPRC</a:t>
                      </a:r>
                    </a:p>
                  </a:txBody>
                  <a:tcPr marL="91440" marT="27432" marR="7315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4E9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原始 AUROC</a:t>
                      </a:r>
                    </a:p>
                  </a:txBody>
                  <a:tcPr marL="91440" marT="27432" marR="7315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4E9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drop40 翻转率</a:t>
                      </a:r>
                    </a:p>
                  </a:txBody>
                  <a:tcPr marL="91440" marT="27432" marR="7315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4E94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 lang="zh-CN" altLang="en-US">
                          <a:solidFill>
                            <a:srgbClr val="11376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FF-LSTM</a:t>
                      </a:r>
                    </a:p>
                  </a:txBody>
                  <a:tcPr marL="91440" marT="27432" marR="7315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 lang="zh-CN" altLang="en-US">
                          <a:solidFill>
                            <a:srgbClr val="2731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0.275</a:t>
                      </a:r>
                    </a:p>
                  </a:txBody>
                  <a:tcPr marL="91440" marT="27432" marR="7315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 lang="zh-CN" altLang="en-US">
                          <a:solidFill>
                            <a:srgbClr val="2731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0.711</a:t>
                      </a:r>
                    </a:p>
                  </a:txBody>
                  <a:tcPr marL="91440" marT="27432" marR="7315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 lang="zh-CN" altLang="en-US">
                          <a:solidFill>
                            <a:srgbClr val="2731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6.4%</a:t>
                      </a:r>
                    </a:p>
                  </a:txBody>
                  <a:tcPr marL="91440" marT="27432" marR="7315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 lang="zh-CN" altLang="en-US">
                          <a:solidFill>
                            <a:srgbClr val="11376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GRU-D</a:t>
                      </a:r>
                    </a:p>
                  </a:txBody>
                  <a:tcPr marL="91440" marT="27432" marR="7315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 lang="zh-CN" altLang="en-US">
                          <a:solidFill>
                            <a:srgbClr val="2731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0.298</a:t>
                      </a:r>
                    </a:p>
                  </a:txBody>
                  <a:tcPr marL="91440" marT="27432" marR="7315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 lang="zh-CN" altLang="en-US">
                          <a:solidFill>
                            <a:srgbClr val="2731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0.728</a:t>
                      </a:r>
                    </a:p>
                  </a:txBody>
                  <a:tcPr marL="91440" marT="27432" marR="7315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 lang="zh-CN" altLang="en-US">
                          <a:solidFill>
                            <a:srgbClr val="2731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7.3%</a:t>
                      </a:r>
                    </a:p>
                  </a:txBody>
                  <a:tcPr marL="91440" marT="27432" marR="7315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 lang="zh-CN" altLang="en-US">
                          <a:solidFill>
                            <a:srgbClr val="1F4E9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BRITS</a:t>
                      </a:r>
                    </a:p>
                  </a:txBody>
                  <a:tcPr marL="91440" marT="27432" marR="7315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 lang="zh-CN" altLang="en-US">
                          <a:solidFill>
                            <a:srgbClr val="2731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0.314</a:t>
                      </a:r>
                    </a:p>
                  </a:txBody>
                  <a:tcPr marL="91440" marT="27432" marR="7315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 lang="zh-CN" altLang="en-US">
                          <a:solidFill>
                            <a:srgbClr val="2731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0.734</a:t>
                      </a:r>
                    </a:p>
                  </a:txBody>
                  <a:tcPr marL="91440" marT="27432" marR="7315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 lang="zh-CN" altLang="en-US">
                          <a:solidFill>
                            <a:srgbClr val="2731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9.2%</a:t>
                      </a:r>
                    </a:p>
                  </a:txBody>
                  <a:tcPr marL="91440" marT="27432" marR="7315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 lang="zh-CN" altLang="en-US">
                          <a:solidFill>
                            <a:srgbClr val="1F4E9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mTAND</a:t>
                      </a:r>
                    </a:p>
                  </a:txBody>
                  <a:tcPr marL="91440" marT="27432" marR="7315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 lang="zh-CN" altLang="en-US">
                          <a:solidFill>
                            <a:srgbClr val="2731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0.273</a:t>
                      </a:r>
                    </a:p>
                  </a:txBody>
                  <a:tcPr marL="91440" marT="27432" marR="7315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 lang="zh-CN" altLang="en-US">
                          <a:solidFill>
                            <a:srgbClr val="2731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0.692</a:t>
                      </a:r>
                    </a:p>
                  </a:txBody>
                  <a:tcPr marL="91440" marT="27432" marR="7315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 lang="zh-CN" altLang="en-US">
                          <a:solidFill>
                            <a:srgbClr val="2731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6.2%</a:t>
                      </a:r>
                    </a:p>
                  </a:txBody>
                  <a:tcPr marL="91440" marT="27432" marR="7315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 lang="zh-CN" altLang="en-US">
                          <a:solidFill>
                            <a:srgbClr val="1F4E9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Raindrop</a:t>
                      </a:r>
                    </a:p>
                  </a:txBody>
                  <a:tcPr marL="91440" marT="27432" marR="7315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 lang="zh-CN" altLang="en-US">
                          <a:solidFill>
                            <a:srgbClr val="2731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0.269</a:t>
                      </a:r>
                    </a:p>
                  </a:txBody>
                  <a:tcPr marL="91440" marT="27432" marR="7315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 lang="zh-CN" altLang="en-US">
                          <a:solidFill>
                            <a:srgbClr val="2731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0.705</a:t>
                      </a:r>
                    </a:p>
                  </a:txBody>
                  <a:tcPr marL="91440" marT="27432" marR="7315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 lang="zh-CN" altLang="en-US">
                          <a:solidFill>
                            <a:srgbClr val="2731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9.7%</a:t>
                      </a:r>
                    </a:p>
                  </a:txBody>
                  <a:tcPr marL="91440" marT="27432" marR="7315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Rectangle 24"/>
          <p:cNvSpPr/>
          <p:nvPr/>
        </p:nvSpPr>
        <p:spPr>
          <a:xfrm>
            <a:off x="6492240" y="3968496"/>
            <a:ext cx="5193792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CDDAE8"/>
            </a:solidFill>
          </a:ln>
          <a:effectLst>
            <a:outerShdw blurRad="63500" dist="19050" dir="5400000" algn="t" rotWithShape="0">
              <a:srgbClr val="1F3B66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92240" y="3968496"/>
            <a:ext cx="5193792" cy="3840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29400" y="3968496"/>
            <a:ext cx="4919472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读结果要注意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38544" y="4425696"/>
            <a:ext cx="4901184" cy="12435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82880" indent="-182880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buClr>
                <a:srgbClr val="B7791F"/>
              </a:buClr>
              <a:buFont typeface="Arial"/>
              <a:buChar char="•"/>
            </a:pPr>
            <a:r>
              <a:rPr sz="120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加权 BCE（pos_weight ≈ 7.08）把概率整体推高，Brier、ECE 不能直接解读</a:t>
            </a:r>
          </a:p>
          <a:p>
            <a:pPr algn="l" marL="182880" indent="-182880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buClr>
                <a:srgbClr val="B7791F"/>
              </a:buClr>
              <a:buFont typeface="Arial"/>
              <a:buChar char="•"/>
            </a:pPr>
            <a:r>
              <a:rPr sz="120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训练 seed 带来的波动大于单个 run 的 bootstrap CI</a:t>
            </a:r>
          </a:p>
          <a:p>
            <a:pPr algn="l" marL="182880" indent="-182880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buClr>
                <a:srgbClr val="B7791F"/>
              </a:buClr>
              <a:buFont typeface="Arial"/>
              <a:buChar char="•"/>
            </a:pPr>
            <a:r>
              <a:rPr sz="120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BRITS 是离线双向模型，不能说成在线预测；只说关联、不说因果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顶部色条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E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标题栏"/>
          <p:cNvSpPr/>
          <p:nvPr/>
        </p:nvSpPr>
        <p:spPr>
          <a:xfrm>
            <a:off x="0" y="219456"/>
            <a:ext cx="9418320" cy="530352"/>
          </a:xfrm>
          <a:prstGeom prst="rect">
            <a:avLst/>
          </a:prstGeom>
          <a:solidFill>
            <a:srgbClr val="4075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章节标签"/>
          <p:cNvSpPr/>
          <p:nvPr/>
        </p:nvSpPr>
        <p:spPr>
          <a:xfrm>
            <a:off x="320040" y="301752"/>
            <a:ext cx="666496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36576" tIns="18288" rIns="36576" bIns="18288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zh-CN" altLang="en-US">
                <a:solidFill>
                  <a:srgbClr val="1F4E94"/>
                </a:solidFill>
                <a:latin typeface="微软雅黑"/>
                <a:ea typeface="微软雅黑"/>
                <a:cs typeface="微软雅黑"/>
              </a:rPr>
              <a:t>数据</a:t>
            </a:r>
          </a:p>
        </p:txBody>
      </p:sp>
      <p:sp>
        <p:nvSpPr>
          <p:cNvPr id="5" name="标题"/>
          <p:cNvSpPr txBox="1"/>
          <p:nvPr/>
        </p:nvSpPr>
        <p:spPr>
          <a:xfrm>
            <a:off x="1132839" y="219456"/>
            <a:ext cx="814832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本周的数字：测试、部署、决策</a:t>
            </a:r>
          </a:p>
        </p:txBody>
      </p:sp>
      <p:sp>
        <p:nvSpPr>
          <p:cNvPr id="6" name="分隔线"/>
          <p:cNvSpPr/>
          <p:nvPr/>
        </p:nvSpPr>
        <p:spPr>
          <a:xfrm>
            <a:off x="457200" y="896112"/>
            <a:ext cx="11228832" cy="36576"/>
          </a:xfrm>
          <a:prstGeom prst="rect">
            <a:avLst/>
          </a:prstGeom>
          <a:solidFill>
            <a:srgbClr val="00A4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关键信息条"/>
          <p:cNvSpPr/>
          <p:nvPr/>
        </p:nvSpPr>
        <p:spPr>
          <a:xfrm>
            <a:off x="502920" y="1024128"/>
            <a:ext cx="11183112" cy="457200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关键信息"/>
          <p:cNvSpPr txBox="1"/>
          <p:nvPr/>
        </p:nvSpPr>
        <p:spPr>
          <a:xfrm>
            <a:off x="685800" y="1024128"/>
            <a:ext cx="10817352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工程上是稳的：后端测试从 124 个增加到 204 个，服务器上 206 个全部通过。</a:t>
            </a:r>
          </a:p>
        </p:txBody>
      </p:sp>
      <p:sp>
        <p:nvSpPr>
          <p:cNvPr id="9" name="结论框"/>
          <p:cNvSpPr/>
          <p:nvPr/>
        </p:nvSpPr>
        <p:spPr>
          <a:xfrm>
            <a:off x="502920" y="5870448"/>
            <a:ext cx="11183112" cy="420624"/>
          </a:xfrm>
          <a:prstGeom prst="rect">
            <a:avLst/>
          </a:prstGeom>
          <a:solidFill>
            <a:srgbClr val="FCEF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结论"/>
          <p:cNvSpPr txBox="1"/>
          <p:nvPr/>
        </p:nvSpPr>
        <p:spPr>
          <a:xfrm>
            <a:off x="685800" y="5870448"/>
            <a:ext cx="10817352" cy="42062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工程纪律：</a:t>
            </a:r>
            <a:r>
              <a:rPr sz="1500" b="0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每次合并前在虚构数据上跑全部测试；部署后在服务器上再跑一遍，并做正式模式自检。</a:t>
            </a:r>
          </a:p>
        </p:txBody>
      </p:sp>
      <p:sp>
        <p:nvSpPr>
          <p:cNvPr id="11" name="页脚"/>
          <p:cNvSpPr txBox="1"/>
          <p:nvPr/>
        </p:nvSpPr>
        <p:spPr>
          <a:xfrm>
            <a:off x="502920" y="6455664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老年流感转重研究 · 本周总结与周末计划</a:t>
            </a:r>
          </a:p>
        </p:txBody>
      </p:sp>
      <p:sp>
        <p:nvSpPr>
          <p:cNvPr id="12" name="页码"/>
          <p:cNvSpPr txBox="1"/>
          <p:nvPr/>
        </p:nvSpPr>
        <p:spPr>
          <a:xfrm>
            <a:off x="10680192" y="6455664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A932200C-4531-4FF7-81A8-117E692BED5A}" type="slidenum">
              <a:rPr lang="zh-CN" sz="1050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9</a:t>
            </a:fld>
          </a:p>
        </p:txBody>
      </p:sp>
      <p:sp>
        <p:nvSpPr>
          <p:cNvPr id="13" name="Rectangle 12"/>
          <p:cNvSpPr/>
          <p:nvPr/>
        </p:nvSpPr>
        <p:spPr>
          <a:xfrm>
            <a:off x="502920" y="1664208"/>
            <a:ext cx="5486400" cy="2670048"/>
          </a:xfrm>
          <a:prstGeom prst="rect">
            <a:avLst/>
          </a:prstGeom>
          <a:solidFill>
            <a:srgbClr val="FFFFFF"/>
          </a:solidFill>
          <a:ln w="9525">
            <a:solidFill>
              <a:srgbClr val="CDDAE8"/>
            </a:solidFill>
          </a:ln>
          <a:effectLst>
            <a:outerShdw blurRad="63500" dist="19050" dir="5400000" algn="t" rotWithShape="0">
              <a:srgbClr val="1F3B66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1737360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后端测试数（虚构数据，全部通过）</a:t>
            </a:r>
          </a:p>
        </p:txBody>
      </p:sp>
      <p:graphicFrame>
        <p:nvGraphicFramePr>
          <p:cNvPr id="15" name="测试数折线图"/>
          <p:cNvGraphicFramePr>
            <a:graphicFrameLocks noGrp="1"/>
          </p:cNvGraphicFramePr>
          <p:nvPr/>
        </p:nvGraphicFramePr>
        <p:xfrm>
          <a:off x="594360" y="2103120"/>
          <a:ext cx="5303520" cy="217627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6" name="Rectangle 15"/>
          <p:cNvSpPr/>
          <p:nvPr/>
        </p:nvSpPr>
        <p:spPr>
          <a:xfrm>
            <a:off x="502920" y="4462272"/>
            <a:ext cx="2660904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CDDAE8"/>
            </a:solidFill>
          </a:ln>
          <a:effectLst>
            <a:outerShdw blurRad="63500" dist="19050" dir="5400000" algn="t" rotWithShape="0">
              <a:srgbClr val="1F3B66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" y="4462272"/>
            <a:ext cx="822960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zh-CN" altLang="en-US">
                <a:solidFill>
                  <a:srgbClr val="1F4E94"/>
                </a:solidFill>
                <a:latin typeface="微软雅黑"/>
                <a:ea typeface="微软雅黑"/>
                <a:cs typeface="微软雅黑"/>
              </a:rPr>
              <a:t>4 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35608" y="4462272"/>
            <a:ext cx="1655064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部署到专用服务器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10-17、20、21、23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28416" y="4462272"/>
            <a:ext cx="2660904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CDDAE8"/>
            </a:solidFill>
          </a:ln>
          <a:effectLst>
            <a:outerShdw blurRad="63500" dist="19050" dir="5400000" algn="t" rotWithShape="0">
              <a:srgbClr val="1F3B66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4462272"/>
            <a:ext cx="822960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zh-CN" altLang="en-US">
                <a:solidFill>
                  <a:srgbClr val="1F4E94"/>
                </a:solidFill>
                <a:latin typeface="微软雅黑"/>
                <a:ea typeface="微软雅黑"/>
                <a:cs typeface="微软雅黑"/>
              </a:rPr>
              <a:t>24 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61104" y="4462272"/>
            <a:ext cx="1655064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研究者决策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D50–D73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175504"/>
            <a:ext cx="2660904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CDDAE8"/>
            </a:solidFill>
          </a:ln>
          <a:effectLst>
            <a:outerShdw blurRad="63500" dist="19050" dir="5400000" algn="t" rotWithShape="0">
              <a:srgbClr val="1F3B66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" y="5175504"/>
            <a:ext cx="822960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zh-CN" altLang="en-US">
                <a:solidFill>
                  <a:srgbClr val="1F4E94"/>
                </a:solidFill>
                <a:latin typeface="微软雅黑"/>
                <a:ea typeface="微软雅黑"/>
                <a:cs typeface="微软雅黑"/>
              </a:rPr>
              <a:t>5 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35608" y="5175504"/>
            <a:ext cx="1655064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新文档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10-22 四份，10-23 一份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28416" y="5175504"/>
            <a:ext cx="2660904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CDDAE8"/>
            </a:solidFill>
          </a:ln>
          <a:effectLst>
            <a:outerShdw blurRad="63500" dist="19050" dir="5400000" algn="t" rotWithShape="0">
              <a:srgbClr val="1F3B66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56432" y="5175504"/>
            <a:ext cx="822960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zh-CN" altLang="en-US">
                <a:solidFill>
                  <a:srgbClr val="1F4E94"/>
                </a:solidFill>
                <a:latin typeface="微软雅黑"/>
                <a:ea typeface="微软雅黑"/>
                <a:cs typeface="微软雅黑"/>
              </a:rPr>
              <a:t>2 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61104" y="5175504"/>
            <a:ext cx="1655064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新规则集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v0.2、v0.3（v0.1 保留）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81344" y="1627632"/>
            <a:ext cx="5541264" cy="3490722"/>
          </a:xfrm>
          <a:prstGeom prst="rect">
            <a:avLst/>
          </a:prstGeom>
          <a:solidFill>
            <a:srgbClr val="FFFFFF"/>
          </a:solidFill>
          <a:ln w="9525">
            <a:solidFill>
              <a:srgbClr val="CDDAE8"/>
            </a:solidFill>
          </a:ln>
          <a:effectLst>
            <a:outerShdw blurRad="63500" dist="19050" dir="5400000" algn="t" rotWithShape="0">
              <a:srgbClr val="1F3B66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pic>
        <p:nvPicPr>
          <p:cNvPr id="29" name="flucase 截图（虚构演示数据）" descr="flucase_病例时间线_虚构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664208"/>
            <a:ext cx="5468112" cy="341757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217920" y="5191506"/>
            <a:ext cx="5468112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flucase · 候选分级 · 病例时间线：</a:t>
            </a:r>
            <a:r>
              <a:rPr sz="115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体温曲线、发病 48 小时底色、O3 的 7 / 14 天观察窗。虚构演示数据，10-16 版界面。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顶部色条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E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标题栏"/>
          <p:cNvSpPr/>
          <p:nvPr/>
        </p:nvSpPr>
        <p:spPr>
          <a:xfrm>
            <a:off x="0" y="219456"/>
            <a:ext cx="9418320" cy="530352"/>
          </a:xfrm>
          <a:prstGeom prst="rect">
            <a:avLst/>
          </a:prstGeom>
          <a:solidFill>
            <a:srgbClr val="4075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章节标签"/>
          <p:cNvSpPr/>
          <p:nvPr/>
        </p:nvSpPr>
        <p:spPr>
          <a:xfrm>
            <a:off x="320040" y="301752"/>
            <a:ext cx="666496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36576" tIns="18288" rIns="36576" bIns="18288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zh-CN" altLang="en-US">
                <a:solidFill>
                  <a:srgbClr val="1F4E94"/>
                </a:solidFill>
                <a:latin typeface="微软雅黑"/>
                <a:ea typeface="微软雅黑"/>
                <a:cs typeface="微软雅黑"/>
              </a:rPr>
              <a:t>现状</a:t>
            </a:r>
          </a:p>
        </p:txBody>
      </p:sp>
      <p:sp>
        <p:nvSpPr>
          <p:cNvPr id="5" name="标题"/>
          <p:cNvSpPr txBox="1"/>
          <p:nvPr/>
        </p:nvSpPr>
        <p:spPr>
          <a:xfrm>
            <a:off x="1132839" y="219456"/>
            <a:ext cx="814832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现状：结构已同构，卡在真实数据验证</a:t>
            </a:r>
          </a:p>
        </p:txBody>
      </p:sp>
      <p:sp>
        <p:nvSpPr>
          <p:cNvPr id="6" name="分隔线"/>
          <p:cNvSpPr/>
          <p:nvPr/>
        </p:nvSpPr>
        <p:spPr>
          <a:xfrm>
            <a:off x="457200" y="896112"/>
            <a:ext cx="11228832" cy="36576"/>
          </a:xfrm>
          <a:prstGeom prst="rect">
            <a:avLst/>
          </a:prstGeom>
          <a:solidFill>
            <a:srgbClr val="00A4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关键信息条"/>
          <p:cNvSpPr/>
          <p:nvPr/>
        </p:nvSpPr>
        <p:spPr>
          <a:xfrm>
            <a:off x="502920" y="1024128"/>
            <a:ext cx="11183112" cy="457200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关键信息"/>
          <p:cNvSpPr txBox="1"/>
          <p:nvPr/>
        </p:nvSpPr>
        <p:spPr>
          <a:xfrm>
            <a:off x="685800" y="1024128"/>
            <a:ext cx="10817352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系统已经跑在数据前面：本周所有新功能都只在虚构数据上验证过。</a:t>
            </a:r>
          </a:p>
        </p:txBody>
      </p:sp>
      <p:sp>
        <p:nvSpPr>
          <p:cNvPr id="9" name="结论框"/>
          <p:cNvSpPr/>
          <p:nvPr/>
        </p:nvSpPr>
        <p:spPr>
          <a:xfrm>
            <a:off x="502920" y="5870448"/>
            <a:ext cx="11183112" cy="420624"/>
          </a:xfrm>
          <a:prstGeom prst="rect">
            <a:avLst/>
          </a:prstGeom>
          <a:solidFill>
            <a:srgbClr val="FCEF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结论"/>
          <p:cNvSpPr txBox="1"/>
          <p:nvPr/>
        </p:nvSpPr>
        <p:spPr>
          <a:xfrm>
            <a:off x="685800" y="5870448"/>
            <a:ext cx="10817352" cy="42062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所以：</a:t>
            </a:r>
            <a:r>
              <a:rPr sz="1500" b="0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周末不加功能，先把真实数据跑一遍、把计数交回来——这一步只有你能做（Claude 不读真实病例）。</a:t>
            </a:r>
          </a:p>
        </p:txBody>
      </p:sp>
      <p:sp>
        <p:nvSpPr>
          <p:cNvPr id="11" name="页脚"/>
          <p:cNvSpPr txBox="1"/>
          <p:nvPr/>
        </p:nvSpPr>
        <p:spPr>
          <a:xfrm>
            <a:off x="502920" y="6455664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老年流感转重研究 · 本周总结与周末计划</a:t>
            </a:r>
          </a:p>
        </p:txBody>
      </p:sp>
      <p:sp>
        <p:nvSpPr>
          <p:cNvPr id="12" name="页码"/>
          <p:cNvSpPr txBox="1"/>
          <p:nvPr/>
        </p:nvSpPr>
        <p:spPr>
          <a:xfrm>
            <a:off x="10680192" y="6455664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DF4C4FFC-B62E-4DA7-8416-2BC4AF6BD589}" type="slidenum">
              <a:rPr lang="zh-CN" sz="1050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10</a:t>
            </a:fld>
          </a:p>
        </p:txBody>
      </p:sp>
      <p:sp>
        <p:nvSpPr>
          <p:cNvPr id="13" name="Rectangle 12"/>
          <p:cNvSpPr/>
          <p:nvPr/>
        </p:nvSpPr>
        <p:spPr>
          <a:xfrm>
            <a:off x="502920" y="1664208"/>
            <a:ext cx="2658618" cy="2724912"/>
          </a:xfrm>
          <a:prstGeom prst="rect">
            <a:avLst/>
          </a:prstGeom>
          <a:solidFill>
            <a:srgbClr val="FFFFFF"/>
          </a:solidFill>
          <a:ln w="9525">
            <a:solidFill>
              <a:srgbClr val="CDDAE8"/>
            </a:solidFill>
          </a:ln>
          <a:effectLst>
            <a:outerShdw blurRad="63500" dist="19050" dir="5400000" algn="t" rotWithShape="0">
              <a:srgbClr val="1F3B66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1664208"/>
            <a:ext cx="2658618" cy="457200"/>
          </a:xfrm>
          <a:prstGeom prst="rect">
            <a:avLst/>
          </a:prstGeom>
          <a:solidFill>
            <a:srgbClr val="1F4E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1664208"/>
            <a:ext cx="2384298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已完成（虚构数据上）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" y="2231136"/>
            <a:ext cx="2366010" cy="2103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82880" indent="-182880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Clr>
                <a:srgbClr val="1F4E94"/>
              </a:buClr>
              <a:buFont typeface="Arial"/>
              <a:buChar char="•"/>
            </a:pPr>
            <a:r>
              <a:rPr sz="125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GD 原始导出读取</a:t>
            </a:r>
          </a:p>
          <a:p>
            <a:pPr algn="l" marL="182880" indent="-182880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Clr>
                <a:srgbClr val="1F4E94"/>
              </a:buClr>
              <a:buFont typeface="Arial"/>
              <a:buChar char="•"/>
            </a:pPr>
            <a:r>
              <a:rPr sz="125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两院共用文字规则</a:t>
            </a:r>
          </a:p>
          <a:p>
            <a:pPr algn="l" marL="182880" indent="-182880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Clr>
                <a:srgbClr val="1F4E94"/>
              </a:buClr>
              <a:buFont typeface="Arial"/>
              <a:buChar char="•"/>
            </a:pPr>
            <a:r>
              <a:rPr sz="125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ICU 科室、诊断名称规则</a:t>
            </a:r>
          </a:p>
          <a:p>
            <a:pPr algn="l" marL="182880" indent="-182880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Clr>
                <a:srgbClr val="1F4E94"/>
              </a:buClr>
              <a:buFont typeface="Arial"/>
              <a:buChar char="•"/>
            </a:pPr>
            <a:r>
              <a:rPr sz="125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规则集 v0.2、v0.3</a:t>
            </a:r>
          </a:p>
          <a:p>
            <a:pPr algn="l" marL="182880" indent="-182880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Clr>
                <a:srgbClr val="1F4E94"/>
              </a:buClr>
              <a:buFont typeface="Arial"/>
              <a:buChar char="•"/>
            </a:pPr>
            <a:r>
              <a:rPr sz="125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std_v3 与导出页</a:t>
            </a:r>
          </a:p>
          <a:p>
            <a:pPr algn="l" marL="182880" indent="-182880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Clr>
                <a:srgbClr val="1F4E94"/>
              </a:buClr>
              <a:buFont typeface="Arial"/>
              <a:buChar char="•"/>
            </a:pPr>
            <a:r>
              <a:rPr sz="125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服务器 206 个测试通过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44418" y="1664208"/>
            <a:ext cx="2658618" cy="2724912"/>
          </a:xfrm>
          <a:prstGeom prst="rect">
            <a:avLst/>
          </a:prstGeom>
          <a:solidFill>
            <a:srgbClr val="FFFFFF"/>
          </a:solidFill>
          <a:ln w="9525">
            <a:solidFill>
              <a:srgbClr val="CDDAE8"/>
            </a:solidFill>
          </a:ln>
          <a:effectLst>
            <a:outerShdw blurRad="63500" dist="19050" dir="5400000" algn="t" rotWithShape="0">
              <a:srgbClr val="1F3B66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44418" y="1664208"/>
            <a:ext cx="2658618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81578" y="1664208"/>
            <a:ext cx="2384298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只有你能做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90722" y="2231136"/>
            <a:ext cx="2366010" cy="2103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82880" indent="-182880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Clr>
                <a:srgbClr val="C0392B"/>
              </a:buClr>
              <a:buFont typeface="Arial"/>
              <a:buChar char="•"/>
            </a:pPr>
            <a:r>
              <a:rPr sz="125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重新导入三类原始导出</a:t>
            </a:r>
          </a:p>
          <a:p>
            <a:pPr algn="l" marL="182880" indent="-182880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Clr>
                <a:srgbClr val="C0392B"/>
              </a:buClr>
              <a:buFont typeface="Arial"/>
              <a:buChar char="•"/>
            </a:pPr>
            <a:r>
              <a:rPr sz="125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版本对比，切到 v0.3 重算</a:t>
            </a:r>
          </a:p>
          <a:p>
            <a:pPr algn="l" marL="182880" indent="-182880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Clr>
                <a:srgbClr val="C0392B"/>
              </a:buClr>
              <a:buFont typeface="Arial"/>
              <a:buChar char="•"/>
            </a:pPr>
            <a:r>
              <a:rPr sz="125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前后各导一次 std_v3</a:t>
            </a:r>
          </a:p>
          <a:p>
            <a:pPr algn="l" marL="182880" indent="-182880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Clr>
                <a:srgbClr val="C0392B"/>
              </a:buClr>
              <a:buFont typeface="Arial"/>
              <a:buChar char="•"/>
            </a:pPr>
            <a:r>
              <a:rPr sz="125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§7 第 2、4、8、11–14 项</a:t>
            </a:r>
          </a:p>
          <a:p>
            <a:pPr algn="l" marL="182880" indent="-182880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Clr>
                <a:srgbClr val="C0392B"/>
              </a:buClr>
              <a:buFont typeface="Arial"/>
              <a:buChar char="•"/>
            </a:pPr>
            <a:r>
              <a:rPr sz="125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约医生做可用性测试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85916" y="1664208"/>
            <a:ext cx="2658618" cy="2724912"/>
          </a:xfrm>
          <a:prstGeom prst="rect">
            <a:avLst/>
          </a:prstGeom>
          <a:solidFill>
            <a:srgbClr val="FFFFFF"/>
          </a:solidFill>
          <a:ln w="9525">
            <a:solidFill>
              <a:srgbClr val="CDDAE8"/>
            </a:solidFill>
          </a:ln>
          <a:effectLst>
            <a:outerShdw blurRad="63500" dist="19050" dir="5400000" algn="t" rotWithShape="0">
              <a:srgbClr val="1F3B66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5916" y="1664208"/>
            <a:ext cx="2658618" cy="457200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23076" y="1664208"/>
            <a:ext cx="2384298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等你决定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32220" y="2231136"/>
            <a:ext cx="2366010" cy="2103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82880" indent="-182880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Clr>
                <a:srgbClr val="B7791F"/>
              </a:buClr>
              <a:buFont typeface="Arial"/>
              <a:buChar char="•"/>
            </a:pPr>
            <a:r>
              <a:rPr sz="125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§8 第 11 项：再住院的事件进不进标签（A 档）</a:t>
            </a:r>
          </a:p>
          <a:p>
            <a:pPr algn="l" marL="182880" indent="-182880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Clr>
                <a:srgbClr val="B7791F"/>
              </a:buClr>
              <a:buFont typeface="Arial"/>
              <a:buChar char="•"/>
            </a:pPr>
            <a:r>
              <a:rPr sz="125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§8 第 14 项：阶段 1 其余项开不开工</a:t>
            </a:r>
          </a:p>
          <a:p>
            <a:pPr algn="l" marL="182880" indent="-182880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Clr>
                <a:srgbClr val="B7791F"/>
              </a:buClr>
              <a:buFont typeface="Arial"/>
              <a:buChar char="•"/>
            </a:pPr>
            <a:r>
              <a:rPr sz="125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六模型三项 B 档（和合作同学）</a:t>
            </a:r>
          </a:p>
          <a:p>
            <a:pPr algn="l" marL="182880" indent="-182880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Clr>
                <a:srgbClr val="B7791F"/>
              </a:buClr>
              <a:buFont typeface="Arial"/>
              <a:buChar char="•"/>
            </a:pPr>
            <a:r>
              <a:rPr sz="125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多中心五项（不急）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27414" y="1664208"/>
            <a:ext cx="2658618" cy="2724912"/>
          </a:xfrm>
          <a:prstGeom prst="rect">
            <a:avLst/>
          </a:prstGeom>
          <a:solidFill>
            <a:srgbClr val="FFFFFF"/>
          </a:solidFill>
          <a:ln w="9525">
            <a:solidFill>
              <a:srgbClr val="CDDAE8"/>
            </a:solidFill>
          </a:ln>
          <a:effectLst>
            <a:outerShdw blurRad="63500" dist="19050" dir="5400000" algn="t" rotWithShape="0">
              <a:srgbClr val="1F3B66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27414" y="1664208"/>
            <a:ext cx="2658618" cy="457200"/>
          </a:xfrm>
          <a:prstGeom prst="rect">
            <a:avLst/>
          </a:prstGeom>
          <a:solidFill>
            <a:srgbClr val="8A94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64574" y="1664208"/>
            <a:ext cx="2384298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等外部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73718" y="2231136"/>
            <a:ext cx="2366010" cy="2103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82880" indent="-182880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Clr>
                <a:srgbClr val="8A94A6"/>
              </a:buClr>
              <a:buFont typeface="Arial"/>
              <a:buChar char="•"/>
            </a:pPr>
            <a:r>
              <a:rPr sz="125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GD 补检验编号（JZH 对照）</a:t>
            </a:r>
          </a:p>
          <a:p>
            <a:pPr algn="l" marL="182880" indent="-182880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Clr>
                <a:srgbClr val="8A94A6"/>
              </a:buClr>
              <a:buFont typeface="Arial"/>
              <a:buChar char="•"/>
            </a:pPr>
            <a:r>
              <a:rPr sz="125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合作同学的 OPL-MT-MNAR 结果</a:t>
            </a:r>
          </a:p>
          <a:p>
            <a:pPr algn="l" marL="182880" indent="-182880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Clr>
                <a:srgbClr val="8A94A6"/>
              </a:buClr>
              <a:buFont typeface="Arial"/>
              <a:buChar char="•"/>
            </a:pPr>
            <a:r>
              <a:rPr sz="125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临床负责人确认口径（对外沟通暂缓）</a:t>
            </a:r>
          </a:p>
          <a:p>
            <a:pPr algn="l" marL="182880" indent="-182880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Clr>
                <a:srgbClr val="8A94A6"/>
              </a:buClr>
              <a:buFont typeface="Arial"/>
              <a:buChar char="•"/>
            </a:pPr>
            <a:r>
              <a:rPr sz="125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复核医生人选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4517136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flucase 上线顺序（D45）</a:t>
            </a:r>
          </a:p>
        </p:txBody>
      </p:sp>
      <p:sp>
        <p:nvSpPr>
          <p:cNvPr id="30" name="Pentagon 29"/>
          <p:cNvSpPr/>
          <p:nvPr/>
        </p:nvSpPr>
        <p:spPr>
          <a:xfrm>
            <a:off x="502920" y="4846320"/>
            <a:ext cx="2850642" cy="749808"/>
          </a:xfrm>
          <a:prstGeom prst="homePlate">
            <a:avLst>
              <a:gd name="adj" fmla="val 22000"/>
            </a:avLst>
          </a:prstGeom>
          <a:solidFill>
            <a:srgbClr val="1F4E94"/>
          </a:solidFill>
          <a:ln>
            <a:noFill/>
          </a:ln>
        </p:spPr>
        <p:txBody>
          <a:bodyPr rtlCol="0" anchor="ctr" wrap="square" lIns="201168" tIns="0" rIns="109728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① 部署前开发准备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完成</a:t>
            </a:r>
          </a:p>
        </p:txBody>
      </p:sp>
      <p:sp>
        <p:nvSpPr>
          <p:cNvPr id="31" name="Chevron 30"/>
          <p:cNvSpPr/>
          <p:nvPr/>
        </p:nvSpPr>
        <p:spPr>
          <a:xfrm>
            <a:off x="3280410" y="4846320"/>
            <a:ext cx="2850642" cy="749808"/>
          </a:xfrm>
          <a:prstGeom prst="chevron">
            <a:avLst>
              <a:gd name="adj" fmla="val 22000"/>
            </a:avLst>
          </a:prstGeom>
          <a:solidFill>
            <a:srgbClr val="00A4CB"/>
          </a:solidFill>
          <a:ln>
            <a:noFill/>
          </a:ln>
        </p:spPr>
        <p:txBody>
          <a:bodyPr rtlCol="0" anchor="ctr" wrap="square" lIns="201168" tIns="0" rIns="109728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② 研究者试用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进行中：GD 原始导出已试导</a:t>
            </a:r>
          </a:p>
        </p:txBody>
      </p:sp>
      <p:sp>
        <p:nvSpPr>
          <p:cNvPr id="32" name="Chevron 31"/>
          <p:cNvSpPr/>
          <p:nvPr/>
        </p:nvSpPr>
        <p:spPr>
          <a:xfrm>
            <a:off x="6057900" y="4846320"/>
            <a:ext cx="2850642" cy="749808"/>
          </a:xfrm>
          <a:prstGeom prst="chevron">
            <a:avLst>
              <a:gd name="adj" fmla="val 22000"/>
            </a:avLst>
          </a:prstGeom>
          <a:solidFill>
            <a:srgbClr val="1F4E94"/>
          </a:solidFill>
          <a:ln>
            <a:noFill/>
          </a:ln>
        </p:spPr>
        <p:txBody>
          <a:bodyPr rtlCol="0" anchor="ctr" wrap="square" lIns="201168" tIns="0" rIns="109728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③ 部署到专用服务器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完成：10-17 起，已更新 3 次</a:t>
            </a:r>
          </a:p>
        </p:txBody>
      </p:sp>
      <p:sp>
        <p:nvSpPr>
          <p:cNvPr id="33" name="Chevron 32"/>
          <p:cNvSpPr/>
          <p:nvPr/>
        </p:nvSpPr>
        <p:spPr>
          <a:xfrm>
            <a:off x="8835390" y="4846320"/>
            <a:ext cx="2850642" cy="749808"/>
          </a:xfrm>
          <a:prstGeom prst="chevron">
            <a:avLst>
              <a:gd name="adj" fmla="val 22000"/>
            </a:avLst>
          </a:prstGeom>
          <a:solidFill>
            <a:srgbClr val="FFFFFF"/>
          </a:solidFill>
          <a:ln w="15875">
            <a:solidFill>
              <a:srgbClr val="4075BE"/>
            </a:solidFill>
          </a:ln>
        </p:spPr>
        <p:txBody>
          <a:bodyPr rtlCol="0" anchor="ctr" wrap="square" lIns="201168" tIns="0" rIns="109728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④ 医生测试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计划中：可用性测试与试用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顶部色条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E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标题栏"/>
          <p:cNvSpPr/>
          <p:nvPr/>
        </p:nvSpPr>
        <p:spPr>
          <a:xfrm>
            <a:off x="0" y="219456"/>
            <a:ext cx="9418320" cy="530352"/>
          </a:xfrm>
          <a:prstGeom prst="rect">
            <a:avLst/>
          </a:prstGeom>
          <a:solidFill>
            <a:srgbClr val="4075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章节标签"/>
          <p:cNvSpPr/>
          <p:nvPr/>
        </p:nvSpPr>
        <p:spPr>
          <a:xfrm>
            <a:off x="320040" y="301752"/>
            <a:ext cx="1022096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36576" tIns="18288" rIns="36576" bIns="18288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zh-CN" altLang="en-US">
                <a:solidFill>
                  <a:srgbClr val="1F4E94"/>
                </a:solidFill>
                <a:latin typeface="微软雅黑"/>
                <a:ea typeface="微软雅黑"/>
                <a:cs typeface="微软雅黑"/>
              </a:rPr>
              <a:t>周末必做</a:t>
            </a:r>
          </a:p>
        </p:txBody>
      </p:sp>
      <p:sp>
        <p:nvSpPr>
          <p:cNvPr id="5" name="标题"/>
          <p:cNvSpPr txBox="1"/>
          <p:nvPr/>
        </p:nvSpPr>
        <p:spPr>
          <a:xfrm>
            <a:off x="1488439" y="219456"/>
            <a:ext cx="779272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三件只有你能做的事</a:t>
            </a:r>
          </a:p>
        </p:txBody>
      </p:sp>
      <p:sp>
        <p:nvSpPr>
          <p:cNvPr id="6" name="分隔线"/>
          <p:cNvSpPr/>
          <p:nvPr/>
        </p:nvSpPr>
        <p:spPr>
          <a:xfrm>
            <a:off x="457200" y="896112"/>
            <a:ext cx="11228832" cy="36576"/>
          </a:xfrm>
          <a:prstGeom prst="rect">
            <a:avLst/>
          </a:prstGeom>
          <a:solidFill>
            <a:srgbClr val="00A4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关键信息条"/>
          <p:cNvSpPr/>
          <p:nvPr/>
        </p:nvSpPr>
        <p:spPr>
          <a:xfrm>
            <a:off x="502920" y="1024128"/>
            <a:ext cx="11183112" cy="457200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关键信息"/>
          <p:cNvSpPr txBox="1"/>
          <p:nvPr/>
        </p:nvSpPr>
        <p:spPr>
          <a:xfrm>
            <a:off x="685800" y="1024128"/>
            <a:ext cx="10817352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做完这三件，下周一 Claude 就能接着改规则、开阶段 1 的其余项；六模型的汇总也不用再等口径。</a:t>
            </a:r>
          </a:p>
        </p:txBody>
      </p:sp>
      <p:sp>
        <p:nvSpPr>
          <p:cNvPr id="9" name="结论框"/>
          <p:cNvSpPr/>
          <p:nvPr/>
        </p:nvSpPr>
        <p:spPr>
          <a:xfrm>
            <a:off x="502920" y="5870448"/>
            <a:ext cx="11183112" cy="420624"/>
          </a:xfrm>
          <a:prstGeom prst="rect">
            <a:avLst/>
          </a:prstGeom>
          <a:solidFill>
            <a:srgbClr val="FCEF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结论"/>
          <p:cNvSpPr txBox="1"/>
          <p:nvPr/>
        </p:nvSpPr>
        <p:spPr>
          <a:xfrm>
            <a:off x="685800" y="5870448"/>
            <a:ext cx="10817352" cy="42062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数据纪律：</a:t>
            </a:r>
            <a:r>
              <a:rPr sz="1500" b="0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交回的只有计数、名称清单和问题代码；不发病例内容、编号和截图，也不发给任何在线大模型。</a:t>
            </a:r>
          </a:p>
        </p:txBody>
      </p:sp>
      <p:sp>
        <p:nvSpPr>
          <p:cNvPr id="11" name="页脚"/>
          <p:cNvSpPr txBox="1"/>
          <p:nvPr/>
        </p:nvSpPr>
        <p:spPr>
          <a:xfrm>
            <a:off x="502920" y="6455664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老年流感转重研究 · 本周总结与周末计划</a:t>
            </a:r>
          </a:p>
        </p:txBody>
      </p:sp>
      <p:sp>
        <p:nvSpPr>
          <p:cNvPr id="12" name="页码"/>
          <p:cNvSpPr txBox="1"/>
          <p:nvPr/>
        </p:nvSpPr>
        <p:spPr>
          <a:xfrm>
            <a:off x="10680192" y="6455664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E56DE072-71A8-4308-90EB-383C4AC00FF2}" type="slidenum">
              <a:rPr lang="zh-CN" sz="1050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11</a:t>
            </a:fld>
          </a:p>
        </p:txBody>
      </p:sp>
      <p:sp>
        <p:nvSpPr>
          <p:cNvPr id="13" name="Rectangle 12"/>
          <p:cNvSpPr/>
          <p:nvPr/>
        </p:nvSpPr>
        <p:spPr>
          <a:xfrm>
            <a:off x="502920" y="1664208"/>
            <a:ext cx="3575304" cy="4041648"/>
          </a:xfrm>
          <a:prstGeom prst="rect">
            <a:avLst/>
          </a:prstGeom>
          <a:solidFill>
            <a:srgbClr val="FFFFFF"/>
          </a:solidFill>
          <a:ln w="9525">
            <a:solidFill>
              <a:srgbClr val="CDDAE8"/>
            </a:solidFill>
          </a:ln>
          <a:effectLst>
            <a:outerShdw blurRad="63500" dist="19050" dir="5400000" algn="t" rotWithShape="0">
              <a:srgbClr val="1F3B66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1664208"/>
            <a:ext cx="3575304" cy="475488"/>
          </a:xfrm>
          <a:prstGeom prst="rect">
            <a:avLst/>
          </a:prstGeom>
          <a:solidFill>
            <a:srgbClr val="1F4E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1664208"/>
            <a:ext cx="3300984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① 服务器重导与重算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" y="2267712"/>
            <a:ext cx="3282696" cy="329184"/>
          </a:xfrm>
          <a:prstGeom prst="roundRect">
            <a:avLst>
              <a:gd name="adj" fmla="val 50000"/>
            </a:avLst>
          </a:prstGeom>
          <a:solidFill>
            <a:srgbClr val="EBF3FB"/>
          </a:solidFill>
          <a:ln>
            <a:noFill/>
          </a:ln>
        </p:spPr>
        <p:txBody>
          <a:bodyPr rtlCol="0" anchor="ctr" wrap="square" lIns="36576" tIns="18288" rIns="36576" bIns="18288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约 1.5 小时 · 周六上午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" y="2724912"/>
            <a:ext cx="3282696" cy="2194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82880" indent="-182880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  <a:buClr>
                <a:srgbClr val="4075BE"/>
              </a:buClr>
              <a:buFont typeface="Arial"/>
              <a:buChar char="•"/>
            </a:pPr>
            <a:r>
              <a:rPr sz="125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先冻结并导出一份 std_v3（重导前基线）</a:t>
            </a:r>
          </a:p>
          <a:p>
            <a:pPr algn="l" marL="182880" indent="-182880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  <a:buClr>
                <a:srgbClr val="4075BE"/>
              </a:buClr>
              <a:buFont typeface="Arial"/>
              <a:buChar char="•"/>
            </a:pPr>
            <a:r>
              <a:rPr sz="125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重新导入 GD 原始导出、GAM 住院和门诊，新规则才生效</a:t>
            </a:r>
          </a:p>
          <a:p>
            <a:pPr algn="l" marL="182880" indent="-182880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  <a:buClr>
                <a:srgbClr val="4075BE"/>
              </a:buClr>
              <a:buFont typeface="Arial"/>
              <a:buChar char="•"/>
            </a:pPr>
            <a:r>
              <a:rPr sz="125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规则集页做 v0.2 / v0.3 版本对比，再切到 v0.3 重算</a:t>
            </a:r>
          </a:p>
          <a:p>
            <a:pPr algn="l" marL="182880" indent="-182880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  <a:buClr>
                <a:srgbClr val="4075BE"/>
              </a:buClr>
              <a:buFont typeface="Arial"/>
              <a:buChar char="•"/>
            </a:pPr>
            <a:r>
              <a:rPr sz="125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再导出一份 std_v3；就诊数应不变，只有“更新”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" y="5047488"/>
            <a:ext cx="3282696" cy="512064"/>
          </a:xfrm>
          <a:prstGeom prst="rect">
            <a:avLst/>
          </a:prstGeom>
          <a:solidFill>
            <a:srgbClr val="F5F8FC"/>
          </a:solidFill>
          <a:ln w="9525">
            <a:solidFill>
              <a:srgbClr val="CDDA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" y="5047488"/>
            <a:ext cx="3063240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产出：</a:t>
            </a:r>
            <a:r>
              <a:rPr sz="125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重导前、后两份 std_v3 导出包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06824" y="1664208"/>
            <a:ext cx="3575304" cy="4041648"/>
          </a:xfrm>
          <a:prstGeom prst="rect">
            <a:avLst/>
          </a:prstGeom>
          <a:solidFill>
            <a:srgbClr val="FFFFFF"/>
          </a:solidFill>
          <a:ln w="9525">
            <a:solidFill>
              <a:srgbClr val="CDDAE8"/>
            </a:solidFill>
          </a:ln>
          <a:effectLst>
            <a:outerShdw blurRad="63500" dist="19050" dir="5400000" algn="t" rotWithShape="0">
              <a:srgbClr val="1F3B66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06824" y="1664208"/>
            <a:ext cx="3575304" cy="475488"/>
          </a:xfrm>
          <a:prstGeom prst="rect">
            <a:avLst/>
          </a:prstGeom>
          <a:solidFill>
            <a:srgbClr val="1F4E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43984" y="1664208"/>
            <a:ext cx="3300984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② 核对计数，只回报数字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53128" y="2267712"/>
            <a:ext cx="3282696" cy="329184"/>
          </a:xfrm>
          <a:prstGeom prst="roundRect">
            <a:avLst>
              <a:gd name="adj" fmla="val 50000"/>
            </a:avLst>
          </a:prstGeom>
          <a:solidFill>
            <a:srgbClr val="EBF3FB"/>
          </a:solidFill>
          <a:ln>
            <a:noFill/>
          </a:ln>
        </p:spPr>
        <p:txBody>
          <a:bodyPr rtlCol="0" anchor="ctr" wrap="square" lIns="36576" tIns="18288" rIns="36576" bIns="18288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约 2.5 小时 · 周六下午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53128" y="2724912"/>
            <a:ext cx="3282696" cy="2194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82880" indent="-182880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  <a:buClr>
                <a:srgbClr val="4075BE"/>
              </a:buClr>
              <a:buFont typeface="Arial"/>
              <a:buChar char="•"/>
            </a:pPr>
            <a:r>
              <a:rPr sz="125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从两份对齐报告抄第 2、4 项，以及第 11、13 项的部分计数</a:t>
            </a:r>
          </a:p>
          <a:p>
            <a:pPr algn="l" marL="182880" indent="-182880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  <a:buClr>
                <a:srgbClr val="4075BE"/>
              </a:buClr>
              <a:buFont typeface="Arial"/>
              <a:buChar char="•"/>
            </a:pPr>
            <a:r>
              <a:rPr sz="125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手工补第 8 项名称清单、第 13 项各科室住院数、“必要时”氧疗行数</a:t>
            </a:r>
          </a:p>
          <a:p>
            <a:pPr algn="l" marL="182880" indent="-182880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  <a:buClr>
                <a:srgbClr val="4075BE"/>
              </a:buClr>
              <a:buFont typeface="Arial"/>
              <a:buChar char="•"/>
            </a:pPr>
            <a:r>
              <a:rPr sz="125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第 11 项其余、第 12、14 项用只出计数的小脚本（可让 Claude 写，你在本机跑）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53128" y="5047488"/>
            <a:ext cx="3282696" cy="512064"/>
          </a:xfrm>
          <a:prstGeom prst="rect">
            <a:avLst/>
          </a:prstGeom>
          <a:solidFill>
            <a:srgbClr val="F5F8FC"/>
          </a:solidFill>
          <a:ln w="9525">
            <a:solidFill>
              <a:srgbClr val="CDDA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62856" y="5047488"/>
            <a:ext cx="3063240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产出：</a:t>
            </a:r>
            <a:r>
              <a:rPr sz="125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一张中心 × 项目的计数表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10728" y="1664208"/>
            <a:ext cx="3575304" cy="4041648"/>
          </a:xfrm>
          <a:prstGeom prst="rect">
            <a:avLst/>
          </a:prstGeom>
          <a:solidFill>
            <a:srgbClr val="FFFFFF"/>
          </a:solidFill>
          <a:ln w="9525">
            <a:solidFill>
              <a:srgbClr val="CDDAE8"/>
            </a:solidFill>
          </a:ln>
          <a:effectLst>
            <a:outerShdw blurRad="63500" dist="19050" dir="5400000" algn="t" rotWithShape="0">
              <a:srgbClr val="1F3B66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10728" y="1664208"/>
            <a:ext cx="3575304" cy="475488"/>
          </a:xfrm>
          <a:prstGeom prst="rect">
            <a:avLst/>
          </a:prstGeom>
          <a:solidFill>
            <a:srgbClr val="1F4E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47888" y="1664208"/>
            <a:ext cx="3300984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③ 定下来、约好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57032" y="2267712"/>
            <a:ext cx="3282696" cy="329184"/>
          </a:xfrm>
          <a:prstGeom prst="roundRect">
            <a:avLst>
              <a:gd name="adj" fmla="val 50000"/>
            </a:avLst>
          </a:prstGeom>
          <a:solidFill>
            <a:srgbClr val="EBF3FB"/>
          </a:solidFill>
          <a:ln>
            <a:noFill/>
          </a:ln>
        </p:spPr>
        <p:txBody>
          <a:bodyPr rtlCol="0" anchor="ctr" wrap="square" lIns="36576" tIns="18288" rIns="36576" bIns="18288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约 2 小时 · 周日上午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57032" y="2724912"/>
            <a:ext cx="3282696" cy="2194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82880" indent="-182880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  <a:buClr>
                <a:srgbClr val="4075BE"/>
              </a:buClr>
              <a:buFont typeface="Arial"/>
              <a:buChar char="•"/>
            </a:pPr>
            <a:r>
              <a:rPr sz="125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§8 第 11 项（A 档）、第 14 项（同意即可开工）</a:t>
            </a:r>
          </a:p>
          <a:p>
            <a:pPr algn="l" marL="182880" indent="-182880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  <a:buClr>
                <a:srgbClr val="4075BE"/>
              </a:buClr>
              <a:buFont typeface="Arial"/>
              <a:buChar char="•"/>
            </a:pPr>
            <a:r>
              <a:rPr sz="125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给合作同学一页说明：六模型三项 B 档各列选项，等 OPL-MT-MNAR 结果出来就能汇总</a:t>
            </a:r>
          </a:p>
          <a:p>
            <a:pPr algn="l" marL="182880" indent="-182880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  <a:buClr>
                <a:srgbClr val="4075BE"/>
              </a:buClr>
              <a:buFont typeface="Arial"/>
              <a:buChar char="•"/>
            </a:pPr>
            <a:r>
              <a:rPr sz="125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约 1–2 位医生下周做可用性测试（虚构样例，5 项任务）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57032" y="5047488"/>
            <a:ext cx="3282696" cy="512064"/>
          </a:xfrm>
          <a:prstGeom prst="rect">
            <a:avLst/>
          </a:prstGeom>
          <a:solidFill>
            <a:srgbClr val="F5F8FC"/>
          </a:solidFill>
          <a:ln w="9525">
            <a:solidFill>
              <a:srgbClr val="CDDA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66760" y="5047488"/>
            <a:ext cx="3063240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产出：</a:t>
            </a:r>
            <a:r>
              <a:rPr sz="125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两项决定、给合作同学的说明、医生测试时间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顶部色条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E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标题栏"/>
          <p:cNvSpPr/>
          <p:nvPr/>
        </p:nvSpPr>
        <p:spPr>
          <a:xfrm>
            <a:off x="0" y="219456"/>
            <a:ext cx="9418320" cy="530352"/>
          </a:xfrm>
          <a:prstGeom prst="rect">
            <a:avLst/>
          </a:prstGeom>
          <a:solidFill>
            <a:srgbClr val="4075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章节标签"/>
          <p:cNvSpPr/>
          <p:nvPr/>
        </p:nvSpPr>
        <p:spPr>
          <a:xfrm>
            <a:off x="320040" y="301752"/>
            <a:ext cx="1022096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36576" tIns="18288" rIns="36576" bIns="18288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zh-CN" altLang="en-US">
                <a:solidFill>
                  <a:srgbClr val="1F4E94"/>
                </a:solidFill>
                <a:latin typeface="微软雅黑"/>
                <a:ea typeface="微软雅黑"/>
                <a:cs typeface="微软雅黑"/>
              </a:rPr>
              <a:t>周末安排</a:t>
            </a:r>
          </a:p>
        </p:txBody>
      </p:sp>
      <p:sp>
        <p:nvSpPr>
          <p:cNvPr id="5" name="标题"/>
          <p:cNvSpPr txBox="1"/>
          <p:nvPr/>
        </p:nvSpPr>
        <p:spPr>
          <a:xfrm>
            <a:off x="1488439" y="219456"/>
            <a:ext cx="779272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周六跑真实数据，周日定事、约人</a:t>
            </a:r>
          </a:p>
        </p:txBody>
      </p:sp>
      <p:sp>
        <p:nvSpPr>
          <p:cNvPr id="6" name="分隔线"/>
          <p:cNvSpPr/>
          <p:nvPr/>
        </p:nvSpPr>
        <p:spPr>
          <a:xfrm>
            <a:off x="457200" y="896112"/>
            <a:ext cx="11228832" cy="36576"/>
          </a:xfrm>
          <a:prstGeom prst="rect">
            <a:avLst/>
          </a:prstGeom>
          <a:solidFill>
            <a:srgbClr val="00A4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关键信息条"/>
          <p:cNvSpPr/>
          <p:nvPr/>
        </p:nvSpPr>
        <p:spPr>
          <a:xfrm>
            <a:off x="502920" y="1024128"/>
            <a:ext cx="11183112" cy="457200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关键信息"/>
          <p:cNvSpPr txBox="1"/>
          <p:nvPr/>
        </p:nvSpPr>
        <p:spPr>
          <a:xfrm>
            <a:off x="685800" y="1024128"/>
            <a:ext cx="10817352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不赶年底以后，两天合计约 6 小时有效工作就够了；下午和晚上的都是可选，其余时间休息。</a:t>
            </a:r>
          </a:p>
        </p:txBody>
      </p:sp>
      <p:sp>
        <p:nvSpPr>
          <p:cNvPr id="9" name="结论框"/>
          <p:cNvSpPr/>
          <p:nvPr/>
        </p:nvSpPr>
        <p:spPr>
          <a:xfrm>
            <a:off x="502920" y="5870448"/>
            <a:ext cx="11183112" cy="420624"/>
          </a:xfrm>
          <a:prstGeom prst="rect">
            <a:avLst/>
          </a:prstGeom>
          <a:solidFill>
            <a:srgbClr val="FCEF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结论"/>
          <p:cNvSpPr txBox="1"/>
          <p:nvPr/>
        </p:nvSpPr>
        <p:spPr>
          <a:xfrm>
            <a:off x="685800" y="5870448"/>
            <a:ext cx="10817352" cy="42062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不建议：</a:t>
            </a:r>
            <a:r>
              <a:rPr sz="1500" b="0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计数回来之前给 flucase 加新功能；为赶进度熬夜；把任何病例内容发给在线大模型。</a:t>
            </a:r>
          </a:p>
        </p:txBody>
      </p:sp>
      <p:sp>
        <p:nvSpPr>
          <p:cNvPr id="11" name="页脚"/>
          <p:cNvSpPr txBox="1"/>
          <p:nvPr/>
        </p:nvSpPr>
        <p:spPr>
          <a:xfrm>
            <a:off x="502920" y="6455664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老年流感转重研究 · 本周总结与周末计划</a:t>
            </a:r>
          </a:p>
        </p:txBody>
      </p:sp>
      <p:sp>
        <p:nvSpPr>
          <p:cNvPr id="12" name="页码"/>
          <p:cNvSpPr txBox="1"/>
          <p:nvPr/>
        </p:nvSpPr>
        <p:spPr>
          <a:xfrm>
            <a:off x="10680192" y="6455664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F0CD9A3A-6B6E-4903-A438-9EBBC04DD7D1}" type="slidenum">
              <a:rPr lang="zh-CN" sz="1050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12</a:t>
            </a:fld>
          </a:p>
        </p:txBody>
      </p:sp>
      <p:sp>
        <p:nvSpPr>
          <p:cNvPr id="13" name="TextBox 12"/>
          <p:cNvSpPr txBox="1"/>
          <p:nvPr/>
        </p:nvSpPr>
        <p:spPr>
          <a:xfrm>
            <a:off x="1325880" y="1645920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09:00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691640" y="1901952"/>
            <a:ext cx="0" cy="1682496"/>
          </a:xfrm>
          <a:prstGeom prst="line">
            <a:avLst/>
          </a:prstGeom>
          <a:ln w="9525">
            <a:solidFill>
              <a:srgbClr val="DDE6F0"/>
            </a:solidFill>
            <a:prstDash val="dash"/>
          </a:ln>
        </p:spPr>
      </p:cxnSp>
      <p:sp>
        <p:nvSpPr>
          <p:cNvPr id="15" name="TextBox 14"/>
          <p:cNvSpPr txBox="1"/>
          <p:nvPr/>
        </p:nvSpPr>
        <p:spPr>
          <a:xfrm>
            <a:off x="2964180" y="1645920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11:00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329940" y="1901952"/>
            <a:ext cx="0" cy="1682496"/>
          </a:xfrm>
          <a:prstGeom prst="line">
            <a:avLst/>
          </a:prstGeom>
          <a:ln w="9525">
            <a:solidFill>
              <a:srgbClr val="DDE6F0"/>
            </a:solidFill>
            <a:prstDash val="dash"/>
          </a:ln>
        </p:spPr>
      </p:cxnSp>
      <p:sp>
        <p:nvSpPr>
          <p:cNvPr id="17" name="TextBox 16"/>
          <p:cNvSpPr txBox="1"/>
          <p:nvPr/>
        </p:nvSpPr>
        <p:spPr>
          <a:xfrm>
            <a:off x="4602480" y="1645920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13:00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968240" y="1901952"/>
            <a:ext cx="0" cy="1682496"/>
          </a:xfrm>
          <a:prstGeom prst="line">
            <a:avLst/>
          </a:prstGeom>
          <a:ln w="9525">
            <a:solidFill>
              <a:srgbClr val="DDE6F0"/>
            </a:solidFill>
            <a:prstDash val="dash"/>
          </a:ln>
        </p:spPr>
      </p:cxnSp>
      <p:sp>
        <p:nvSpPr>
          <p:cNvPr id="19" name="TextBox 18"/>
          <p:cNvSpPr txBox="1"/>
          <p:nvPr/>
        </p:nvSpPr>
        <p:spPr>
          <a:xfrm>
            <a:off x="6240779" y="1645920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15:00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606540" y="1901952"/>
            <a:ext cx="0" cy="1682496"/>
          </a:xfrm>
          <a:prstGeom prst="line">
            <a:avLst/>
          </a:prstGeom>
          <a:ln w="9525">
            <a:solidFill>
              <a:srgbClr val="DDE6F0"/>
            </a:solidFill>
            <a:prstDash val="dash"/>
          </a:ln>
        </p:spPr>
      </p:cxnSp>
      <p:sp>
        <p:nvSpPr>
          <p:cNvPr id="21" name="TextBox 20"/>
          <p:cNvSpPr txBox="1"/>
          <p:nvPr/>
        </p:nvSpPr>
        <p:spPr>
          <a:xfrm>
            <a:off x="7879079" y="1645920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17:00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244839" y="1901952"/>
            <a:ext cx="0" cy="1682496"/>
          </a:xfrm>
          <a:prstGeom prst="line">
            <a:avLst/>
          </a:prstGeom>
          <a:ln w="9525">
            <a:solidFill>
              <a:srgbClr val="DDE6F0"/>
            </a:solidFill>
            <a:prstDash val="dash"/>
          </a:ln>
        </p:spPr>
      </p:cxnSp>
      <p:sp>
        <p:nvSpPr>
          <p:cNvPr id="23" name="TextBox 22"/>
          <p:cNvSpPr txBox="1"/>
          <p:nvPr/>
        </p:nvSpPr>
        <p:spPr>
          <a:xfrm>
            <a:off x="9517380" y="1645920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19:00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883140" y="1901952"/>
            <a:ext cx="0" cy="1682496"/>
          </a:xfrm>
          <a:prstGeom prst="line">
            <a:avLst/>
          </a:prstGeom>
          <a:ln w="9525">
            <a:solidFill>
              <a:srgbClr val="DDE6F0"/>
            </a:solidFill>
            <a:prstDash val="dash"/>
          </a:ln>
        </p:spPr>
      </p:cxnSp>
      <p:sp>
        <p:nvSpPr>
          <p:cNvPr id="25" name="TextBox 24"/>
          <p:cNvSpPr txBox="1"/>
          <p:nvPr/>
        </p:nvSpPr>
        <p:spPr>
          <a:xfrm>
            <a:off x="11155680" y="1645920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21:00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1521440" y="1901952"/>
            <a:ext cx="0" cy="1682496"/>
          </a:xfrm>
          <a:prstGeom prst="line">
            <a:avLst/>
          </a:prstGeom>
          <a:ln w="9525">
            <a:solidFill>
              <a:srgbClr val="DDE6F0"/>
            </a:solidFill>
            <a:prstDash val="dash"/>
          </a:ln>
        </p:spPr>
      </p:cxnSp>
      <p:sp>
        <p:nvSpPr>
          <p:cNvPr id="27" name="Rectangle 26"/>
          <p:cNvSpPr/>
          <p:nvPr/>
        </p:nvSpPr>
        <p:spPr>
          <a:xfrm>
            <a:off x="502920" y="1938528"/>
            <a:ext cx="1078992" cy="731520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1938528"/>
            <a:ext cx="1078992" cy="7315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周六</a:t>
            </a:r>
            <a:br>
              <a:rPr lang="zh-CN" sz="1350">
                <a:latin typeface="微软雅黑"/>
                <a:ea typeface="微软雅黑"/>
                <a:cs typeface="微软雅黑"/>
              </a:rPr>
            </a:br>
            <a:r>
              <a:rPr sz="135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10-24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691640" y="1938528"/>
            <a:ext cx="9829800" cy="7315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529078" y="2029968"/>
            <a:ext cx="1192149" cy="548640"/>
          </a:xfrm>
          <a:prstGeom prst="roundRect">
            <a:avLst>
              <a:gd name="adj" fmla="val 12000"/>
            </a:avLst>
          </a:prstGeom>
          <a:solidFill>
            <a:srgbClr val="4075BE"/>
          </a:solidFill>
          <a:ln>
            <a:noFill/>
          </a:ln>
        </p:spPr>
        <p:txBody>
          <a:bodyPr rtlCol="0" anchor="ctr" wrap="square" lIns="36576" tIns="18288" rIns="36576" bIns="18288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重导与重算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805678" y="2029968"/>
            <a:ext cx="2011298" cy="548640"/>
          </a:xfrm>
          <a:prstGeom prst="roundRect">
            <a:avLst>
              <a:gd name="adj" fmla="val 12000"/>
            </a:avLst>
          </a:prstGeom>
          <a:solidFill>
            <a:srgbClr val="4075BE"/>
          </a:solidFill>
          <a:ln>
            <a:noFill/>
          </a:ln>
        </p:spPr>
        <p:txBody>
          <a:bodyPr rtlCol="0" anchor="ctr" wrap="square" lIns="36576" tIns="18288" rIns="36576" bIns="18288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核对计数、填回报表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311003" y="2029968"/>
            <a:ext cx="1192149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8A94A6"/>
            </a:solidFill>
            <a:prstDash val="dash"/>
          </a:ln>
        </p:spPr>
        <p:txBody>
          <a:bodyPr rtlCol="0" anchor="ctr" wrap="square" lIns="36576" tIns="18288" rIns="36576" bIns="18288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文献（可选）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2798064"/>
            <a:ext cx="1078992" cy="731520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2798064"/>
            <a:ext cx="1078992" cy="7315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周日</a:t>
            </a:r>
            <a:br>
              <a:rPr lang="zh-CN" sz="1350">
                <a:latin typeface="微软雅黑"/>
                <a:ea typeface="微软雅黑"/>
                <a:cs typeface="微软雅黑"/>
              </a:rPr>
            </a:br>
            <a:r>
              <a:rPr sz="135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10-25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691640" y="2798064"/>
            <a:ext cx="9829800" cy="7315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2529078" y="2889504"/>
            <a:ext cx="782573" cy="548640"/>
          </a:xfrm>
          <a:prstGeom prst="roundRect">
            <a:avLst>
              <a:gd name="adj" fmla="val 12000"/>
            </a:avLst>
          </a:prstGeom>
          <a:solidFill>
            <a:srgbClr val="00A4CB"/>
          </a:solidFill>
          <a:ln>
            <a:noFill/>
          </a:ln>
        </p:spPr>
        <p:txBody>
          <a:bodyPr rtlCol="0" anchor="ctr" wrap="square" lIns="36576" tIns="18288" rIns="36576" bIns="18288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两项决定</a:t>
            </a:r>
            <a:br>
              <a:rPr lang="zh-CN" sz="1100">
                <a:latin typeface="微软雅黑"/>
                <a:ea typeface="微软雅黑"/>
                <a:cs typeface="微软雅黑"/>
              </a:rPr>
            </a:br>
            <a:r>
              <a:rPr sz="110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约医生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348228" y="2889504"/>
            <a:ext cx="782573" cy="548640"/>
          </a:xfrm>
          <a:prstGeom prst="roundRect">
            <a:avLst>
              <a:gd name="adj" fmla="val 12000"/>
            </a:avLst>
          </a:prstGeom>
          <a:solidFill>
            <a:srgbClr val="1F4E94"/>
          </a:solidFill>
          <a:ln>
            <a:noFill/>
          </a:ln>
        </p:spPr>
        <p:txBody>
          <a:bodyPr rtlCol="0" anchor="ctr" wrap="square" lIns="36576" tIns="18288" rIns="36576" bIns="18288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六模型</a:t>
            </a:r>
            <a:br>
              <a:rPr lang="zh-CN" sz="1100">
                <a:latin typeface="微软雅黑"/>
                <a:ea typeface="微软雅黑"/>
                <a:cs typeface="微软雅黑"/>
              </a:rPr>
            </a:br>
            <a:r>
              <a:rPr sz="110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口径说明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805678" y="2889504"/>
            <a:ext cx="1192148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8A94A6"/>
            </a:solidFill>
            <a:prstDash val="dash"/>
          </a:ln>
        </p:spPr>
        <p:txBody>
          <a:bodyPr rtlCol="0" anchor="ctr" wrap="square" lIns="36576" tIns="18288" rIns="36576" bIns="18288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GD 观测密度</a:t>
            </a:r>
            <a:br>
              <a:rPr lang="zh-CN" sz="1200">
                <a:latin typeface="微软雅黑"/>
                <a:ea typeface="微软雅黑"/>
                <a:cs typeface="微软雅黑"/>
              </a:rPr>
            </a:br>
            <a:r>
              <a:rPr sz="1200" b="1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计数（可选）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311003" y="2889504"/>
            <a:ext cx="1192149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8A94A6"/>
            </a:solidFill>
            <a:prstDash val="dash"/>
          </a:ln>
        </p:spPr>
        <p:txBody>
          <a:bodyPr rtlCol="0" anchor="ctr" wrap="square" lIns="36576" tIns="18288" rIns="36576" bIns="18288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自学（可选）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691640" y="3694176"/>
            <a:ext cx="274320" cy="164592"/>
          </a:xfrm>
          <a:prstGeom prst="rect">
            <a:avLst/>
          </a:prstGeom>
          <a:solidFill>
            <a:srgbClr val="4075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20824" y="3639312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flucase 真实数据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16705" y="3694176"/>
            <a:ext cx="274320" cy="164592"/>
          </a:xfrm>
          <a:prstGeom prst="rect">
            <a:avLst/>
          </a:prstGeom>
          <a:solidFill>
            <a:srgbClr val="00A4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945889" y="3639312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决定与约人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51044" y="3694176"/>
            <a:ext cx="274320" cy="164592"/>
          </a:xfrm>
          <a:prstGeom prst="rect">
            <a:avLst/>
          </a:prstGeom>
          <a:solidFill>
            <a:srgbClr val="1F4E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380228" y="3639312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六模型实验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85382" y="3694176"/>
            <a:ext cx="27432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8A94A6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14566" y="3639312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可选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0" y="3639312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核心约 6 小时：周六 4 · 周日 2（不含可选）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2920" y="4078224"/>
            <a:ext cx="5477256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CDDAE8"/>
            </a:solidFill>
          </a:ln>
          <a:effectLst>
            <a:outerShdw blurRad="63500" dist="19050" dir="5400000" algn="t" rotWithShape="0">
              <a:srgbClr val="1F3B66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02920" y="4078224"/>
            <a:ext cx="5477256" cy="384048"/>
          </a:xfrm>
          <a:prstGeom prst="rect">
            <a:avLst/>
          </a:prstGeom>
          <a:solidFill>
            <a:srgbClr val="1F4E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080" y="4078224"/>
            <a:ext cx="5202936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可以交给 Claude 并行做（只用虚构数据）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9224" y="4535424"/>
            <a:ext cx="5184648" cy="11521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82880" indent="-182880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buClr>
                <a:srgbClr val="4075BE"/>
              </a:buClr>
              <a:buFont typeface="Arial"/>
              <a:buChar char="•"/>
            </a:pPr>
            <a:r>
              <a:rPr sz="125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只出计数的核对脚本（§7 第 11、12、14 项），你在本机跑</a:t>
            </a:r>
          </a:p>
          <a:p>
            <a:pPr algn="l" marL="182880" indent="-182880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buClr>
                <a:srgbClr val="4075BE"/>
              </a:buClr>
              <a:buFont typeface="Arial"/>
              <a:buChar char="•"/>
            </a:pPr>
            <a:r>
              <a:rPr sz="125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GD 观测密度的计数脚本：t0 前后 48 小时各体征测了几次</a:t>
            </a:r>
          </a:p>
          <a:p>
            <a:pPr algn="l" marL="182880" indent="-182880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buClr>
                <a:srgbClr val="4075BE"/>
              </a:buClr>
              <a:buFont typeface="Arial"/>
              <a:buChar char="•"/>
            </a:pPr>
            <a:r>
              <a:rPr sz="125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阶段 1 其余项（你同意后）：GD 认转院、检查报告认肺炎、共用对应表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08776" y="4078224"/>
            <a:ext cx="5477256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CDDAE8"/>
            </a:solidFill>
          </a:ln>
          <a:effectLst>
            <a:outerShdw blurRad="63500" dist="19050" dir="5400000" algn="t" rotWithShape="0">
              <a:srgbClr val="1F3B66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208776" y="4078224"/>
            <a:ext cx="5477256" cy="384048"/>
          </a:xfrm>
          <a:prstGeom prst="rect">
            <a:avLst/>
          </a:prstGeom>
          <a:solidFill>
            <a:srgbClr val="8A94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45936" y="4078224"/>
            <a:ext cx="5202936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有余力再做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55080" y="4535424"/>
            <a:ext cx="5184648" cy="11521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82880" indent="-182880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buClr>
                <a:srgbClr val="8A94A6"/>
              </a:buClr>
              <a:buFont typeface="Arial"/>
              <a:buChar char="•"/>
            </a:pPr>
            <a:r>
              <a:rPr sz="125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每周文献：可接着讲解页读 MEDS / ACES、YAIB（任务定义比模型影响更大）</a:t>
            </a:r>
          </a:p>
          <a:p>
            <a:pPr algn="l" marL="182880" indent="-182880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buClr>
                <a:srgbClr val="8A94A6"/>
              </a:buClr>
              <a:buFont typeface="Arial"/>
              <a:buChar char="•"/>
            </a:pPr>
            <a:r>
              <a:rPr sz="125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对外沟通草稿 C1–C3 按 v0.3 更新，定何时发（D27）</a:t>
            </a:r>
          </a:p>
          <a:p>
            <a:pPr algn="l" marL="182880" indent="-182880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buClr>
                <a:srgbClr val="8A94A6"/>
              </a:buClr>
              <a:buFont typeface="Arial"/>
              <a:buChar char="•"/>
            </a:pPr>
            <a:r>
              <a:rPr sz="125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用这份 PPT 向导师或组里同步本周进展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顶部色条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E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标题栏"/>
          <p:cNvSpPr/>
          <p:nvPr/>
        </p:nvSpPr>
        <p:spPr>
          <a:xfrm>
            <a:off x="0" y="219456"/>
            <a:ext cx="9418320" cy="530352"/>
          </a:xfrm>
          <a:prstGeom prst="rect">
            <a:avLst/>
          </a:prstGeom>
          <a:solidFill>
            <a:srgbClr val="4075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章节标签"/>
          <p:cNvSpPr/>
          <p:nvPr/>
        </p:nvSpPr>
        <p:spPr>
          <a:xfrm>
            <a:off x="320040" y="301752"/>
            <a:ext cx="1022096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36576" tIns="18288" rIns="36576" bIns="18288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zh-CN" altLang="en-US">
                <a:solidFill>
                  <a:srgbClr val="1F4E94"/>
                </a:solidFill>
                <a:latin typeface="微软雅黑"/>
                <a:ea typeface="微软雅黑"/>
                <a:cs typeface="微软雅黑"/>
              </a:rPr>
              <a:t>周末核对</a:t>
            </a:r>
          </a:p>
        </p:txBody>
      </p:sp>
      <p:sp>
        <p:nvSpPr>
          <p:cNvPr id="5" name="标题"/>
          <p:cNvSpPr txBox="1"/>
          <p:nvPr/>
        </p:nvSpPr>
        <p:spPr>
          <a:xfrm>
            <a:off x="1488439" y="219456"/>
            <a:ext cx="779272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§7 核对清单：这个周末先做 7 项</a:t>
            </a:r>
          </a:p>
        </p:txBody>
      </p:sp>
      <p:sp>
        <p:nvSpPr>
          <p:cNvPr id="6" name="分隔线"/>
          <p:cNvSpPr/>
          <p:nvPr/>
        </p:nvSpPr>
        <p:spPr>
          <a:xfrm>
            <a:off x="457200" y="896112"/>
            <a:ext cx="11228832" cy="36576"/>
          </a:xfrm>
          <a:prstGeom prst="rect">
            <a:avLst/>
          </a:prstGeom>
          <a:solidFill>
            <a:srgbClr val="00A4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关键信息条"/>
          <p:cNvSpPr/>
          <p:nvPr/>
        </p:nvSpPr>
        <p:spPr>
          <a:xfrm>
            <a:off x="502920" y="1024128"/>
            <a:ext cx="11183112" cy="457200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关键信息"/>
          <p:cNvSpPr txBox="1"/>
          <p:nvPr/>
        </p:nvSpPr>
        <p:spPr>
          <a:xfrm>
            <a:off x="685800" y="1024128"/>
            <a:ext cx="10817352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§7 共 14 项，其中 7 项这个周末就能从 std_v3 导出包、导入回执和分级页里取到。</a:t>
            </a:r>
          </a:p>
        </p:txBody>
      </p:sp>
      <p:sp>
        <p:nvSpPr>
          <p:cNvPr id="9" name="结论框"/>
          <p:cNvSpPr/>
          <p:nvPr/>
        </p:nvSpPr>
        <p:spPr>
          <a:xfrm>
            <a:off x="502920" y="5870448"/>
            <a:ext cx="11183112" cy="420624"/>
          </a:xfrm>
          <a:prstGeom prst="rect">
            <a:avLst/>
          </a:prstGeom>
          <a:solidFill>
            <a:srgbClr val="FCEF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结论"/>
          <p:cNvSpPr txBox="1"/>
          <p:nvPr/>
        </p:nvSpPr>
        <p:spPr>
          <a:xfrm>
            <a:off x="685800" y="5870448"/>
            <a:ext cx="10817352" cy="42062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回报格式：</a:t>
            </a:r>
            <a:r>
              <a:rPr sz="1500" b="0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按中心 × 项目的计数（1–9 写 &lt;10）；名称清单不含病例内容；重导前、后各一份。</a:t>
            </a:r>
          </a:p>
        </p:txBody>
      </p:sp>
      <p:sp>
        <p:nvSpPr>
          <p:cNvPr id="11" name="页脚"/>
          <p:cNvSpPr txBox="1"/>
          <p:nvPr/>
        </p:nvSpPr>
        <p:spPr>
          <a:xfrm>
            <a:off x="502920" y="6455664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老年流感转重研究 · 本周总结与周末计划</a:t>
            </a:r>
          </a:p>
        </p:txBody>
      </p:sp>
      <p:sp>
        <p:nvSpPr>
          <p:cNvPr id="12" name="页码"/>
          <p:cNvSpPr txBox="1"/>
          <p:nvPr/>
        </p:nvSpPr>
        <p:spPr>
          <a:xfrm>
            <a:off x="10680192" y="6455664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CBB1CAFB-F00D-4CC3-960E-9DDFEB1C19E2}" type="slidenum">
              <a:rPr lang="zh-CN" sz="1050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13</a:t>
            </a:fld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02920" y="1664208"/>
          <a:ext cx="11183112" cy="334670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868680"/>
                <a:gridCol w="457200"/>
                <a:gridCol w="5897880"/>
                <a:gridCol w="1920240"/>
                <a:gridCol w="2039112"/>
              </a:tblGrid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优先</a:t>
                      </a:r>
                    </a:p>
                  </a:txBody>
                  <a:tcPr marL="91440" marT="27432" marR="7315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4E9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项</a:t>
                      </a:r>
                    </a:p>
                  </a:txBody>
                  <a:tcPr marL="91440" marT="27432" marR="7315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4E9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核对什么</a:t>
                      </a:r>
                    </a:p>
                  </a:txBody>
                  <a:tcPr marL="91440" marT="27432" marR="7315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4E9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从哪里取</a:t>
                      </a:r>
                    </a:p>
                  </a:txBody>
                  <a:tcPr marL="91440" marT="27432" marR="7315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4E9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回报什么</a:t>
                      </a:r>
                    </a:p>
                  </a:txBody>
                  <a:tcPr marL="91440" marT="27432" marR="7315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4E94"/>
                    </a:solidFill>
                  </a:tcPr>
                </a:tc>
              </a:tr>
              <a:tr h="512064">
                <a:tc rowSpan="4"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 lang="zh-CN" altLang="en-US">
                          <a:solidFill>
                            <a:srgbClr val="C039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先做</a:t>
                      </a:r>
                    </a:p>
                    <a:p>
                      <a:pPr algn="ct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 lang="zh-CN" altLang="en-US">
                          <a:solidFill>
                            <a:srgbClr val="646E7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v0.3</a:t>
                      </a:r>
                      <a:br>
                        <a:rPr lang="zh-CN" sz="1100">
                          <a:latin typeface="微软雅黑"/>
                          <a:ea typeface="微软雅黑"/>
                          <a:cs typeface="微软雅黑"/>
                        </a:rPr>
                      </a:br>
                      <a:r>
                        <a:rPr sz="1100" b="0" i="0" lang="zh-CN" altLang="en-US">
                          <a:solidFill>
                            <a:srgbClr val="646E7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风险点</a:t>
                      </a:r>
                    </a:p>
                  </a:txBody>
                  <a:tcPr marL="91440" marT="27432" marR="7315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 lang="zh-CN" altLang="en-US">
                          <a:solidFill>
                            <a:srgbClr val="1F4E9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</a:t>
                      </a:r>
                    </a:p>
                  </a:txBody>
                  <a:tcPr marL="91440" marT="27432" marR="7315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 lang="zh-CN" altLang="en-US">
                          <a:solidFill>
                            <a:srgbClr val="2731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新开始氧疗：O2_NEW 就诊数（起点 24 小时内 / 之后）、GD 氧疗医嘱时长分档、“必要时”氧疗行数</a:t>
                      </a:r>
                    </a:p>
                  </a:txBody>
                  <a:tcPr marL="91440" marT="27432" marR="7315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 lang="zh-CN" altLang="en-US">
                          <a:solidFill>
                            <a:srgbClr val="2731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对齐报告、回执、小脚本</a:t>
                      </a:r>
                    </a:p>
                  </a:txBody>
                  <a:tcPr marL="91440" marT="27432" marR="7315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 lang="zh-CN" altLang="en-US">
                          <a:solidFill>
                            <a:srgbClr val="11376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按中心计数</a:t>
                      </a:r>
                    </a:p>
                  </a:txBody>
                  <a:tcPr marL="91440" marT="27432" marR="7315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 vMerge="1"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91440" marT="27432" marR="7315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 lang="zh-CN" altLang="en-US">
                          <a:solidFill>
                            <a:srgbClr val="1F4E9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</a:t>
                      </a:r>
                    </a:p>
                  </a:txBody>
                  <a:tcPr marL="91440" marT="27432" marR="7315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 lang="zh-CN" altLang="en-US">
                          <a:solidFill>
                            <a:srgbClr val="2731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给氧前后 24 小时内是否有低氧：吸空气 SpO2 ≤ 93%、PaO2/FiO2 ≤ 300 或 RR ≥ 30</a:t>
                      </a:r>
                    </a:p>
                  </a:txBody>
                  <a:tcPr marL="91440" marT="27432" marR="7315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 lang="zh-CN" altLang="en-US">
                          <a:solidFill>
                            <a:srgbClr val="2731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events + 小脚本</a:t>
                      </a:r>
                    </a:p>
                  </a:txBody>
                  <a:tcPr marL="91440" marT="27432" marR="7315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 lang="zh-CN" altLang="en-US">
                          <a:solidFill>
                            <a:srgbClr val="11376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有 / 没有 各几例</a:t>
                      </a:r>
                    </a:p>
                  </a:txBody>
                  <a:tcPr marL="91440" marT="27432" marR="7315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 vMerge="1"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91440" marT="27432" marR="7315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 lang="zh-CN" altLang="en-US">
                          <a:solidFill>
                            <a:srgbClr val="1F4E9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13</a:t>
                      </a:r>
                    </a:p>
                  </a:txBody>
                  <a:tcPr marL="91440" marT="27432" marR="7315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 lang="zh-CN" altLang="en-US">
                          <a:solidFill>
                            <a:srgbClr val="2731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ICU 科室名称：认成 ICU 的、被排除的（如“呼吸与危重症医学科”）；术后转入住院数</a:t>
                      </a:r>
                    </a:p>
                  </a:txBody>
                  <a:tcPr marL="91440" marT="27432" marR="7315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 lang="zh-CN" altLang="en-US">
                          <a:solidFill>
                            <a:srgbClr val="2731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对齐报告、科室清单</a:t>
                      </a:r>
                    </a:p>
                  </a:txBody>
                  <a:tcPr marL="91440" marT="27432" marR="7315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 lang="zh-CN" altLang="en-US">
                          <a:solidFill>
                            <a:srgbClr val="11376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名称 + 住院数</a:t>
                      </a:r>
                    </a:p>
                  </a:txBody>
                  <a:tcPr marL="91440" marT="27432" marR="7315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 vMerge="1"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91440" marT="27432" marR="7315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 lang="zh-CN" altLang="en-US">
                          <a:solidFill>
                            <a:srgbClr val="1F4E9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14</a:t>
                      </a:r>
                    </a:p>
                  </a:txBody>
                  <a:tcPr marL="91440" marT="27432" marR="7315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 lang="zh-CN" altLang="en-US">
                          <a:solidFill>
                            <a:srgbClr val="2731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长期家庭氧疗（COM018）、家庭无创（COM019）的住院数与被排除的命中数</a:t>
                      </a:r>
                    </a:p>
                  </a:txBody>
                  <a:tcPr marL="91440" marT="27432" marR="7315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 lang="zh-CN" altLang="en-US">
                          <a:solidFill>
                            <a:srgbClr val="2731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分级页的排除命中</a:t>
                      </a:r>
                    </a:p>
                  </a:txBody>
                  <a:tcPr marL="91440" marT="27432" marR="7315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 lang="zh-CN" altLang="en-US">
                          <a:solidFill>
                            <a:srgbClr val="11376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按中心计数</a:t>
                      </a:r>
                    </a:p>
                  </a:txBody>
                  <a:tcPr marL="91440" marT="27432" marR="7315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 rowSpan="3"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 lang="zh-CN" altLang="en-US">
                          <a:solidFill>
                            <a:srgbClr val="1F4E9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其次</a:t>
                      </a:r>
                    </a:p>
                    <a:p>
                      <a:pPr algn="ct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 lang="zh-CN" altLang="en-US">
                          <a:solidFill>
                            <a:srgbClr val="646E7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对齐质量</a:t>
                      </a:r>
                    </a:p>
                  </a:txBody>
                  <a:tcPr marL="91440" marT="27432" marR="7315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DCE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 lang="zh-CN" altLang="en-US">
                          <a:solidFill>
                            <a:srgbClr val="1F4E9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</a:t>
                      </a:r>
                    </a:p>
                  </a:txBody>
                  <a:tcPr marL="91440" marT="27432" marR="7315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 lang="zh-CN" altLang="en-US">
                          <a:solidFill>
                            <a:srgbClr val="2731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统一文字规则前后，各症状、基础病、并发症的阳性数</a:t>
                      </a:r>
                    </a:p>
                  </a:txBody>
                  <a:tcPr marL="91440" marT="27432" marR="7315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 lang="zh-CN" altLang="en-US">
                          <a:solidFill>
                            <a:srgbClr val="2731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两份对齐报告</a:t>
                      </a:r>
                    </a:p>
                  </a:txBody>
                  <a:tcPr marL="91440" marT="27432" marR="7315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 lang="zh-CN" altLang="en-US">
                          <a:solidFill>
                            <a:srgbClr val="11376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中心 × 数据项</a:t>
                      </a:r>
                    </a:p>
                  </a:txBody>
                  <a:tcPr marL="91440" marT="27432" marR="7315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 vMerge="1"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91440" marT="27432" marR="7315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 lang="zh-CN" altLang="en-US">
                          <a:solidFill>
                            <a:srgbClr val="1F4E9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</a:t>
                      </a:r>
                    </a:p>
                  </a:txBody>
                  <a:tcPr marL="91440" marT="27432" marR="7315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 lang="zh-CN" altLang="en-US">
                          <a:solidFill>
                            <a:srgbClr val="2731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GD 诊断编码规则与名称规则的一致性</a:t>
                      </a:r>
                    </a:p>
                  </a:txBody>
                  <a:tcPr marL="91440" marT="27432" marR="7315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 lang="zh-CN" altLang="en-US">
                          <a:solidFill>
                            <a:srgbClr val="2731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对齐报告</a:t>
                      </a:r>
                    </a:p>
                  </a:txBody>
                  <a:tcPr marL="91440" marT="27432" marR="7315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 lang="zh-CN" altLang="en-US">
                          <a:solidFill>
                            <a:srgbClr val="11376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一致 / 只编码 / 只名称</a:t>
                      </a:r>
                    </a:p>
                  </a:txBody>
                  <a:tcPr marL="91440" marT="27432" marR="7315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 vMerge="1"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91440" marT="27432" marR="7315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 lang="zh-CN" altLang="en-US">
                          <a:solidFill>
                            <a:srgbClr val="1F4E9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</a:t>
                      </a:r>
                    </a:p>
                  </a:txBody>
                  <a:tcPr marL="91440" marT="27432" marR="7315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 lang="zh-CN" altLang="en-US">
                          <a:solidFill>
                            <a:srgbClr val="2731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两院的流感检测名称、ICU 科室名称</a:t>
                      </a:r>
                    </a:p>
                  </a:txBody>
                  <a:tcPr marL="91440" marT="27432" marR="7315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 lang="zh-CN" altLang="en-US">
                          <a:solidFill>
                            <a:srgbClr val="2731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labs、encounters</a:t>
                      </a:r>
                    </a:p>
                  </a:txBody>
                  <a:tcPr marL="91440" marT="27432" marR="7315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 lang="zh-CN" altLang="en-US">
                          <a:solidFill>
                            <a:srgbClr val="11376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名称清单</a:t>
                      </a:r>
                    </a:p>
                  </a:txBody>
                  <a:tcPr marL="91440" marT="27432" marR="7315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502920" y="5340096"/>
            <a:ext cx="1118311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暂缓：</a:t>
            </a:r>
            <a:r>
              <a:rPr sz="115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第 1 项要对照检验报告单；第 3、5、6 项依赖阶段 1 还没做的功能；第 9 项等站点可区分性审计脚本；第 7、10 项下周再做。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顶部色条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E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标题栏"/>
          <p:cNvSpPr/>
          <p:nvPr/>
        </p:nvSpPr>
        <p:spPr>
          <a:xfrm>
            <a:off x="0" y="219456"/>
            <a:ext cx="9418320" cy="530352"/>
          </a:xfrm>
          <a:prstGeom prst="rect">
            <a:avLst/>
          </a:prstGeom>
          <a:solidFill>
            <a:srgbClr val="4075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章节标签"/>
          <p:cNvSpPr/>
          <p:nvPr/>
        </p:nvSpPr>
        <p:spPr>
          <a:xfrm>
            <a:off x="320040" y="301752"/>
            <a:ext cx="666496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36576" tIns="18288" rIns="36576" bIns="18288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zh-CN" altLang="en-US">
                <a:solidFill>
                  <a:srgbClr val="1F4E94"/>
                </a:solidFill>
                <a:latin typeface="微软雅黑"/>
                <a:ea typeface="微软雅黑"/>
                <a:cs typeface="微软雅黑"/>
              </a:rPr>
              <a:t>决定</a:t>
            </a:r>
          </a:p>
        </p:txBody>
      </p:sp>
      <p:sp>
        <p:nvSpPr>
          <p:cNvPr id="5" name="标题"/>
          <p:cNvSpPr txBox="1"/>
          <p:nvPr/>
        </p:nvSpPr>
        <p:spPr>
          <a:xfrm>
            <a:off x="1132839" y="219456"/>
            <a:ext cx="814832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两件这个周末定，五件下周组会前定</a:t>
            </a:r>
          </a:p>
        </p:txBody>
      </p:sp>
      <p:sp>
        <p:nvSpPr>
          <p:cNvPr id="6" name="分隔线"/>
          <p:cNvSpPr/>
          <p:nvPr/>
        </p:nvSpPr>
        <p:spPr>
          <a:xfrm>
            <a:off x="457200" y="896112"/>
            <a:ext cx="11228832" cy="36576"/>
          </a:xfrm>
          <a:prstGeom prst="rect">
            <a:avLst/>
          </a:prstGeom>
          <a:solidFill>
            <a:srgbClr val="00A4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关键信息条"/>
          <p:cNvSpPr/>
          <p:nvPr/>
        </p:nvSpPr>
        <p:spPr>
          <a:xfrm>
            <a:off x="502920" y="1024128"/>
            <a:ext cx="11183112" cy="457200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关键信息"/>
          <p:cNvSpPr txBox="1"/>
          <p:nvPr/>
        </p:nvSpPr>
        <p:spPr>
          <a:xfrm>
            <a:off x="685800" y="1024128"/>
            <a:ext cx="10817352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A 档决定归你：下面只列选项和理由；标“建议”的是参考，不是结论。</a:t>
            </a:r>
          </a:p>
        </p:txBody>
      </p:sp>
      <p:sp>
        <p:nvSpPr>
          <p:cNvPr id="9" name="结论框"/>
          <p:cNvSpPr/>
          <p:nvPr/>
        </p:nvSpPr>
        <p:spPr>
          <a:xfrm>
            <a:off x="502920" y="5870448"/>
            <a:ext cx="11183112" cy="420624"/>
          </a:xfrm>
          <a:prstGeom prst="rect">
            <a:avLst/>
          </a:prstGeom>
          <a:solidFill>
            <a:srgbClr val="FCEF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结论"/>
          <p:cNvSpPr txBox="1"/>
          <p:nvPr/>
        </p:nvSpPr>
        <p:spPr>
          <a:xfrm>
            <a:off x="685800" y="5870448"/>
            <a:ext cx="10817352" cy="42062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顺序：</a:t>
            </a:r>
            <a:r>
              <a:rPr sz="1500" b="0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周日先定上面两件，下周一 Claude 就能开工；下面五件不急，下周组会前定。</a:t>
            </a:r>
          </a:p>
        </p:txBody>
      </p:sp>
      <p:sp>
        <p:nvSpPr>
          <p:cNvPr id="11" name="页脚"/>
          <p:cNvSpPr txBox="1"/>
          <p:nvPr/>
        </p:nvSpPr>
        <p:spPr>
          <a:xfrm>
            <a:off x="502920" y="6455664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老年流感转重研究 · 本周总结与周末计划</a:t>
            </a:r>
          </a:p>
        </p:txBody>
      </p:sp>
      <p:sp>
        <p:nvSpPr>
          <p:cNvPr id="12" name="页码"/>
          <p:cNvSpPr txBox="1"/>
          <p:nvPr/>
        </p:nvSpPr>
        <p:spPr>
          <a:xfrm>
            <a:off x="10680192" y="6455664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E94C6DF0-C135-4796-87AC-E55F309466A2}" type="slidenum">
              <a:rPr lang="zh-CN" sz="1050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14</a:t>
            </a:fld>
          </a:p>
        </p:txBody>
      </p:sp>
      <p:sp>
        <p:nvSpPr>
          <p:cNvPr id="13" name="Rectangle 12"/>
          <p:cNvSpPr/>
          <p:nvPr/>
        </p:nvSpPr>
        <p:spPr>
          <a:xfrm>
            <a:off x="502920" y="1664208"/>
            <a:ext cx="5477256" cy="2523744"/>
          </a:xfrm>
          <a:prstGeom prst="rect">
            <a:avLst/>
          </a:prstGeom>
          <a:solidFill>
            <a:srgbClr val="FFFFFF"/>
          </a:solidFill>
          <a:ln w="9525">
            <a:solidFill>
              <a:srgbClr val="CDDAE8"/>
            </a:solidFill>
          </a:ln>
          <a:effectLst>
            <a:outerShdw blurRad="63500" dist="19050" dir="5400000" algn="t" rotWithShape="0">
              <a:srgbClr val="1F3B66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1664208"/>
            <a:ext cx="5477256" cy="420624"/>
          </a:xfrm>
          <a:prstGeom prst="rect">
            <a:avLst/>
          </a:prstGeom>
          <a:solidFill>
            <a:srgbClr val="1F4E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1664208"/>
            <a:ext cx="5202936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① 再住院的事件进不进标签（§8 第 11 项，A 档）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" y="2121408"/>
            <a:ext cx="5148072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现状：住院任务的标签只看本次住院；D73 只定了谁做索引。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542032"/>
            <a:ext cx="329184" cy="32918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4075BE"/>
            </a:solidFill>
          </a:ln>
        </p:spPr>
        <p:txBody>
          <a:bodyPr rtlCol="0" anchor="ctr" wrap="square" lIns="36576" tIns="18288" rIns="36576" bIns="18288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" y="2450592"/>
            <a:ext cx="4672584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不算（维持现状）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" y="2688336"/>
            <a:ext cx="467258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口径干净；但出院后 14 天内再住院才转重的会记成“未转重”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099816"/>
            <a:ext cx="329184" cy="32918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4075BE"/>
            </a:solidFill>
          </a:ln>
        </p:spPr>
        <p:txBody>
          <a:bodyPr rtlCol="0" anchor="ctr" wrap="square" lIns="36576" tIns="18288" rIns="36576" bIns="18288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" y="3008376"/>
            <a:ext cx="4672584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" y="3246120"/>
            <a:ext cx="467258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更贴近“病程”；但改变了标签定义，要出新版本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" y="3538728"/>
            <a:ext cx="5257800" cy="566928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85800" y="3657600"/>
            <a:ext cx="329184" cy="329184"/>
          </a:xfrm>
          <a:prstGeom prst="roundRect">
            <a:avLst>
              <a:gd name="adj" fmla="val 20000"/>
            </a:avLst>
          </a:prstGeom>
          <a:solidFill>
            <a:srgbClr val="1F4E94"/>
          </a:solidFill>
          <a:ln>
            <a:noFill/>
          </a:ln>
        </p:spPr>
        <p:txBody>
          <a:bodyPr rtlCol="0" anchor="ctr" wrap="square" lIns="36576" tIns="18288" rIns="36576" bIns="18288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" y="3566160"/>
            <a:ext cx="4672584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主分析不算、敏感性分析算</a:t>
            </a:r>
            <a:r>
              <a:rPr sz="1300" b="1" i="0" lang="zh-CN" altLang="en-US">
                <a:solidFill>
                  <a:srgbClr val="C0392B"/>
                </a:solidFill>
                <a:latin typeface="微软雅黑"/>
                <a:ea typeface="微软雅黑"/>
                <a:cs typeface="微软雅黑"/>
              </a:rPr>
              <a:t>　建议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" y="3803904"/>
            <a:ext cx="467258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先数一数真实数据里 14 天内再住院有多少，再定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08776" y="1664208"/>
            <a:ext cx="5477256" cy="2523744"/>
          </a:xfrm>
          <a:prstGeom prst="rect">
            <a:avLst/>
          </a:prstGeom>
          <a:solidFill>
            <a:srgbClr val="FFFFFF"/>
          </a:solidFill>
          <a:ln w="9525">
            <a:solidFill>
              <a:srgbClr val="CDDAE8"/>
            </a:solidFill>
          </a:ln>
          <a:effectLst>
            <a:outerShdw blurRad="63500" dist="19050" dir="5400000" algn="t" rotWithShape="0">
              <a:srgbClr val="1F3B66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8776" y="1664208"/>
            <a:ext cx="5477256" cy="420624"/>
          </a:xfrm>
          <a:prstGeom prst="rect">
            <a:avLst/>
          </a:prstGeom>
          <a:solidFill>
            <a:srgbClr val="1F4E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45936" y="1664208"/>
            <a:ext cx="5202936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② 阶段 1 其余项开不开工（§8 第 14 项，非 A 档）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73368" y="2194560"/>
            <a:ext cx="5148072" cy="14813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82880" indent="-182880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buClr>
                <a:srgbClr val="4075BE"/>
              </a:buClr>
              <a:buFont typeface="Arial"/>
              <a:buChar char="•"/>
            </a:pPr>
            <a:r>
              <a:rPr sz="125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GD 也从出院记录认转院、转科；转院的结局记“不可观测”</a:t>
            </a:r>
          </a:p>
          <a:p>
            <a:pPr algn="l" marL="182880" indent="-182880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buClr>
                <a:srgbClr val="4075BE"/>
              </a:buClr>
              <a:buFont typeface="Arial"/>
              <a:buChar char="•"/>
            </a:pPr>
            <a:r>
              <a:rPr sz="125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胸部 CT / X 线报告的结论栏认肺炎（两院同一条规则）</a:t>
            </a:r>
          </a:p>
          <a:p>
            <a:pPr algn="l" marL="182880" indent="-182880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buClr>
                <a:srgbClr val="4075BE"/>
              </a:buClr>
              <a:buFont typeface="Arial"/>
              <a:buChar char="•"/>
            </a:pPr>
            <a:r>
              <a:rPr sz="125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共用药品对应表、流感检测对应表</a:t>
            </a:r>
          </a:p>
          <a:p>
            <a:pPr algn="l" marL="182880" indent="-182880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buClr>
                <a:srgbClr val="4075BE"/>
              </a:buClr>
              <a:buFont typeface="Arial"/>
              <a:buChar char="•"/>
            </a:pPr>
            <a:r>
              <a:rPr sz="125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每条记录标来源类型；检验另存报告时间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18504" y="3730752"/>
            <a:ext cx="5257800" cy="347472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28232" y="3730752"/>
            <a:ext cx="5038344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同意即可开工；全部在虚构数据上开发和测试。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4279392"/>
            <a:ext cx="11183112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可以缓到下周组会前定（A 档或治理）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4608576"/>
            <a:ext cx="2126894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CDDAE8"/>
            </a:solidFill>
          </a:ln>
          <a:effectLst>
            <a:outerShdw blurRad="63500" dist="19050" dir="5400000" algn="t" rotWithShape="0">
              <a:srgbClr val="1F3B66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2648" y="4663440"/>
            <a:ext cx="1907438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发布层兼容 MEDS？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2648" y="5047488"/>
            <a:ext cx="1907438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放在 flucase 里，还是单独做成工具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66974" y="4608576"/>
            <a:ext cx="2126894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CDDAE8"/>
            </a:solidFill>
          </a:ln>
          <a:effectLst>
            <a:outerShdw blurRad="63500" dist="19050" dir="5400000" algn="t" rotWithShape="0">
              <a:srgbClr val="1F3B66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876702" y="4663440"/>
            <a:ext cx="1907438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支持哪几种切分？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76702" y="5047488"/>
            <a:ext cx="1907438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按病人、按流感季、按中心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31028" y="4608576"/>
            <a:ext cx="2126894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CDDAE8"/>
            </a:solidFill>
          </a:ln>
          <a:effectLst>
            <a:outerShdw blurRad="63500" dist="19050" dir="5400000" algn="t" rotWithShape="0">
              <a:srgbClr val="1F3B66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40756" y="4663440"/>
            <a:ext cx="1907438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首次发布前留封存样本？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40756" y="5047488"/>
            <a:ext cx="1907438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发布后再收回就晚了（MIMIC-IV 的做法）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295083" y="4608576"/>
            <a:ext cx="2126894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CDDAE8"/>
            </a:solidFill>
          </a:ln>
          <a:effectLst>
            <a:outerShdw blurRad="63500" dist="19050" dir="5400000" algn="t" rotWithShape="0">
              <a:srgbClr val="1F3B66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04811" y="4663440"/>
            <a:ext cx="1907438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院内发病进主人群？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04811" y="5047488"/>
            <a:ext cx="1907438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GAM 有 109/173 次住院首次阳性在入院 48 小时后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559137" y="4608576"/>
            <a:ext cx="2126894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CDDAE8"/>
            </a:solidFill>
          </a:ln>
          <a:effectLst>
            <a:outerShdw blurRad="63500" dist="19050" dir="5400000" algn="t" rotWithShape="0">
              <a:srgbClr val="1F3B66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668865" y="4663440"/>
            <a:ext cx="1907438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跨院只用最小公共数据集？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68865" y="5047488"/>
            <a:ext cx="1907438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年龄、症状、体温、SpO2 等门急诊拿得到的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顶部色条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E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标题栏"/>
          <p:cNvSpPr/>
          <p:nvPr/>
        </p:nvSpPr>
        <p:spPr>
          <a:xfrm>
            <a:off x="0" y="219456"/>
            <a:ext cx="9418320" cy="530352"/>
          </a:xfrm>
          <a:prstGeom prst="rect">
            <a:avLst/>
          </a:prstGeom>
          <a:solidFill>
            <a:srgbClr val="4075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章节标签"/>
          <p:cNvSpPr/>
          <p:nvPr/>
        </p:nvSpPr>
        <p:spPr>
          <a:xfrm>
            <a:off x="320040" y="301752"/>
            <a:ext cx="844296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36576" tIns="18288" rIns="36576" bIns="18288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zh-CN" altLang="en-US">
                <a:solidFill>
                  <a:srgbClr val="1F4E94"/>
                </a:solidFill>
                <a:latin typeface="微软雅黑"/>
                <a:ea typeface="微软雅黑"/>
                <a:cs typeface="微软雅黑"/>
              </a:rPr>
              <a:t>下一步</a:t>
            </a:r>
          </a:p>
        </p:txBody>
      </p:sp>
      <p:sp>
        <p:nvSpPr>
          <p:cNvPr id="5" name="标题"/>
          <p:cNvSpPr txBox="1"/>
          <p:nvPr/>
        </p:nvSpPr>
        <p:spPr>
          <a:xfrm>
            <a:off x="1310640" y="219456"/>
            <a:ext cx="797052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下周衔接：从计数到结论，赶在流感季前</a:t>
            </a:r>
          </a:p>
        </p:txBody>
      </p:sp>
      <p:sp>
        <p:nvSpPr>
          <p:cNvPr id="6" name="分隔线"/>
          <p:cNvSpPr/>
          <p:nvPr/>
        </p:nvSpPr>
        <p:spPr>
          <a:xfrm>
            <a:off x="457200" y="896112"/>
            <a:ext cx="11228832" cy="36576"/>
          </a:xfrm>
          <a:prstGeom prst="rect">
            <a:avLst/>
          </a:prstGeom>
          <a:solidFill>
            <a:srgbClr val="00A4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关键信息条"/>
          <p:cNvSpPr/>
          <p:nvPr/>
        </p:nvSpPr>
        <p:spPr>
          <a:xfrm>
            <a:off x="502920" y="1024128"/>
            <a:ext cx="11183112" cy="457200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关键信息"/>
          <p:cNvSpPr txBox="1"/>
          <p:nvPr/>
        </p:nvSpPr>
        <p:spPr>
          <a:xfrm>
            <a:off x="685800" y="1024128"/>
            <a:ext cx="10817352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关键路径：计数交回 → 定稿口径与读取器 → 医生试用 → 流感高峰前上线前瞻收集。</a:t>
            </a:r>
          </a:p>
        </p:txBody>
      </p:sp>
      <p:sp>
        <p:nvSpPr>
          <p:cNvPr id="9" name="结论框"/>
          <p:cNvSpPr/>
          <p:nvPr/>
        </p:nvSpPr>
        <p:spPr>
          <a:xfrm>
            <a:off x="502920" y="5870448"/>
            <a:ext cx="11183112" cy="420624"/>
          </a:xfrm>
          <a:prstGeom prst="rect">
            <a:avLst/>
          </a:prstGeom>
          <a:solidFill>
            <a:srgbClr val="FCEF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结论"/>
          <p:cNvSpPr txBox="1"/>
          <p:nvPr/>
        </p:nvSpPr>
        <p:spPr>
          <a:xfrm>
            <a:off x="685800" y="5870448"/>
            <a:ext cx="10817352" cy="42062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11 月底前要有：</a:t>
            </a:r>
            <a:r>
              <a:rPr sz="1500" b="0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v0.3 在两院的真实计数、定稿的口径、可复现的 std_v3 数据包，和六模型汇总表。</a:t>
            </a:r>
          </a:p>
        </p:txBody>
      </p:sp>
      <p:sp>
        <p:nvSpPr>
          <p:cNvPr id="11" name="页脚"/>
          <p:cNvSpPr txBox="1"/>
          <p:nvPr/>
        </p:nvSpPr>
        <p:spPr>
          <a:xfrm>
            <a:off x="502920" y="6455664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老年流感转重研究 · 本周总结与周末计划</a:t>
            </a:r>
          </a:p>
        </p:txBody>
      </p:sp>
      <p:sp>
        <p:nvSpPr>
          <p:cNvPr id="12" name="页码"/>
          <p:cNvSpPr txBox="1"/>
          <p:nvPr/>
        </p:nvSpPr>
        <p:spPr>
          <a:xfrm>
            <a:off x="10680192" y="6455664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4CBB4C75-F099-42DD-8480-360EF70BD523}" type="slidenum">
              <a:rPr lang="zh-CN" sz="1050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15</a:t>
            </a:fld>
          </a:p>
        </p:txBody>
      </p:sp>
      <p:cxnSp>
        <p:nvCxnSpPr>
          <p:cNvPr id="13" name="Connector 12"/>
          <p:cNvCxnSpPr/>
          <p:nvPr/>
        </p:nvCxnSpPr>
        <p:spPr>
          <a:xfrm>
            <a:off x="777240" y="2212848"/>
            <a:ext cx="10607040" cy="0"/>
          </a:xfrm>
          <a:prstGeom prst="line">
            <a:avLst/>
          </a:prstGeom>
          <a:ln w="31750">
            <a:solidFill>
              <a:srgbClr val="1F4E94"/>
            </a:solidFill>
            <a:tailEnd type="triangle" w="med" len="med"/>
          </a:ln>
        </p:spPr>
      </p:cxnSp>
      <p:sp>
        <p:nvSpPr>
          <p:cNvPr id="14" name="Oval 13"/>
          <p:cNvSpPr/>
          <p:nvPr/>
        </p:nvSpPr>
        <p:spPr>
          <a:xfrm>
            <a:off x="1115568" y="2093976"/>
            <a:ext cx="237744" cy="237744"/>
          </a:xfrm>
          <a:prstGeom prst="ellipse">
            <a:avLst/>
          </a:prstGeom>
          <a:solidFill>
            <a:srgbClr val="00A4CB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" y="1609344"/>
            <a:ext cx="1572768" cy="438912"/>
          </a:xfrm>
          <a:prstGeom prst="rect">
            <a:avLst/>
          </a:prstGeom>
          <a:noFill/>
        </p:spPr>
        <p:txBody>
          <a:bodyPr wrap="square" lIns="45720" tIns="27432" rIns="45720" bIns="27432" anchor="b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10-26 周一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" y="2395728"/>
            <a:ext cx="1572768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交回计数；改规则、</a:t>
            </a:r>
            <a:br>
              <a:rPr lang="zh-CN" sz="1200">
                <a:latin typeface="微软雅黑"/>
                <a:ea typeface="微软雅黑"/>
                <a:cs typeface="微软雅黑"/>
              </a:rPr>
            </a:br>
            <a:r>
              <a:rPr sz="120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开阶段 1 其余项</a:t>
            </a:r>
          </a:p>
        </p:txBody>
      </p:sp>
      <p:sp>
        <p:nvSpPr>
          <p:cNvPr id="17" name="Oval 16"/>
          <p:cNvSpPr/>
          <p:nvPr/>
        </p:nvSpPr>
        <p:spPr>
          <a:xfrm>
            <a:off x="2731008" y="2093976"/>
            <a:ext cx="237744" cy="237744"/>
          </a:xfrm>
          <a:prstGeom prst="ellipse">
            <a:avLst/>
          </a:prstGeom>
          <a:solidFill>
            <a:srgbClr val="00A4CB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63496" y="1609344"/>
            <a:ext cx="1572768" cy="438912"/>
          </a:xfrm>
          <a:prstGeom prst="rect">
            <a:avLst/>
          </a:prstGeom>
          <a:noFill/>
        </p:spPr>
        <p:txBody>
          <a:bodyPr wrap="square" lIns="45720" tIns="27432" rIns="45720" bIns="27432" anchor="b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10-27–28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63496" y="2395728"/>
            <a:ext cx="1572768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医生可用性测试</a:t>
            </a:r>
            <a:br>
              <a:rPr lang="zh-CN" sz="1200">
                <a:latin typeface="微软雅黑"/>
                <a:ea typeface="微软雅黑"/>
                <a:cs typeface="微软雅黑"/>
              </a:rPr>
            </a:br>
            <a:r>
              <a:rPr sz="120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1–2 位，虚构样例</a:t>
            </a:r>
          </a:p>
        </p:txBody>
      </p:sp>
      <p:sp>
        <p:nvSpPr>
          <p:cNvPr id="20" name="Oval 19"/>
          <p:cNvSpPr/>
          <p:nvPr/>
        </p:nvSpPr>
        <p:spPr>
          <a:xfrm>
            <a:off x="4346448" y="2093976"/>
            <a:ext cx="237744" cy="237744"/>
          </a:xfrm>
          <a:prstGeom prst="ellipse">
            <a:avLst/>
          </a:prstGeom>
          <a:solidFill>
            <a:srgbClr val="00A4CB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78935" y="1609344"/>
            <a:ext cx="1572768" cy="438912"/>
          </a:xfrm>
          <a:prstGeom prst="rect">
            <a:avLst/>
          </a:prstGeom>
          <a:noFill/>
        </p:spPr>
        <p:txBody>
          <a:bodyPr wrap="square" lIns="45720" tIns="27432" rIns="45720" bIns="27432" anchor="b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10-29–30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78935" y="2395728"/>
            <a:ext cx="1572768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v0.3 两院真实</a:t>
            </a:r>
            <a:br>
              <a:rPr lang="zh-CN" sz="1200">
                <a:latin typeface="微软雅黑"/>
                <a:ea typeface="微软雅黑"/>
                <a:cs typeface="微软雅黑"/>
              </a:rPr>
            </a:br>
            <a:r>
              <a:rPr sz="120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结局计数小结</a:t>
            </a:r>
          </a:p>
        </p:txBody>
      </p:sp>
      <p:sp>
        <p:nvSpPr>
          <p:cNvPr id="23" name="Oval 22"/>
          <p:cNvSpPr/>
          <p:nvPr/>
        </p:nvSpPr>
        <p:spPr>
          <a:xfrm>
            <a:off x="5961888" y="2093976"/>
            <a:ext cx="237744" cy="237744"/>
          </a:xfrm>
          <a:prstGeom prst="ellipse">
            <a:avLst/>
          </a:prstGeom>
          <a:solidFill>
            <a:srgbClr val="1F4E94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94376" y="1609344"/>
            <a:ext cx="1572768" cy="438912"/>
          </a:xfrm>
          <a:prstGeom prst="rect">
            <a:avLst/>
          </a:prstGeom>
          <a:noFill/>
        </p:spPr>
        <p:txBody>
          <a:bodyPr wrap="square" lIns="45720" tIns="27432" rIns="45720" bIns="27432" anchor="b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合作同学结果到后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94376" y="2395728"/>
            <a:ext cx="1572768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六模型汇总表</a:t>
            </a:r>
            <a:br>
              <a:rPr lang="zh-CN" sz="1200">
                <a:latin typeface="微软雅黑"/>
                <a:ea typeface="微软雅黑"/>
                <a:cs typeface="微软雅黑"/>
              </a:rPr>
            </a:br>
            <a:r>
              <a:rPr sz="120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与配对比较</a:t>
            </a:r>
          </a:p>
        </p:txBody>
      </p:sp>
      <p:sp>
        <p:nvSpPr>
          <p:cNvPr id="26" name="Oval 25"/>
          <p:cNvSpPr/>
          <p:nvPr/>
        </p:nvSpPr>
        <p:spPr>
          <a:xfrm>
            <a:off x="7577327" y="2093976"/>
            <a:ext cx="237744" cy="237744"/>
          </a:xfrm>
          <a:prstGeom prst="ellipse">
            <a:avLst/>
          </a:prstGeom>
          <a:solidFill>
            <a:srgbClr val="00A4CB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09815" y="1609344"/>
            <a:ext cx="1572768" cy="438912"/>
          </a:xfrm>
          <a:prstGeom prst="rect">
            <a:avLst/>
          </a:prstGeom>
          <a:noFill/>
        </p:spPr>
        <p:txBody>
          <a:bodyPr wrap="square" lIns="45720" tIns="27432" rIns="45720" bIns="27432" anchor="b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11 月初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9815" y="2395728"/>
            <a:ext cx="1572768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GD、GAM 医生</a:t>
            </a:r>
            <a:br>
              <a:rPr lang="zh-CN" sz="1200">
                <a:latin typeface="微软雅黑"/>
                <a:ea typeface="微软雅黑"/>
                <a:cs typeface="微软雅黑"/>
              </a:rPr>
            </a:br>
            <a:r>
              <a:rPr sz="120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用真实数据试导</a:t>
            </a:r>
          </a:p>
        </p:txBody>
      </p:sp>
      <p:sp>
        <p:nvSpPr>
          <p:cNvPr id="29" name="Oval 28"/>
          <p:cNvSpPr/>
          <p:nvPr/>
        </p:nvSpPr>
        <p:spPr>
          <a:xfrm>
            <a:off x="9192767" y="2093976"/>
            <a:ext cx="237744" cy="237744"/>
          </a:xfrm>
          <a:prstGeom prst="ellipse">
            <a:avLst/>
          </a:prstGeom>
          <a:solidFill>
            <a:srgbClr val="00A4CB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25256" y="1609344"/>
            <a:ext cx="1572768" cy="438912"/>
          </a:xfrm>
          <a:prstGeom prst="rect">
            <a:avLst/>
          </a:prstGeom>
          <a:noFill/>
        </p:spPr>
        <p:txBody>
          <a:bodyPr wrap="square" lIns="45720" tIns="27432" rIns="45720" bIns="27432" anchor="b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11 月中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25256" y="2395728"/>
            <a:ext cx="1572768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前瞻录入表单</a:t>
            </a:r>
            <a:br>
              <a:rPr lang="zh-CN" sz="1200">
                <a:latin typeface="微软雅黑"/>
                <a:ea typeface="微软雅黑"/>
                <a:cs typeface="微软雅黑"/>
              </a:rPr>
            </a:br>
            <a:r>
              <a:rPr sz="120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v1 定稿</a:t>
            </a:r>
          </a:p>
        </p:txBody>
      </p:sp>
      <p:sp>
        <p:nvSpPr>
          <p:cNvPr id="32" name="Oval 31"/>
          <p:cNvSpPr/>
          <p:nvPr/>
        </p:nvSpPr>
        <p:spPr>
          <a:xfrm>
            <a:off x="10808207" y="2093976"/>
            <a:ext cx="237744" cy="237744"/>
          </a:xfrm>
          <a:prstGeom prst="ellipse">
            <a:avLst/>
          </a:prstGeom>
          <a:solidFill>
            <a:srgbClr val="C0392B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140696" y="1609344"/>
            <a:ext cx="1572768" cy="438912"/>
          </a:xfrm>
          <a:prstGeom prst="rect">
            <a:avLst/>
          </a:prstGeom>
          <a:noFill/>
        </p:spPr>
        <p:txBody>
          <a:bodyPr wrap="square" lIns="45720" tIns="27432" rIns="45720" bIns="27432" anchor="b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lang="zh-CN" altLang="en-US">
                <a:solidFill>
                  <a:srgbClr val="C0392B"/>
                </a:solidFill>
                <a:latin typeface="微软雅黑"/>
                <a:ea typeface="微软雅黑"/>
                <a:cs typeface="微软雅黑"/>
              </a:rPr>
              <a:t>12 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40696" y="2395728"/>
            <a:ext cx="1572768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流感高峰</a:t>
            </a:r>
          </a:p>
        </p:txBody>
      </p:sp>
      <p:sp>
        <p:nvSpPr>
          <p:cNvPr id="35" name="Oval 34"/>
          <p:cNvSpPr/>
          <p:nvPr/>
        </p:nvSpPr>
        <p:spPr>
          <a:xfrm>
            <a:off x="7379208" y="2944368"/>
            <a:ext cx="146304" cy="146304"/>
          </a:xfrm>
          <a:prstGeom prst="ellipse">
            <a:avLst/>
          </a:prstGeom>
          <a:solidFill>
            <a:srgbClr val="00A4CB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71232" y="2889504"/>
            <a:ext cx="1280160" cy="256032"/>
          </a:xfrm>
          <a:prstGeom prst="rect">
            <a:avLst/>
          </a:prstGeom>
          <a:noFill/>
        </p:spPr>
        <p:txBody>
          <a:bodyPr wrap="square" lIns="18288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flucase / 医院线</a:t>
            </a:r>
          </a:p>
        </p:txBody>
      </p:sp>
      <p:sp>
        <p:nvSpPr>
          <p:cNvPr id="37" name="Oval 36"/>
          <p:cNvSpPr/>
          <p:nvPr/>
        </p:nvSpPr>
        <p:spPr>
          <a:xfrm>
            <a:off x="8842248" y="2944368"/>
            <a:ext cx="146304" cy="146304"/>
          </a:xfrm>
          <a:prstGeom prst="ellipse">
            <a:avLst/>
          </a:prstGeom>
          <a:solidFill>
            <a:srgbClr val="1F4E94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34272" y="2889504"/>
            <a:ext cx="1280160" cy="256032"/>
          </a:xfrm>
          <a:prstGeom prst="rect">
            <a:avLst/>
          </a:prstGeom>
          <a:noFill/>
        </p:spPr>
        <p:txBody>
          <a:bodyPr wrap="square" lIns="18288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六模型实验</a:t>
            </a:r>
          </a:p>
        </p:txBody>
      </p:sp>
      <p:sp>
        <p:nvSpPr>
          <p:cNvPr id="39" name="Oval 38"/>
          <p:cNvSpPr/>
          <p:nvPr/>
        </p:nvSpPr>
        <p:spPr>
          <a:xfrm>
            <a:off x="10305288" y="2944368"/>
            <a:ext cx="146304" cy="146304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497312" y="2889504"/>
            <a:ext cx="1280160" cy="256032"/>
          </a:xfrm>
          <a:prstGeom prst="rect">
            <a:avLst/>
          </a:prstGeom>
          <a:noFill/>
        </p:spPr>
        <p:txBody>
          <a:bodyPr wrap="square" lIns="18288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流感季</a:t>
            </a:r>
          </a:p>
        </p:txBody>
      </p:sp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502920" y="3255264"/>
          <a:ext cx="11183111" cy="235915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43200"/>
                <a:gridCol w="3977639"/>
                <a:gridCol w="4462272"/>
              </a:tblGrid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风险</a:t>
                      </a:r>
                    </a:p>
                  </a:txBody>
                  <a:tcPr marL="91440" marT="27432" marR="7315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4E9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要盯的信号</a:t>
                      </a:r>
                    </a:p>
                  </a:txBody>
                  <a:tcPr marL="91440" marT="27432" marR="7315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4E9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对策</a:t>
                      </a:r>
                    </a:p>
                  </a:txBody>
                  <a:tcPr marL="91440" marT="27432" marR="7315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4E94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 lang="zh-CN" altLang="en-US">
                          <a:solidFill>
                            <a:srgbClr val="11376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氧疗代理在两院检出机会不同</a:t>
                      </a:r>
                    </a:p>
                  </a:txBody>
                  <a:tcPr marL="91440" marT="27432" marR="7315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 lang="zh-CN" altLang="en-US">
                          <a:solidFill>
                            <a:srgbClr val="2731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GD 的 O2_NEW 远多于 GAM；给氧时多数没有低氧</a:t>
                      </a:r>
                    </a:p>
                  </a:txBody>
                  <a:tcPr marL="91440" marT="27432" marR="7315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 lang="zh-CN" altLang="en-US">
                          <a:solidFill>
                            <a:srgbClr val="2731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按中心分层报告；用 guideline 口径量出代理贡献了多少事件</a:t>
                      </a:r>
                    </a:p>
                  </a:txBody>
                  <a:tcPr marL="91440" marT="27432" marR="7315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 lang="zh-CN" altLang="en-US">
                          <a:solidFill>
                            <a:srgbClr val="11376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ICU 科室名称误判</a:t>
                      </a:r>
                    </a:p>
                  </a:txBody>
                  <a:tcPr marL="91440" marT="27432" marR="7315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 lang="zh-CN" altLang="en-US">
                          <a:solidFill>
                            <a:srgbClr val="2731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“呼吸与危重症医学科”这类普通病房被认成 ICU</a:t>
                      </a:r>
                    </a:p>
                  </a:txBody>
                  <a:tcPr marL="91440" marT="27432" marR="7315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 lang="zh-CN" altLang="en-US">
                          <a:solidFill>
                            <a:srgbClr val="2731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v0.3 已排除；看第 13 项的名称清单再补规则</a:t>
                      </a:r>
                    </a:p>
                  </a:txBody>
                  <a:tcPr marL="91440" marT="27432" marR="7315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 lang="zh-CN" altLang="en-US">
                          <a:solidFill>
                            <a:srgbClr val="11376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GD 检验迟迟补不上编号</a:t>
                      </a:r>
                    </a:p>
                  </a:txBody>
                  <a:tcPr marL="91440" marT="27432" marR="7315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 lang="zh-CN" altLang="en-US">
                          <a:solidFill>
                            <a:srgbClr val="2731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只有 JZH 的检验进不了库，检验覆盖率偏低</a:t>
                      </a:r>
                    </a:p>
                  </a:txBody>
                  <a:tcPr marL="91440" marT="27432" marR="7315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 lang="zh-CN" altLang="en-US">
                          <a:solidFill>
                            <a:srgbClr val="2731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改好给 GD 数据方的草稿，何时发由你定（D27）</a:t>
                      </a:r>
                    </a:p>
                  </a:txBody>
                  <a:tcPr marL="91440" marT="27432" marR="7315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 lang="zh-CN" altLang="en-US">
                          <a:solidFill>
                            <a:srgbClr val="11376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两院做不出可信的跨院验证</a:t>
                      </a:r>
                    </a:p>
                  </a:txBody>
                  <a:tcPr marL="91440" marT="27432" marR="7315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 lang="zh-CN" altLang="en-US">
                          <a:solidFill>
                            <a:srgbClr val="2731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留一中心只有 2 折，估不出中心间差异</a:t>
                      </a:r>
                    </a:p>
                  </a:txBody>
                  <a:tcPr marL="91440" marT="27432" marR="7315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 lang="zh-CN" altLang="en-US">
                          <a:solidFill>
                            <a:srgbClr val="2731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新中心或新流感季作外部验证，事先锁定、只评一次</a:t>
                      </a:r>
                    </a:p>
                  </a:txBody>
                  <a:tcPr marL="91440" marT="27432" marR="7315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 lang="zh-CN" altLang="en-US">
                          <a:solidFill>
                            <a:srgbClr val="11376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流感季临近</a:t>
                      </a:r>
                    </a:p>
                  </a:txBody>
                  <a:tcPr marL="91440" marT="27432" marR="7315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 lang="zh-CN" altLang="en-US">
                          <a:solidFill>
                            <a:srgbClr val="2731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医生测试、前瞻表单拖到 12 月</a:t>
                      </a:r>
                    </a:p>
                  </a:txBody>
                  <a:tcPr marL="91440" marT="27432" marR="7315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 lang="zh-CN" altLang="en-US">
                          <a:solidFill>
                            <a:srgbClr val="2731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下周约测试；11 月中定稿前瞻表单</a:t>
                      </a:r>
                    </a:p>
                  </a:txBody>
                  <a:tcPr marL="91440" marT="27432" marR="7315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致谢横带"/>
          <p:cNvSpPr/>
          <p:nvPr/>
        </p:nvSpPr>
        <p:spPr>
          <a:xfrm>
            <a:off x="0" y="2331720"/>
            <a:ext cx="12191695" cy="146304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rtlCol="0" anchor="ctr" wrap="square" lIns="36576" tIns="18288" rIns="36576" bIns="18288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4000" b="0" i="0" lang="zh-CN" altLang="en-US">
                <a:solidFill>
                  <a:srgbClr val="FFFFFF"/>
                </a:solidFill>
                <a:effectLst>
                  <a:outerShdw blurRad="50800" dist="38100" dir="5400000" algn="ctr" rotWithShape="0">
                    <a:srgbClr val="000000">
                      <a:alpha val="45000"/>
                    </a:srgbClr>
                  </a:outerShdw>
                </a:effectLst>
                <a:latin typeface="微软雅黑"/>
                <a:ea typeface="微软雅黑"/>
                <a:cs typeface="微软雅黑"/>
              </a:rPr>
              <a:t>谢谢！欢迎讨论与指正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069080"/>
            <a:ext cx="10362895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周末必做三件事见第 11 页 · 核对清单见第 13 页 · 待定决定见第 14 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微软雅黑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微软雅黑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微软雅黑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微软雅黑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5141</Words>
  <Application>WPS 演示</Application>
  <PresentationFormat>On-screen Show (4:3)</PresentationFormat>
  <Paragraphs>758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3" baseType="lpstr">
      <vt:lpstr>Arial</vt:lpstr>
      <vt:lpstr>宋体</vt:lpstr>
      <vt:lpstr>Wingdings</vt:lpstr>
      <vt:lpstr>Arial</vt:lpstr>
      <vt:lpstr>华文隶书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老年流感转重研究 · 本周总结与周末计划</dc:title>
  <dc:creator/>
  <dc:description>generated using python-pptx</dc:description>
  <cp:lastModifiedBy>WPS_1663841273</cp:lastModifiedBy>
  <cp:revision>6</cp:revision>
  <dcterms:created xsi:type="dcterms:W3CDTF">2026-10-08T17:10:00Z</dcterms:created>
  <dcterms:modified xsi:type="dcterms:W3CDTF">2026-10-23T11:38:50Z</dcterms:modified>
  <dc:subject>本周（10-17 至 10-23）进展、现状判断、周末安排与下周衔接</dc:subject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2052-12.1.0.29161</vt:lpwstr>
  </property>
  <property fmtid="{D5CDD505-2E9C-101B-9397-08002B2CF9AE}" pid="3" name="ICV">
    <vt:lpwstr>B4859E5D52ED938F9CCEC76A15F9362E_43</vt:lpwstr>
  </property>
</Properties>
</file>