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3" r:id="rId3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7"/>
    <p:sldId id="285" r:id="rId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4F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6" Type="http://schemas.openxmlformats.org/officeDocument/2006/relationships/slide" Target="slides/slide13.xml"/><Relationship Id="rId7" Type="http://schemas.openxmlformats.org/officeDocument/2006/relationships/slide" Target="slides/slide12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GAM</c:v>
                </c:pt>
              </c:strCache>
            </c:strRef>
          </c:tx>
          <c:spPr>
            <a:solidFill>
              <a:srgbClr val="00A4CB"/>
            </a:solidFill>
            <a:ln>
              <a:noFill/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150" b="1">
                    <a:solidFill>
                      <a:srgbClr val="11376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有创通气</c:v>
                </c:pt>
                <c:pt idx="1">
                  <c:v>高流量氧疗</c:v>
                </c:pt>
                <c:pt idx="2">
                  <c:v>进入 ICU</c:v>
                </c:pt>
                <c:pt idx="3">
                  <c:v>无创通气</c:v>
                </c:pt>
                <c:pt idx="4">
                  <c:v>新开始吸氧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9.248554913294797</c:v>
                </c:pt>
                <c:pt idx="1">
                  <c:v>23.121387283236995</c:v>
                </c:pt>
                <c:pt idx="2">
                  <c:v>7.514450867052023</c:v>
                </c:pt>
                <c:pt idx="3">
                  <c:v>8.092485549132949</c:v>
                </c:pt>
                <c:pt idx="4">
                  <c:v>7.514450867052023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GD</c:v>
                </c:pt>
              </c:strCache>
            </c:strRef>
          </c:tx>
          <c:spPr>
            <a:solidFill>
              <a:srgbClr val="1F4E94"/>
            </a:solidFill>
            <a:ln>
              <a:noFill/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150" b="1">
                    <a:solidFill>
                      <a:srgbClr val="11376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有创通气</c:v>
                </c:pt>
                <c:pt idx="1">
                  <c:v>高流量氧疗</c:v>
                </c:pt>
                <c:pt idx="2">
                  <c:v>进入 ICU</c:v>
                </c:pt>
                <c:pt idx="3">
                  <c:v>无创通气</c:v>
                </c:pt>
                <c:pt idx="4">
                  <c:v>新开始吸氧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11.812297734627832</c:v>
                </c:pt>
                <c:pt idx="1">
                  <c:v>19.25566343042071</c:v>
                </c:pt>
                <c:pt idx="2">
                  <c:v>29.61165048543689</c:v>
                </c:pt>
                <c:pt idx="3">
                  <c:v>30.906148867313917</c:v>
                </c:pt>
                <c:pt idx="4">
                  <c:v>84.46601941747572</c:v>
                </c:pt>
              </c:numCache>
            </c:numRef>
          </c:val>
        </c:ser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DDAE8"/>
            </a:solidFill>
          </a:ln>
        </c:spPr>
        <c:txPr>
          <a:bodyPr/>
          <a:lstStyle/>
          <a:p>
            <a:pPr>
              <a:defRPr sz="1200">
                <a:solidFill>
                  <a:srgbClr val="27314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1"/>
        <c:axPos val="b"/>
        <c:majorTickMark val="none"/>
        <c:minorTickMark val="none"/>
        <c:tickLblPos val="none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GAM</c:v>
                </c:pt>
              </c:strCache>
            </c:strRef>
          </c:tx>
          <c:spPr>
            <a:solidFill>
              <a:srgbClr val="00A4CB"/>
            </a:solidFill>
            <a:ln>
              <a:noFill/>
            </a:ln>
          </c:spPr>
          <c:dPt>
            <c:idx val="0"/>
            <c:spPr>
              <a:solidFill>
                <a:srgbClr val="B9C1CC"/>
              </a:solidFill>
              <a:ln>
                <a:noFill/>
              </a:ln>
            </c:spPr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11376A"/>
                        </a:solidFill>
                      </a:rPr>
                      <a:t>&lt;10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11376A"/>
                        </a:solidFill>
                      </a:rPr>
                      <a:t>&lt;10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050" b="1">
                    <a:solidFill>
                      <a:srgbClr val="11376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未填</c:v>
                </c:pt>
                <c:pt idx="1">
                  <c:v>气阴两虚、正气未复（恢复）</c:v>
                </c:pt>
                <c:pt idx="2">
                  <c:v>毒热内陷、内闭外脱（重）</c:v>
                </c:pt>
                <c:pt idx="3">
                  <c:v>毒热壅盛（重）</c:v>
                </c:pt>
                <c:pt idx="4">
                  <c:v>热毒袭肺（轻）</c:v>
                </c:pt>
                <c:pt idx="5">
                  <c:v>表寒里热（轻）</c:v>
                </c:pt>
                <c:pt idx="6">
                  <c:v>风寒束表（轻）</c:v>
                </c:pt>
                <c:pt idx="7">
                  <c:v>风热犯卫（轻）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88</c:v>
                </c:pt>
                <c:pt idx="1">
                  <c:v>103</c:v>
                </c:pt>
                <c:pt idx="2">
                  <c:v>0</c:v>
                </c:pt>
                <c:pt idx="3">
                  <c:v>60</c:v>
                </c:pt>
                <c:pt idx="4">
                  <c:v>33</c:v>
                </c:pt>
                <c:pt idx="5">
                  <c:v>2</c:v>
                </c:pt>
                <c:pt idx="6">
                  <c:v>2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GD</c:v>
                </c:pt>
              </c:strCache>
            </c:strRef>
          </c:tx>
          <c:spPr>
            <a:solidFill>
              <a:srgbClr val="1F4E94"/>
            </a:solidFill>
            <a:ln>
              <a:noFill/>
            </a:ln>
          </c:spPr>
          <c:dPt>
            <c:idx val="0"/>
            <c:spPr>
              <a:solidFill>
                <a:srgbClr val="8A94A6"/>
              </a:solidFill>
              <a:ln>
                <a:noFill/>
              </a:ln>
            </c:spPr>
          </c:dPt>
          <c:dLbls>
            <c:numFmt formatCode="0" sourceLinked="0"/>
            <c:txPr>
              <a:bodyPr/>
              <a:lstStyle/>
              <a:p>
                <a:pPr>
                  <a:defRPr sz="1050" b="1">
                    <a:solidFill>
                      <a:srgbClr val="11376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未填</c:v>
                </c:pt>
                <c:pt idx="1">
                  <c:v>气阴两虚、正气未复（恢复）</c:v>
                </c:pt>
                <c:pt idx="2">
                  <c:v>毒热内陷、内闭外脱（重）</c:v>
                </c:pt>
                <c:pt idx="3">
                  <c:v>毒热壅盛（重）</c:v>
                </c:pt>
                <c:pt idx="4">
                  <c:v>热毒袭肺（轻）</c:v>
                </c:pt>
                <c:pt idx="5">
                  <c:v>表寒里热（轻）</c:v>
                </c:pt>
                <c:pt idx="6">
                  <c:v>风寒束表（轻）</c:v>
                </c:pt>
                <c:pt idx="7">
                  <c:v>风热犯卫（轻）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163</c:v>
                </c:pt>
                <c:pt idx="1">
                  <c:v>454</c:v>
                </c:pt>
                <c:pt idx="2">
                  <c:v>19</c:v>
                </c:pt>
                <c:pt idx="3">
                  <c:v>57</c:v>
                </c:pt>
                <c:pt idx="4">
                  <c:v>352</c:v>
                </c:pt>
                <c:pt idx="5">
                  <c:v>12</c:v>
                </c:pt>
                <c:pt idx="6">
                  <c:v>31</c:v>
                </c:pt>
                <c:pt idx="7">
                  <c:v>36</c:v>
                </c:pt>
              </c:numCache>
            </c:numRef>
          </c:val>
        </c:ser>
        <c:gapWidth val="4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DDAE8"/>
            </a:solidFill>
          </a:ln>
        </c:spPr>
        <c:txPr>
          <a:bodyPr/>
          <a:lstStyle/>
          <a:p>
            <a:pPr>
              <a:defRPr sz="1100">
                <a:solidFill>
                  <a:srgbClr val="27314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0.0"/>
          <c:min val="0.0"/>
        </c:scaling>
        <c:delete val="1"/>
        <c:axPos val="b"/>
        <c:majorTickMark val="none"/>
        <c:minorTickMark val="none"/>
        <c:tickLblPos val="none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封面，约 0.3 分钟。全程约 17 分钟（不含讨论），四部分：近期进展与发现、数据集构建论文、GD 临床答复、下一步。全部数字为聚合统计（1–9 记为 &lt;10），来自 10-24 的 std_v3 导出和 GD 的答复文件。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 分钟。先给结论：数据管线已经能在真实数据上跑，临床也给了答复；下一步是把答复变成口径，并补足门急诊数据。四个问题对应后面的页码。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分钟。按时间讲：10-17 部署到专用服务器；10-18 读 GD 病历系统原始导出；10-19 至 10-21 性能改造和医生端体征图；10-22、10-23 规则集 v0.3 与统一导出 std_v3；10-24 在服务器导入两院真实数据，当天算出宽表和问题单的计数（青色一列）；10-25 GD 答复问题单并交回证型对应表；同日完成数据集构建调研。六模型实验 10-21、10-22 完成本人负责的三个模型。下面四张卡是交付物：6–10% 是删去 40% 观测时、五个模型个体预测的翻转率（5 个 seed 均值）。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分钟。流程：两院原始导出 → flucase 导入 → 规则集 v0.3 分级 → std_v3 统一导出 → 本机宽表脚本只出聚合报告 → 问题单发给 GD 临床负责人。左边是规模：主分析人群（确诊且 ≥60 岁）GD 328、GAM 住院 129、GAM 门急诊 17。右边两个发现：一是门急诊只有 17 次，而主结局 O3 是门急诊早期进展（D9），样本主要得从新的门急诊数据来；二是诊断和检测对不上：GD 有 290 次住院诊断写了流感、却没有阳性检测，GAM 门急诊反过来有 219 次阳性检测没写流感（另有 GAM 住院 44 次），所以病例以检测为准（D16），临床建议再补 NGS 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2 分钟。比例的分母是各院全部住院（GD 618、GAM 173）。新开始吸氧 GD 522（84%）对 GAM 13（8%）；无创 191 对 14；进 ICU 183 对 13；高流量 119 对 40；有创 73 对 16。差异集中在吸氧、无创、ICU 三项，有创和高流量两院接近。右边三条要连起来看：GD 给氧的 522 次里 428 次在入院 24 小时内，给氧前后能找到低氧证据的 133 次；但 GD 的 SpO2 只有 189 / 28,655 条推断为吸空气（按吸氧医嘱推断），“吸空气 SpO2 ≤93%”这条几乎用不上，所以“无低氧”里有一部分可能是测量状态推断造成的，不能直接说成没低氧就给氧。ICU 183 次里同时有器官衰竭的 45 次，ICU 怎么认见第 9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分钟。七站：看范本、合到一张表、定义转重、查质量、收数据、样本量与验证、接基础模型；箭头上是读完一站带到下一站的问题。加粗的是必读 13 篇。讲解页 paper/数据集构建调研_20261025/论文路径讲解图_数据集构建.html 每篇都写了设计要点（带页码）和对本项目的改法；逐篇笔记在设计要点笔记.md。28 号 Riley 2021（外部验证样本量）只读了摘要。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分钟。数字都出自论文正文（见设计要点笔记）：Sherman（AMIA 2017；arXiv 1811.12520 §4.1）院内死亡任务，以结局为锚的方案在同法测试集上 .963，在与结局无关的测试集上 .831，以入院为起点的方案 .882；Lauritsen 2021 p3–4，AUROC；Agniel 2018（BMJ）233/272 项检验“做没做”与死亡相关，76/210 项的最强预测因子是检验间隔；4CE 2020 p2、p7；Riley 2020 Example 1（结局 0.05、30 个参数、R²cs 0.05）；Vassar 2013。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分钟。左上是讲解页里 CLIF 的卡片截图：左边写论文做法，右边写对本项目的改法；左下的呼吸支持长表是虚构示例，说明结构。右边四类改动都不改转重定义，可以先在虚构数据上做；数据层两项（时间来源、治疗来源类型）本周就能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2 分钟。GD 临床负责人 13 题都答了：第 1–5 题和第 13 题、附件 1、2 用 16 条批注；第 7–12 题在意见栏打 √ 或写明（第 10 题勾“不排除”）；附件 2 把 12 个科内有监护室的科室标黄；第 6 题另交了证型对应表。同意现行的 6 项：新开始吸氧算重型、进 ICU 即危重、术后转入 ICU 不排除、机械通气含无创与高流量、年龄分层、SpO2 按医嘱推断。要改的 5 处按影响排在表里：ICU 影响最大（标黄科室 GD 297 次住院现行都不算 ICU）；ICU、再住院两处和文献做法一致。这些都改变定义（A 档），讨论后登记为新决定再改规则。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 分钟。证型按方案分三期：轻症 4 型（风热犯卫、风寒束表、表寒里热、热毒袭肺）、重症 2 型（毒热壅盛、毒热内陷内闭外脱）、恢复期 1 型（气阴两虚正气未复）。条形是按写法累加的就诊次数（一次就诊可写多个证候）。现在系统只认方案原名（tcm.py），这张表进来后按对应表认。证候只作研究变量，不进分级（D65）。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2 分钟。前五件改变口径定义，是需要拍板的；第六件是协调数据。①② 影响重型、危重型判定最多；② 要结合第 5 页的 SpO2 推断问题看；④ 真实影响很小；⑤ 临床已给明确意见，确认即可；⑥ 门急诊数据决定主结局 O3 能不能做，检索条件用 GD 第 3 题的答复。定下后登记为新决定（D76 起）、出规则集 v0.4。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分钟。日期是建议。本周：讨论确定口径、出 v0.4 候选；GAM 补充数据先做只出计数的扫描；证型拆分、未填的发回 GD；按检索条件申请门急诊数据。下周：两院按 v0.3 / v0.4 重算对比，GAM 重新导入。11 月中口径定稿、医生试用、Healthsheet 初稿与样本量估算；12 月流感高峰前上线前瞻收集。六模型实验等合作同学的 OPL-MT-MNAR 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结束页。需要讨论的六件事见第 11 页，下一步计划见第 12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21"/>
          <p:cNvSpPr>
            <a:spLocks noGrp="1"/>
          </p:cNvSpPr>
          <p:nvPr/>
        </p:nvSpPr>
        <p:spPr>
          <a:xfrm>
            <a:off x="3676459" y="828175"/>
            <a:ext cx="5334992" cy="554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3600">
                <a:solidFill>
                  <a:srgbClr val="035393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明德·厚学·求是·创新 </a:t>
            </a:r>
            <a:endParaRPr sz="3600"/>
          </a:p>
        </p:txBody>
      </p:sp>
      <p:sp>
        <p:nvSpPr>
          <p:cNvPr id="3" name="矩形 22"/>
          <p:cNvSpPr>
            <a:spLocks noGrp="1"/>
          </p:cNvSpPr>
          <p:nvPr/>
        </p:nvSpPr>
        <p:spPr>
          <a:xfrm>
            <a:off x="0" y="1096132"/>
            <a:ext cx="3239601" cy="17779"/>
          </a:xfrm>
          <a:prstGeom prst="rect">
            <a:avLst/>
          </a:prstGeom>
          <a:solidFill>
            <a:srgbClr val="4472C4"/>
          </a:solidFill>
          <a:ln w="12700">
            <a:solidFill>
              <a:srgbClr val="2F528F"/>
            </a:solidFill>
          </a:ln>
        </p:spPr>
        <p:txBody>
          <a:bodyPr/>
          <a:p/>
        </p:txBody>
      </p:sp>
      <p:sp>
        <p:nvSpPr>
          <p:cNvPr id="4" name="矩形 23"/>
          <p:cNvSpPr>
            <a:spLocks noGrp="1"/>
          </p:cNvSpPr>
          <p:nvPr/>
        </p:nvSpPr>
        <p:spPr>
          <a:xfrm>
            <a:off x="8951764" y="1096132"/>
            <a:ext cx="3239601" cy="17779"/>
          </a:xfrm>
          <a:prstGeom prst="rect">
            <a:avLst/>
          </a:prstGeom>
          <a:solidFill>
            <a:srgbClr val="4472C4"/>
          </a:solidFill>
          <a:ln w="12700">
            <a:solidFill>
              <a:srgbClr val="223962"/>
            </a:solidFill>
          </a:ln>
        </p:spPr>
        <p:txBody>
          <a:bodyPr/>
          <a:p/>
        </p:txBody>
      </p:sp>
      <p:sp>
        <p:nvSpPr>
          <p:cNvPr id="5" name="矩形 24-shape"/>
          <p:cNvSpPr>
            <a:spLocks noGrp="1"/>
          </p:cNvSpPr>
          <p:nvPr/>
        </p:nvSpPr>
        <p:spPr>
          <a:xfrm>
            <a:off x="0" y="2070171"/>
            <a:ext cx="12191365" cy="168774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txBody>
          <a:bodyPr/>
          <a:p/>
        </p:txBody>
      </p:sp>
      <p:sp>
        <p:nvSpPr>
          <p:cNvPr id="6" name="矩形 24-text"/>
          <p:cNvSpPr>
            <a:spLocks noGrp="1"/>
          </p:cNvSpPr>
          <p:nvPr/>
        </p:nvSpPr>
        <p:spPr>
          <a:xfrm>
            <a:off x="0" y="2070171"/>
            <a:ext cx="12191365" cy="16877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老年流感转重研究：近期工作与论文阅读汇报</a:t>
            </a:r>
            <a:endParaRPr lang="zh-CN" altLang="en-US" sz="3600">
              <a:solidFill>
                <a:schemeClr val="bg1"/>
              </a:solidFill>
              <a:effectLst>
                <a:outerShdw blurRad="50800" dist="50800" dir="5400000" algn="ctr" rotWithShape="0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25"/>
          <p:cNvSpPr>
            <a:spLocks noGrp="1"/>
          </p:cNvSpPr>
          <p:nvPr/>
        </p:nvSpPr>
        <p:spPr>
          <a:xfrm>
            <a:off x="0" y="3783312"/>
            <a:ext cx="12191365" cy="103626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ClrTx/>
              <a:buSzTx/>
              <a:buNone/>
            </a:pPr>
            <a:r>
              <a:rPr lang="zh-CN" altLang="en-US" sz="240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近期进展 · 数据集构建文献 · 临床答复 · 下一步</a:t>
            </a:r>
            <a:endParaRPr lang="zh-CN" altLang="en-US" sz="2400">
              <a:solidFill>
                <a:schemeClr val="bg1"/>
              </a:solidFill>
              <a:effectLst>
                <a:outerShdw blurRad="50800" dist="50800" dir="5400000" algn="ctr" rotWithShape="0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TextBox 9"/>
          <p:cNvSpPr>
            <a:spLocks noGrp="1"/>
          </p:cNvSpPr>
          <p:nvPr/>
        </p:nvSpPr>
        <p:spPr>
          <a:xfrm>
            <a:off x="4620019" y="4965620"/>
            <a:ext cx="2952596" cy="4000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2026年10月26日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6664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132839" y="219456"/>
            <a:ext cx="8148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四个问题与一句话回答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一句话：数据管线已能跑真实数据；下一步把临床答复变成口径，并补足门急诊数据。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数据说明：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本汇报只含聚合统计（1–9 记为 &lt;10）；真实病例只在服务器和本机处理，不上传在线大模型。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近期工作与论文阅读汇报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4FAC2F6B-5818-4C79-B5D2-F3A6BDB773C5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2</a:t>
            </a:fld>
          </a:p>
        </p:txBody>
      </p:sp>
      <p:sp>
        <p:nvSpPr>
          <p:cNvPr id="13" name="Rounded Rectangle 12"/>
          <p:cNvSpPr/>
          <p:nvPr/>
        </p:nvSpPr>
        <p:spPr>
          <a:xfrm>
            <a:off x="658368" y="1700784"/>
            <a:ext cx="10881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1847088"/>
            <a:ext cx="658368" cy="548640"/>
          </a:xfrm>
          <a:prstGeom prst="roundRect">
            <a:avLst>
              <a:gd name="adj" fmla="val 15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1764792"/>
            <a:ext cx="82296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近期做成了什么？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2148840"/>
            <a:ext cx="836676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两院真实数据第一次按统一口径跑通：GD 住院 618、GAM 住院 173、门急诊 1,166 次。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22992" y="1883664"/>
            <a:ext cx="0" cy="475488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10259568" y="1700784"/>
            <a:ext cx="1207008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第 3–4 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670048"/>
            <a:ext cx="10881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2816352"/>
            <a:ext cx="658368" cy="548640"/>
          </a:xfrm>
          <a:prstGeom prst="roundRect">
            <a:avLst>
              <a:gd name="adj" fmla="val 15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2734056"/>
            <a:ext cx="82296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发现了什么问题？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3118104"/>
            <a:ext cx="836676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两院判据检出差异集中在吸氧、无创和 ICU；门急诊里符合主分析的只有 17 次。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222992" y="2852928"/>
            <a:ext cx="0" cy="475487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10259568" y="2670048"/>
            <a:ext cx="1207008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第 4–5 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39312"/>
            <a:ext cx="10881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3785616"/>
            <a:ext cx="658368" cy="548640"/>
          </a:xfrm>
          <a:prstGeom prst="roundRect">
            <a:avLst>
              <a:gd name="adj" fmla="val 15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3703320"/>
            <a:ext cx="82296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论文读出了什么？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4087368"/>
            <a:ext cx="836676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34 篇：t0 与窗口先写死、标明记录来源、ICU 看支持措施、按事件数算样本量。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222992" y="3822192"/>
            <a:ext cx="0" cy="475488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10259568" y="3639312"/>
            <a:ext cx="1207008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第 6–8 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608576"/>
            <a:ext cx="10881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8680" y="4754880"/>
            <a:ext cx="658368" cy="548640"/>
          </a:xfrm>
          <a:prstGeom prst="roundRect">
            <a:avLst>
              <a:gd name="adj" fmla="val 15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55648" y="4672584"/>
            <a:ext cx="82296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临床答复与下一步？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5056632"/>
            <a:ext cx="836676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GD 13 题：6 项同意、5 处改口径；先定口径出 v0.4，并行处理 GAM 新数据与证型。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222992" y="4791456"/>
            <a:ext cx="0" cy="475488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10259568" y="4608576"/>
            <a:ext cx="1207008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第 9–12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6664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近期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132839" y="219456"/>
            <a:ext cx="8148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近两周：系统跑上真实数据，临床与文献同步推进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10-24 第一次在真实数据上出计数；问题单得到 GD 答复；读完 34 篇数据集构建论文。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新到、尚未处理：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GAM 补充的原始数据；GD 问题单答复与证型对应表（计划见第 12 页）。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近期工作与论文阅读汇报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ED8CA9D4-4171-4460-B384-AE26A22F63E1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3</a:t>
            </a:fld>
          </a:p>
        </p:txBody>
      </p:sp>
      <p:sp>
        <p:nvSpPr>
          <p:cNvPr id="13" name="10-24 底色"/>
          <p:cNvSpPr/>
          <p:nvPr/>
        </p:nvSpPr>
        <p:spPr>
          <a:xfrm>
            <a:off x="9523984" y="1627632"/>
            <a:ext cx="1053592" cy="2761487"/>
          </a:xfrm>
          <a:prstGeom prst="rect">
            <a:avLst/>
          </a:prstGeom>
          <a:solidFill>
            <a:srgbClr val="E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1645920"/>
            <a:ext cx="109016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10-17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周六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4687" y="1645920"/>
            <a:ext cx="109016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10-18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周日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4856" y="1645920"/>
            <a:ext cx="109016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10-19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周一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5024" y="1645920"/>
            <a:ext cx="109016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10-20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周二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5192" y="1645920"/>
            <a:ext cx="109016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10-21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周三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5360" y="1645920"/>
            <a:ext cx="109016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10-22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周四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5528" y="1645920"/>
            <a:ext cx="109016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10-23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周五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5696" y="1645920"/>
            <a:ext cx="109016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10-24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周六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5864" y="1645920"/>
            <a:ext cx="109016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10-25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周日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874519" y="2075688"/>
            <a:ext cx="9811513" cy="0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24" name="Rounded Rectangle 23"/>
          <p:cNvSpPr/>
          <p:nvPr/>
        </p:nvSpPr>
        <p:spPr>
          <a:xfrm>
            <a:off x="502920" y="2130552"/>
            <a:ext cx="1261872" cy="512064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系统与数据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697480"/>
            <a:ext cx="1261872" cy="512064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临床对接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264408"/>
            <a:ext cx="1261872" cy="512064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文献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831336"/>
            <a:ext cx="1261872" cy="512064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六模型实验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39" y="2167128"/>
            <a:ext cx="9987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部署到服务器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0407" y="2167128"/>
            <a:ext cx="9987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读 GD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原始导出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00576" y="2167128"/>
            <a:ext cx="3179064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性能改造 · 医生端体征图 · 3 次部署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71080" y="2167128"/>
            <a:ext cx="2088896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规则集 v0.3 · 统一导出 std_v3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1416" y="2167128"/>
            <a:ext cx="998728" cy="438912"/>
          </a:xfrm>
          <a:prstGeom prst="roundRect">
            <a:avLst>
              <a:gd name="adj" fmla="val 12000"/>
            </a:avLst>
          </a:prstGeom>
          <a:solidFill>
            <a:srgbClr val="1F4E94"/>
          </a:solidFill>
          <a:ln>
            <a:noFill/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导入两院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真实数据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51416" y="2734056"/>
            <a:ext cx="998728" cy="438912"/>
          </a:xfrm>
          <a:prstGeom prst="roundRect">
            <a:avLst>
              <a:gd name="adj" fmla="val 12000"/>
            </a:avLst>
          </a:prstGeom>
          <a:solidFill>
            <a:srgbClr val="1F4E94"/>
          </a:solidFill>
          <a:ln>
            <a:noFill/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宽表计数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→ 问题单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41584" y="2734056"/>
            <a:ext cx="998728" cy="438912"/>
          </a:xfrm>
          <a:prstGeom prst="roundRect">
            <a:avLst>
              <a:gd name="adj" fmla="val 12000"/>
            </a:avLst>
          </a:prstGeom>
          <a:solidFill>
            <a:srgbClr val="00A4CB"/>
          </a:solidFill>
          <a:ln>
            <a:noFill/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GD 答复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证型对应表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61248" y="3300984"/>
            <a:ext cx="9987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时序数据集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讲解页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41584" y="3300984"/>
            <a:ext cx="998728" cy="438912"/>
          </a:xfrm>
          <a:prstGeom prst="roundRect">
            <a:avLst>
              <a:gd name="adj" fmla="val 12000"/>
            </a:avLst>
          </a:prstGeom>
          <a:solidFill>
            <a:srgbClr val="00A4CB"/>
          </a:solidFill>
          <a:ln>
            <a:noFill/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数据集构建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34 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0912" y="3867912"/>
            <a:ext cx="2088896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3 个模型 × 5 seed · 讨论稿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2816" y="4389120"/>
            <a:ext cx="14559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 altLang="en-US">
                <a:solidFill>
                  <a:srgbClr val="00A4CB"/>
                </a:solidFill>
                <a:latin typeface="微软雅黑"/>
                <a:ea typeface="微软雅黑"/>
                <a:cs typeface="微软雅黑"/>
              </a:rPr>
              <a:t>第一次真实计数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617720"/>
            <a:ext cx="2658618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4690872"/>
            <a:ext cx="232943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2 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" y="5129783"/>
            <a:ext cx="232943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flucase 读通两院真实导出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" y="5404104"/>
            <a:ext cx="232943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10-24 导入 · 207 个测试通过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44418" y="4617720"/>
            <a:ext cx="2658618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09010" y="4690872"/>
            <a:ext cx="232943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A1–A10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09010" y="5129783"/>
            <a:ext cx="232943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宽表与聚合报告脚本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09010" y="5404104"/>
            <a:ext cx="232943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问题单的数据位自动算好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85916" y="4617720"/>
            <a:ext cx="2658618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0508" y="4690872"/>
            <a:ext cx="232943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6–10%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508" y="5129783"/>
            <a:ext cx="232943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删 40% 观测时个体预测翻转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0508" y="5404104"/>
            <a:ext cx="232943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六模型实验 · 本人 3 模型 × 5 seed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27414" y="4617720"/>
            <a:ext cx="2658618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2006" y="4690872"/>
            <a:ext cx="232943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34 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92006" y="5129783"/>
            <a:ext cx="232943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数据集构建论文 · 7 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92006" y="5404104"/>
            <a:ext cx="232943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13 篇必读 · 讲解页带页码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6664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成果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132839" y="219456"/>
            <a:ext cx="8148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真实数据第一次按统一口径跑通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10-24 在服务器导入两院数据，按规则集 v0.3 分级并统一导出，再在本机算出宽表与计数。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含义：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按既定安排，现有住院数据只做住院期重症的描述；预测主结局的样本要从新的门急诊数据来。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近期工作与论文阅读汇报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24942ADD-DB3C-46B2-B48C-5E60B56A282E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4</a:t>
            </a:fld>
          </a:p>
        </p:txBody>
      </p:sp>
      <p:sp>
        <p:nvSpPr>
          <p:cNvPr id="13" name="Pentagon 12"/>
          <p:cNvSpPr/>
          <p:nvPr/>
        </p:nvSpPr>
        <p:spPr>
          <a:xfrm>
            <a:off x="502920" y="1682496"/>
            <a:ext cx="1918716" cy="457200"/>
          </a:xfrm>
          <a:prstGeom prst="homePlate">
            <a:avLst/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0" rIns="54864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两院原始导出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176272"/>
            <a:ext cx="16809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GD 一套 20 个 xlsx</a:t>
            </a:r>
            <a:br>
              <a:rPr lang="zh-CN" sz="1050">
                <a:latin typeface="微软雅黑"/>
                <a:ea typeface="微软雅黑"/>
                <a:cs typeface="微软雅黑"/>
              </a:rPr>
            </a:b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GAM 住院、门急诊</a:t>
            </a:r>
          </a:p>
        </p:txBody>
      </p:sp>
      <p:sp>
        <p:nvSpPr>
          <p:cNvPr id="15" name="Chevron 14"/>
          <p:cNvSpPr/>
          <p:nvPr/>
        </p:nvSpPr>
        <p:spPr>
          <a:xfrm>
            <a:off x="2366772" y="1682496"/>
            <a:ext cx="1918716" cy="457200"/>
          </a:xfrm>
          <a:prstGeom prst="chevron">
            <a:avLst/>
          </a:prstGeom>
          <a:solidFill>
            <a:srgbClr val="1F4E94"/>
          </a:solidFill>
          <a:ln>
            <a:noFill/>
          </a:ln>
        </p:spPr>
        <p:txBody>
          <a:bodyPr rtlCol="0" anchor="ctr" wrap="square" tIns="0" rIns="54864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flucase 导入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6500" y="2176272"/>
            <a:ext cx="16809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服务器 · 10-24</a:t>
            </a:r>
            <a:br>
              <a:rPr lang="zh-CN" sz="1050">
                <a:latin typeface="微软雅黑"/>
                <a:ea typeface="微软雅黑"/>
                <a:cs typeface="微软雅黑"/>
              </a:rPr>
            </a:b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问题逐条确认</a:t>
            </a:r>
          </a:p>
        </p:txBody>
      </p:sp>
      <p:sp>
        <p:nvSpPr>
          <p:cNvPr id="17" name="Chevron 16"/>
          <p:cNvSpPr/>
          <p:nvPr/>
        </p:nvSpPr>
        <p:spPr>
          <a:xfrm>
            <a:off x="4230624" y="1682496"/>
            <a:ext cx="1918716" cy="457200"/>
          </a:xfrm>
          <a:prstGeom prst="chevron">
            <a:avLst/>
          </a:prstGeom>
          <a:solidFill>
            <a:srgbClr val="1F4E94"/>
          </a:solidFill>
          <a:ln>
            <a:noFill/>
          </a:ln>
        </p:spPr>
        <p:txBody>
          <a:bodyPr rtlCol="0" anchor="ctr" wrap="square" tIns="0" rIns="54864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规则集 v0.3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0352" y="2176272"/>
            <a:ext cx="16809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分级时间线</a:t>
            </a:r>
            <a:br>
              <a:rPr lang="zh-CN" sz="1050">
                <a:latin typeface="微软雅黑"/>
                <a:ea typeface="微软雅黑"/>
                <a:cs typeface="微软雅黑"/>
              </a:rPr>
            </a:b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候选结局</a:t>
            </a:r>
          </a:p>
        </p:txBody>
      </p:sp>
      <p:sp>
        <p:nvSpPr>
          <p:cNvPr id="19" name="Chevron 18"/>
          <p:cNvSpPr/>
          <p:nvPr/>
        </p:nvSpPr>
        <p:spPr>
          <a:xfrm>
            <a:off x="6094476" y="1682496"/>
            <a:ext cx="1918716" cy="457200"/>
          </a:xfrm>
          <a:prstGeom prst="chevron">
            <a:avLst/>
          </a:prstGeom>
          <a:solidFill>
            <a:srgbClr val="1F4E94"/>
          </a:solidFill>
          <a:ln>
            <a:noFill/>
          </a:ln>
        </p:spPr>
        <p:txBody>
          <a:bodyPr rtlCol="0" anchor="ctr" wrap="square" tIns="0" rIns="54864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std_v3 导出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4204" y="2176272"/>
            <a:ext cx="16809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两院同表、同编码</a:t>
            </a:r>
            <a:br>
              <a:rPr lang="zh-CN" sz="1050">
                <a:latin typeface="微软雅黑"/>
                <a:ea typeface="微软雅黑"/>
                <a:cs typeface="微软雅黑"/>
              </a:rPr>
            </a:b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同取值</a:t>
            </a:r>
          </a:p>
        </p:txBody>
      </p:sp>
      <p:sp>
        <p:nvSpPr>
          <p:cNvPr id="21" name="Chevron 20"/>
          <p:cNvSpPr/>
          <p:nvPr/>
        </p:nvSpPr>
        <p:spPr>
          <a:xfrm>
            <a:off x="7958328" y="1682496"/>
            <a:ext cx="1918716" cy="457200"/>
          </a:xfrm>
          <a:prstGeom prst="chevron">
            <a:avLst/>
          </a:prstGeom>
          <a:solidFill>
            <a:srgbClr val="00A4CB"/>
          </a:solidFill>
          <a:ln>
            <a:noFill/>
          </a:ln>
        </p:spPr>
        <p:txBody>
          <a:bodyPr rtlCol="0" anchor="ctr" wrap="square" tIns="0" rIns="54864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宽表 + 计数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8056" y="2176272"/>
            <a:ext cx="16809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本机脚本</a:t>
            </a:r>
            <a:br>
              <a:rPr lang="zh-CN" sz="1050">
                <a:latin typeface="微软雅黑"/>
                <a:ea typeface="微软雅黑"/>
                <a:cs typeface="微软雅黑"/>
              </a:rPr>
            </a:b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只出聚合量</a:t>
            </a:r>
          </a:p>
        </p:txBody>
      </p:sp>
      <p:sp>
        <p:nvSpPr>
          <p:cNvPr id="23" name="Chevron 22"/>
          <p:cNvSpPr/>
          <p:nvPr/>
        </p:nvSpPr>
        <p:spPr>
          <a:xfrm>
            <a:off x="9822180" y="1682496"/>
            <a:ext cx="1918716" cy="457200"/>
          </a:xfrm>
          <a:prstGeom prst="chevron">
            <a:avLst/>
          </a:prstGeom>
          <a:solidFill>
            <a:srgbClr val="00A4CB"/>
          </a:solidFill>
          <a:ln>
            <a:noFill/>
          </a:ln>
        </p:spPr>
        <p:txBody>
          <a:bodyPr rtlCol="0" anchor="ctr" wrap="square" tIns="0" rIns="54864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问题单 → GD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1908" y="2176272"/>
            <a:ext cx="16809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13 题 + 3 个附件</a:t>
            </a:r>
            <a:br>
              <a:rPr lang="zh-CN" sz="1050">
                <a:latin typeface="微软雅黑"/>
                <a:ea typeface="微软雅黑"/>
                <a:cs typeface="微软雅黑"/>
              </a:rPr>
            </a:b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10-25 答复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74320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导入的就诊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054096"/>
            <a:ext cx="1810511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3108960"/>
            <a:ext cx="1517903" cy="49926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618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" y="3608222"/>
            <a:ext cx="1517903" cy="331012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GD 住院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8024" y="3054096"/>
            <a:ext cx="1810511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24328" y="3108960"/>
            <a:ext cx="1517903" cy="49926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173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4328" y="3608222"/>
            <a:ext cx="1517903" cy="331012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GAM 住院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53127" y="3054096"/>
            <a:ext cx="1810511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1" y="3108960"/>
            <a:ext cx="1517903" cy="49926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1,166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1" y="3608222"/>
            <a:ext cx="1517903" cy="331012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GAM 门急诊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16052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确诊且 ≥60 岁（主分析人群；括号内为 ≥65 岁）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471416"/>
            <a:ext cx="1810511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" y="4526279"/>
            <a:ext cx="1517903" cy="49926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328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" y="5025542"/>
            <a:ext cx="1517903" cy="331012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GD 住院（298）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78024" y="4471416"/>
            <a:ext cx="1810511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24328" y="4526279"/>
            <a:ext cx="1517903" cy="49926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129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24328" y="5025542"/>
            <a:ext cx="1517903" cy="331012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GAM 住院（113）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53127" y="4471416"/>
            <a:ext cx="1810511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B7791F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99431" y="4526279"/>
            <a:ext cx="1517903" cy="49926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9431" y="5025542"/>
            <a:ext cx="1517903" cy="331012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GAM 门急诊（17）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2743200"/>
            <a:ext cx="519379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79" y="2743200"/>
            <a:ext cx="1143000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818119" y="2926080"/>
            <a:ext cx="0" cy="914400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7955279" y="2743200"/>
            <a:ext cx="3593592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GAM 门急诊里确诊且 ≥60 岁的只有 17 次。</a:t>
            </a: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主结局 O3（门急诊早期进展）要靠新的门急诊、发热门诊数据。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4160520"/>
            <a:ext cx="519379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79" y="4160520"/>
            <a:ext cx="1143000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zh-CN" altLang="en-US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290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818119" y="4343400"/>
            <a:ext cx="0" cy="914399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7955279" y="4160520"/>
            <a:ext cx="3593592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GD 诊断写了流感、却没有阳性检测的住院；</a:t>
            </a: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GAM 门急诊反过来有 219 次阳性、诊断没写流感。病例以检测为准，临床建议补上 NGS。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6664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发现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132839" y="219456"/>
            <a:ext cx="8148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两院判据：差异集中在吸氧、无创和 ICU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同一套 v0.3 规则：GD 新开始吸氧 84%、GAM 8%；有创通气、高流量两院接近。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影响：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主口径 primary 以治疗类判据为主，两院可比性风险最大；病情差异还是记录方式差异，要拆开核实。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近期工作与论文阅读汇报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8286632A-CA8C-44B6-8E34-92303F6717BE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5</a:t>
            </a:fld>
          </a:p>
        </p:txBody>
      </p:sp>
      <p:sp>
        <p:nvSpPr>
          <p:cNvPr id="13" name="Rectangle 12"/>
          <p:cNvSpPr/>
          <p:nvPr/>
        </p:nvSpPr>
        <p:spPr>
          <a:xfrm>
            <a:off x="502920" y="1664208"/>
            <a:ext cx="635508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73736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各判据占该院住院的比例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837943"/>
            <a:ext cx="164592" cy="12801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1764792"/>
            <a:ext cx="33401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38114" y="1837943"/>
            <a:ext cx="164592" cy="12801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8426" y="1764792"/>
            <a:ext cx="41871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GAM</a:t>
            </a:r>
          </a:p>
        </p:txBody>
      </p:sp>
      <p:graphicFrame>
        <p:nvGraphicFramePr>
          <p:cNvPr id="19" name="判据比例条形图"/>
          <p:cNvGraphicFramePr>
            <a:graphicFrameLocks noGrp="1"/>
          </p:cNvGraphicFramePr>
          <p:nvPr/>
        </p:nvGraphicFramePr>
        <p:xfrm>
          <a:off x="594360" y="2103120"/>
          <a:ext cx="612648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85800" y="5358384"/>
            <a:ext cx="5989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分母：GD 住院 618、GAM 住院 173（10-24 导出，规则集 v0.3）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1664208"/>
            <a:ext cx="459943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664208"/>
            <a:ext cx="105156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zh-CN" altLang="en-US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21040" y="1847088"/>
            <a:ext cx="0" cy="822960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8458200" y="1664208"/>
            <a:ext cx="3090672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GD 给氧的 522 次住院（428 次在入院 24 小时内），</a:t>
            </a:r>
            <a:r>
              <a:rPr sz="1250" b="1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给氧前后 24 小时有低氧*证据的只有 133 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2980944"/>
            <a:ext cx="459943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2980944"/>
            <a:ext cx="105156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&lt;1%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21040" y="3163824"/>
            <a:ext cx="0" cy="822959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8458200" y="2980944"/>
            <a:ext cx="3090672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GD 的 SpO2 只有不到 1% 推断为吸空气：</a:t>
            </a: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“吸空气 SpO2 ≤93%”几乎用不上，上一条要谨慎解读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4297680"/>
            <a:ext cx="459943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4297680"/>
            <a:ext cx="105156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zh-CN" altLang="en-US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21040" y="4480560"/>
            <a:ext cx="0" cy="822960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8458200" y="4297680"/>
            <a:ext cx="3090672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GD 进 ICU 的 183 次住院中，</a:t>
            </a:r>
            <a:r>
              <a:rPr sz="1250" b="1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同时有器官衰竭的 45 次</a:t>
            </a:r>
            <a:r>
              <a:rPr sz="12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；ICU 怎么认见第 9 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5541264"/>
            <a:ext cx="459943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* 低氧：吸空气 SpO2 ≤93%、PaO2/FiO2 ≤300 或呼吸 ≥30 次/分。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6664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文献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132839" y="219456"/>
            <a:ext cx="8148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数据集构建：34 篇论文分 7 站读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每一站回答数据集构建的一个问题，读完带着下一个问题进下一站；加粗的 13 篇是必读。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可回查：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讲解页与逐篇笔记都标了页码或章节；28 号（外部验证样本量）只读了摘要，已标注。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近期工作与论文阅读汇报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A9F45C19-93E1-4C7C-90C7-828ED2725D81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6</a:t>
            </a:fld>
          </a:p>
        </p:txBody>
      </p:sp>
      <p:sp>
        <p:nvSpPr>
          <p:cNvPr id="13" name="Rounded Rectangle 12"/>
          <p:cNvSpPr/>
          <p:nvPr/>
        </p:nvSpPr>
        <p:spPr>
          <a:xfrm>
            <a:off x="502920" y="1700784"/>
            <a:ext cx="2212848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4075BE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1828800"/>
            <a:ext cx="402336" cy="402336"/>
          </a:xfrm>
          <a:prstGeom prst="ellipse">
            <a:avLst/>
          </a:prstGeom>
          <a:solidFill>
            <a:srgbClr val="1F4E9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1810512"/>
            <a:ext cx="14813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看范本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2103120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4 篇 · 必读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2432304"/>
            <a:ext cx="19385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MIMIC-IV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eICU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PIC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MIMIC-IV-ED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3008" y="1700784"/>
            <a:ext cx="2212848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4075BE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1828800"/>
            <a:ext cx="402336" cy="402336"/>
          </a:xfrm>
          <a:prstGeom prst="ellipse">
            <a:avLst/>
          </a:prstGeom>
          <a:solidFill>
            <a:srgbClr val="1F4E9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810512"/>
            <a:ext cx="14813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合到一张表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103120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6 篇 · 必读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2432304"/>
            <a:ext cx="19385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OMOP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N3C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4CE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CLIF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ricu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MEDS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83096" y="1700784"/>
            <a:ext cx="2212848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4075BE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11112" y="1828800"/>
            <a:ext cx="402336" cy="402336"/>
          </a:xfrm>
          <a:prstGeom prst="ellipse">
            <a:avLst/>
          </a:prstGeom>
          <a:solidFill>
            <a:srgbClr val="1F4E9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1810512"/>
            <a:ext cx="14813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定义转重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2103120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8 篇 · 必读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432304"/>
            <a:ext cx="19385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Sherman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Lauritsen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Agniel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Beaulieu-Jones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WHO 量表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ISARIC 4C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PhysioNet 2019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ACES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73184" y="1700784"/>
            <a:ext cx="2212848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4075BE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0" y="1828800"/>
            <a:ext cx="402336" cy="402336"/>
          </a:xfrm>
          <a:prstGeom prst="ellipse">
            <a:avLst/>
          </a:prstGeom>
          <a:solidFill>
            <a:srgbClr val="1F4E9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94976" y="1810512"/>
            <a:ext cx="14813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查质量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4976" y="2103120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4 篇 · 必读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9488" y="2432304"/>
            <a:ext cx="19385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Weiskopf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Kahn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OHDSI DQD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Groenwold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73184" y="3986784"/>
            <a:ext cx="2212848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4075BE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01200" y="4114800"/>
            <a:ext cx="402336" cy="402336"/>
          </a:xfrm>
          <a:prstGeom prst="ellipse">
            <a:avLst/>
          </a:prstGeom>
          <a:solidFill>
            <a:srgbClr val="1F4E9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4976" y="4096512"/>
            <a:ext cx="14813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收数据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4976" y="4389120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4 篇 · 必读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19488" y="4718304"/>
            <a:ext cx="19385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ISARIC CCP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FluSurv-NET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GIHSN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Vassar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83096" y="3986784"/>
            <a:ext cx="2212848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4075BE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611112" y="4114800"/>
            <a:ext cx="402336" cy="402336"/>
          </a:xfrm>
          <a:prstGeom prst="ellipse">
            <a:avLst/>
          </a:prstGeom>
          <a:solidFill>
            <a:srgbClr val="1F4E9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88" y="4096512"/>
            <a:ext cx="14813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样本量与验证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4888" y="4389120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7 篇 · 必读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4718304"/>
            <a:ext cx="19385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Riley 开发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Riley 验证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Debray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Nestor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TRIPOD+AI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PROBAST+AI</a:t>
            </a:r>
            <a:r>
              <a:rPr sz="1150" b="0" i="0" lang="zh-CN" altLang="en-US">
                <a:solidFill>
                  <a:srgbClr val="8A94A6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5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Healthsheet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93008" y="3986784"/>
            <a:ext cx="2212848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4075BE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621024" y="4114800"/>
            <a:ext cx="402336" cy="402336"/>
          </a:xfrm>
          <a:prstGeom prst="ellipse">
            <a:avLst/>
          </a:prstGeom>
          <a:solidFill>
            <a:srgbClr val="1F4E9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4096512"/>
            <a:ext cx="14813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接基础模型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4389120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 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39312" y="4718304"/>
            <a:ext cx="19385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EHRSHOT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770632" y="2660904"/>
            <a:ext cx="667512" cy="0"/>
          </a:xfrm>
          <a:prstGeom prst="line">
            <a:avLst/>
          </a:prstGeom>
          <a:ln w="22225">
            <a:solidFill>
              <a:srgbClr val="4075BE"/>
            </a:solidFill>
            <a:tailEnd type="triangle" w="med" len="med"/>
          </a:ln>
        </p:spPr>
      </p:cxnSp>
      <p:sp>
        <p:nvSpPr>
          <p:cNvPr id="49" name="TextBox 48"/>
          <p:cNvSpPr txBox="1"/>
          <p:nvPr/>
        </p:nvSpPr>
        <p:spPr>
          <a:xfrm>
            <a:off x="2670048" y="227685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多家怎么合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760720" y="2660904"/>
            <a:ext cx="667512" cy="0"/>
          </a:xfrm>
          <a:prstGeom prst="line">
            <a:avLst/>
          </a:prstGeom>
          <a:ln w="22225">
            <a:solidFill>
              <a:srgbClr val="4075BE"/>
            </a:solidFill>
            <a:tailEnd type="triangle" w="med" len="med"/>
          </a:ln>
        </p:spPr>
      </p:cxnSp>
      <p:sp>
        <p:nvSpPr>
          <p:cNvPr id="51" name="TextBox 50"/>
          <p:cNvSpPr txBox="1"/>
          <p:nvPr/>
        </p:nvSpPr>
        <p:spPr>
          <a:xfrm>
            <a:off x="5660136" y="227685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转重怎么定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750808" y="2660904"/>
            <a:ext cx="667512" cy="0"/>
          </a:xfrm>
          <a:prstGeom prst="line">
            <a:avLst/>
          </a:prstGeom>
          <a:ln w="22225">
            <a:solidFill>
              <a:srgbClr val="4075BE"/>
            </a:solidFill>
            <a:tailEnd type="triangle" w="med" len="med"/>
          </a:ln>
        </p:spPr>
      </p:cxnSp>
      <p:sp>
        <p:nvSpPr>
          <p:cNvPr id="53" name="TextBox 52"/>
          <p:cNvSpPr txBox="1"/>
          <p:nvPr/>
        </p:nvSpPr>
        <p:spPr>
          <a:xfrm>
            <a:off x="8650224" y="227685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数据可信吗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8750808" y="4946904"/>
            <a:ext cx="667512" cy="0"/>
          </a:xfrm>
          <a:prstGeom prst="line">
            <a:avLst/>
          </a:prstGeom>
          <a:ln w="22225">
            <a:solidFill>
              <a:srgbClr val="4075BE"/>
            </a:solidFill>
            <a:tailEnd type="triangle" w="med" len="med"/>
          </a:ln>
        </p:spPr>
      </p:cxnSp>
      <p:sp>
        <p:nvSpPr>
          <p:cNvPr id="55" name="TextBox 54"/>
          <p:cNvSpPr txBox="1"/>
          <p:nvPr/>
        </p:nvSpPr>
        <p:spPr>
          <a:xfrm>
            <a:off x="8650224" y="456285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要收多少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5760720" y="4946904"/>
            <a:ext cx="667512" cy="0"/>
          </a:xfrm>
          <a:prstGeom prst="line">
            <a:avLst/>
          </a:prstGeom>
          <a:ln w="22225">
            <a:solidFill>
              <a:srgbClr val="4075BE"/>
            </a:solidFill>
            <a:tailEnd type="triangle" w="med" len="med"/>
          </a:ln>
        </p:spPr>
      </p:cxnSp>
      <p:sp>
        <p:nvSpPr>
          <p:cNvPr id="57" name="TextBox 56"/>
          <p:cNvSpPr txBox="1"/>
          <p:nvPr/>
        </p:nvSpPr>
        <p:spPr>
          <a:xfrm>
            <a:off x="5660136" y="456285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接基础模型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579608" y="3447288"/>
            <a:ext cx="0" cy="493776"/>
          </a:xfrm>
          <a:prstGeom prst="line">
            <a:avLst/>
          </a:prstGeom>
          <a:ln w="22225">
            <a:solidFill>
              <a:srgbClr val="4075BE"/>
            </a:solidFill>
            <a:tailEnd type="triangle" w="med" len="med"/>
          </a:ln>
        </p:spPr>
      </p:cxnSp>
      <p:sp>
        <p:nvSpPr>
          <p:cNvPr id="59" name="TextBox 58"/>
          <p:cNvSpPr txBox="1"/>
          <p:nvPr/>
        </p:nvSpPr>
        <p:spPr>
          <a:xfrm>
            <a:off x="10671048" y="3474720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新数据怎么收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3986784"/>
            <a:ext cx="2212848" cy="1700784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" y="4096512"/>
            <a:ext cx="1883664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读法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沿箭头顺序走，先读每站加粗的必读，其余按问题回查。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讲解页：</a:t>
            </a:r>
            <a:r>
              <a:rPr sz="11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paper/数据集构建调研_20261025/论文路径讲解图_数据集构建.html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6664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文献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132839" y="219456"/>
            <a:ext cx="8148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论文里最值得记住的六个数字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怎么取样本、怎么定窗口、医生做了什么，都会让模型看起来比实际好。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启示：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样本小、只有两个中心时，这些偏差更容易放大——口径和窗口要在看结果之前定下来。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近期工作与论文阅读汇报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26FE875F-FA54-4A50-B51E-2C924A8B7A15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7</a:t>
            </a:fld>
          </a:p>
        </p:txBody>
      </p:sp>
      <p:sp>
        <p:nvSpPr>
          <p:cNvPr id="13" name="Rectangle 12"/>
          <p:cNvSpPr/>
          <p:nvPr/>
        </p:nvSpPr>
        <p:spPr>
          <a:xfrm>
            <a:off x="502920" y="1664208"/>
            <a:ext cx="3593592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" y="1792224"/>
            <a:ext cx="1598173" cy="256032"/>
          </a:xfrm>
          <a:prstGeom prst="roundRect">
            <a:avLst>
              <a:gd name="adj" fmla="val 50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11 · Sherman 2017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066544"/>
            <a:ext cx="326440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.963 → .831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523744"/>
            <a:ext cx="326440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以结局为锚：同法测试 .963，换成与结局无关的测试集只剩 .831（以入院为起点：.882）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3049523"/>
            <a:ext cx="3374136" cy="4572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49523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对我们：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t0 固定在首次就诊 / 首次阳性，不按“首次重型时间”往回取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664208"/>
            <a:ext cx="3593592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62272" y="1792224"/>
            <a:ext cx="1769948" cy="256032"/>
          </a:xfrm>
          <a:prstGeom prst="roundRect">
            <a:avLst>
              <a:gd name="adj" fmla="val 50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12 · Lauritsen 2021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2066544"/>
            <a:ext cx="326440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.906 / .756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523744"/>
            <a:ext cx="326440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同一批数据：“发病前固定 12 小时”框架 AUROC .906，换成全住院滑动窗口只有 .756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7408" y="3049523"/>
            <a:ext cx="3374136" cy="4572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049523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对我们：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O3 写明是“首次就诊触发的单点预测”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1664208"/>
            <a:ext cx="3593592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57032" y="1792224"/>
            <a:ext cx="1512285" cy="256032"/>
          </a:xfrm>
          <a:prstGeom prst="roundRect">
            <a:avLst>
              <a:gd name="adj" fmla="val 50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13 · Agniel 2018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2066544"/>
            <a:ext cx="326440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86%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2523744"/>
            <a:ext cx="326440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272 项检验中 86% 的“做没做”就与死亡相关；36% 的检验里最强因子是检验间隔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02168" y="3049523"/>
            <a:ext cx="3374136" cy="4572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3049523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对我们：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测量次数、间隔单列为过程变量，跨院时查它是否只在认医院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99332"/>
            <a:ext cx="3593592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7512" y="3927348"/>
            <a:ext cx="1254622" cy="256032"/>
          </a:xfrm>
          <a:prstGeom prst="roundRect">
            <a:avLst>
              <a:gd name="adj" fmla="val 50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07 · 4CE 2020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4201668"/>
            <a:ext cx="326440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13%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658868"/>
            <a:ext cx="326440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14 项检验各定了编码与单位，只有 13% 的站点交齐；ICU 照护级别难识别、不可靠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" y="5184648"/>
            <a:ext cx="3374136" cy="4572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184648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对我们：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我们的 ICU 认定也卡在科室名上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3799332"/>
            <a:ext cx="3593592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62272" y="3927348"/>
            <a:ext cx="1426397" cy="256032"/>
          </a:xfrm>
          <a:prstGeom prst="roundRect">
            <a:avLst>
              <a:gd name="adj" fmla="val 50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27 · Riley 2020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2272" y="4201668"/>
            <a:ext cx="326440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263 个事件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2" y="4658868"/>
            <a:ext cx="326440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例：结局 5%、30 个候选参数，至少要 5,249 人、263 个事件；机器学习还要多得多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07408" y="5184648"/>
            <a:ext cx="3374136" cy="4572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184648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对我们：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按我们的结局率用 pmsampsize 算，再定变量个数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3799332"/>
            <a:ext cx="3593592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57032" y="3927348"/>
            <a:ext cx="1512285" cy="256032"/>
          </a:xfrm>
          <a:prstGeom prst="roundRect">
            <a:avLst>
              <a:gd name="adj" fmla="val 50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26 · Vassar 2013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7032" y="4201668"/>
            <a:ext cx="326440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κ ≥ 0.6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57032" y="4658868"/>
            <a:ext cx="326440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病历摘录要标准表单与手册，两人独立摘录、报 κ，先做约 10% 的预试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02168" y="5184648"/>
            <a:ext cx="3374136" cy="4572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5184648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对我们：</a:t>
            </a: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复核与规则抽取补一份一致性报告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6664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文献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132839" y="219456"/>
            <a:ext cx="8148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文献落到项目里：四类改动，大多不改定义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范本的共同做法：保留原名、标明来源、窗口写死、先算样本量——flucase 方向对，还缺几块。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说明：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这些都是技术改动，可以先在虚构数据上做；改变定义的放到第 11 页讨论。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近期工作与论文阅读汇报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8B0F73D9-3A2D-41E0-AE41-ED09944C9DCC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8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2920" y="16642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讲解页里的一张卡片</a:t>
            </a: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：左边论文做法，右边对本项目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1975104"/>
            <a:ext cx="5084064" cy="1639862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5" name="讲解页卡片截图：CLIF" descr="论文讲解页_卡片_CL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02536"/>
            <a:ext cx="5029200" cy="158499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380699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例：“呼吸支持”长表</a:t>
            </a:r>
            <a:r>
              <a:rPr sz="12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（虚构示例，参照 CLIF 08、WHO 量表 15）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4136174"/>
          <a:ext cx="5029200" cy="1216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1280160"/>
                <a:gridCol w="1280160"/>
                <a:gridCol w="15544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设备类别</a:t>
                      </a:r>
                    </a:p>
                  </a:txBody>
                  <a:tcPr marL="91440" marT="45720" marR="9144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开始</a:t>
                      </a:r>
                    </a:p>
                  </a:txBody>
                  <a:tcPr marL="91440" marT="45720" marR="9144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结束</a:t>
                      </a:r>
                    </a:p>
                  </a:txBody>
                  <a:tcPr marL="91440" marT="45720" marR="9144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医院原文</a:t>
                      </a:r>
                    </a:p>
                  </a:txBody>
                  <a:tcPr marL="91440" marT="45720" marR="9144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鼻导管</a:t>
                      </a:r>
                    </a:p>
                  </a:txBody>
                  <a:tcPr marL="91440" marT="45720" marR="9144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 天 09:10</a:t>
                      </a:r>
                    </a:p>
                  </a:txBody>
                  <a:tcPr marL="91440" marT="45720" marR="9144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3 天 16:00</a:t>
                      </a:r>
                    </a:p>
                  </a:txBody>
                  <a:tcPr marL="91440" marT="45720" marR="9144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鼻导管吸氧 2L/min</a:t>
                      </a:r>
                    </a:p>
                  </a:txBody>
                  <a:tcPr marL="91440" marT="45720" marR="9144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高流量</a:t>
                      </a:r>
                    </a:p>
                  </a:txBody>
                  <a:tcPr marL="91440" marT="45720" marR="9144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3 天 16:05</a:t>
                      </a:r>
                    </a:p>
                  </a:txBody>
                  <a:tcPr marL="91440" marT="45720" marR="9144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5 天 10:00</a:t>
                      </a:r>
                    </a:p>
                  </a:txBody>
                  <a:tcPr marL="91440" marT="45720" marR="9144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经鼻高流量 FiO2 40%</a:t>
                      </a:r>
                    </a:p>
                  </a:txBody>
                  <a:tcPr marL="91440" marT="45720" marR="9144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无创通气</a:t>
                      </a:r>
                    </a:p>
                  </a:txBody>
                  <a:tcPr marL="91440" marT="45720" marR="9144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5 天 10:20</a:t>
                      </a:r>
                    </a:p>
                  </a:txBody>
                  <a:tcPr marL="91440" marT="45720" marR="9144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T="45720" marR="9144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BiPAP 辅助通气</a:t>
                      </a:r>
                    </a:p>
                  </a:txBody>
                  <a:tcPr marL="91440" marT="45720" marR="9144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806440" y="1664208"/>
            <a:ext cx="5879592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06440" y="1664208"/>
            <a:ext cx="1188720" cy="94183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flucase · 导出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664208"/>
            <a:ext cx="3136392" cy="9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4075BE"/>
              </a:buClr>
              <a:buFont typeface="Arial"/>
              <a:buChar char="•"/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事件时间标来源（测量 / 医嘱 / 书写 / 推断）；治疗标医嘱 / 执行 / 提及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4075BE"/>
              </a:buClr>
              <a:buFont typeface="Arial"/>
              <a:buChar char="•"/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新增呼吸支持长表；概念字典与原名映射随导出发布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0152" y="1664208"/>
            <a:ext cx="1234440" cy="9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01 · 02 · 03</a:t>
            </a:r>
            <a:br>
              <a:rPr lang="zh-CN" sz="1050">
                <a:latin typeface="微软雅黑"/>
                <a:ea typeface="微软雅黑"/>
                <a:cs typeface="微软雅黑"/>
              </a:rPr>
            </a:br>
            <a:r>
              <a:rPr sz="105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08 · 09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00A4CB"/>
                </a:solidFill>
                <a:latin typeface="微软雅黑"/>
                <a:ea typeface="微软雅黑"/>
                <a:cs typeface="微软雅黑"/>
              </a:rPr>
              <a:t>现在可做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2706624"/>
            <a:ext cx="5879592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06440" y="2706624"/>
            <a:ext cx="1188720" cy="94183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任务定义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t0 · 窗口 · 标签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706624"/>
            <a:ext cx="3136392" cy="9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4075BE"/>
              </a:buClr>
              <a:buFont typeface="Arial"/>
              <a:buChar char="•"/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任务写成“触发 + 窗口 + 排除”，结局窗口与中心无关、单独成文件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4075BE"/>
              </a:buClr>
              <a:buFont typeface="Arial"/>
              <a:buChar char="•"/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t0 时已达结局的不进主分析；医生行为特征只作对照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0152" y="2706624"/>
            <a:ext cx="1234440" cy="9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11 · 14 · 16</a:t>
            </a:r>
            <a:br>
              <a:rPr lang="zh-CN" sz="1050">
                <a:latin typeface="微软雅黑"/>
                <a:ea typeface="微软雅黑"/>
                <a:cs typeface="微软雅黑"/>
              </a:rPr>
            </a:br>
            <a:r>
              <a:rPr sz="105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17 · 18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口径定稿时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3749040"/>
            <a:ext cx="5879592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06440" y="3749040"/>
            <a:ext cx="1188720" cy="94183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质控与收集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宽表 · 复核 · 前瞻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749040"/>
            <a:ext cx="3136392" cy="9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4075BE"/>
              </a:buClr>
              <a:buFont typeface="Arial"/>
              <a:buChar char="•"/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检查带阈值、出质量成绩单；规则抽取两人独立标注、报 κ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4075BE"/>
              </a:buClr>
              <a:buFont typeface="Arial"/>
              <a:buChar char="•"/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前瞻按固定时点采集，加起病前功能状态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3749040"/>
            <a:ext cx="1234440" cy="9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20 · 21 · 23</a:t>
            </a:r>
            <a:br>
              <a:rPr lang="zh-CN" sz="1050">
                <a:latin typeface="微软雅黑"/>
                <a:ea typeface="微软雅黑"/>
                <a:cs typeface="微软雅黑"/>
              </a:rPr>
            </a:br>
            <a:r>
              <a:rPr sz="105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25 · 26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前瞻表单定稿前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4791456"/>
            <a:ext cx="5879592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06440" y="4791456"/>
            <a:ext cx="1188720" cy="94183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样本量与验证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建模 · 文档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791456"/>
            <a:ext cx="3136392" cy="9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4075BE"/>
              </a:buClr>
              <a:buFont typeface="Arial"/>
              <a:buChar char="•"/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按事件数算样本量（pmsampsize）；外部验证先比较人群差异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4075BE"/>
              </a:buClr>
              <a:buFont typeface="Arial"/>
              <a:buChar char="•"/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新季节按时间切分、只评一次；写中文 Healthsheet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0152" y="4791456"/>
            <a:ext cx="1234440" cy="9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27 · 29</a:t>
            </a:r>
            <a:br>
              <a:rPr lang="zh-CN" sz="1050">
                <a:latin typeface="微软雅黑"/>
                <a:ea typeface="微软雅黑"/>
                <a:cs typeface="微软雅黑"/>
              </a:rPr>
            </a:br>
            <a:r>
              <a:rPr sz="105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30 · 33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建模前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10220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临床答复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488439" y="219456"/>
            <a:ext cx="77927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GD 临床答复：6 项同意，5 处要改口径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13 题都有答复；要改的 5 处里 ICU 影响最大，ICU、再住院两处与文献做法一致。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另外：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第 3 题给了门急诊检索条件（诊断 + 症状 + 检验），可用来申请门急诊、发热门诊数据；第 6 题见下一页。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近期工作与论文阅读汇报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74466090-15B3-4619-BBB7-526E8F4CAB72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9</a:t>
            </a:fld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809595" cy="512064"/>
          </a:xfrm>
          <a:prstGeom prst="roundRect">
            <a:avLst>
              <a:gd name="adj" fmla="val 12000"/>
            </a:avLst>
          </a:prstGeom>
          <a:solidFill>
            <a:srgbClr val="4075BE"/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 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发热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67379" y="1645920"/>
            <a:ext cx="809595" cy="512064"/>
          </a:xfrm>
          <a:prstGeom prst="roundRect">
            <a:avLst>
              <a:gd name="adj" fmla="val 12000"/>
            </a:avLst>
          </a:prstGeom>
          <a:solidFill>
            <a:srgbClr val="B7791F"/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2 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慢性低氧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1839" y="1645920"/>
            <a:ext cx="809595" cy="512064"/>
          </a:xfrm>
          <a:prstGeom prst="roundRect">
            <a:avLst>
              <a:gd name="adj" fmla="val 12000"/>
            </a:avLst>
          </a:prstGeom>
          <a:solidFill>
            <a:srgbClr val="00A4CB"/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3 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96299" y="1645920"/>
            <a:ext cx="809595" cy="512064"/>
          </a:xfrm>
          <a:prstGeom prst="roundRect">
            <a:avLst>
              <a:gd name="adj" fmla="val 12000"/>
            </a:avLst>
          </a:prstGeom>
          <a:solidFill>
            <a:srgbClr val="4075BE"/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4 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60758" y="1645920"/>
            <a:ext cx="809595" cy="512064"/>
          </a:xfrm>
          <a:prstGeom prst="roundRect">
            <a:avLst>
              <a:gd name="adj" fmla="val 12000"/>
            </a:avLst>
          </a:prstGeom>
          <a:solidFill>
            <a:srgbClr val="B7791F"/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5 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再住院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5218" y="1645920"/>
            <a:ext cx="809595" cy="512064"/>
          </a:xfrm>
          <a:prstGeom prst="roundRect">
            <a:avLst>
              <a:gd name="adj" fmla="val 12000"/>
            </a:avLst>
          </a:prstGeom>
          <a:solidFill>
            <a:srgbClr val="00A4CB"/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6 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89678" y="1645920"/>
            <a:ext cx="809595" cy="512064"/>
          </a:xfrm>
          <a:prstGeom prst="roundRect">
            <a:avLst>
              <a:gd name="adj" fmla="val 12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7 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新开始吸氧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4137" y="1645920"/>
            <a:ext cx="809595" cy="512064"/>
          </a:xfrm>
          <a:prstGeom prst="roundRect">
            <a:avLst>
              <a:gd name="adj" fmla="val 12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8 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进 ICU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18597" y="1645920"/>
            <a:ext cx="809595" cy="512064"/>
          </a:xfrm>
          <a:prstGeom prst="roundRect">
            <a:avLst>
              <a:gd name="adj" fmla="val 12000"/>
            </a:avLst>
          </a:prstGeom>
          <a:solidFill>
            <a:srgbClr val="B7791F"/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9 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ICU 科室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3057" y="1645920"/>
            <a:ext cx="809595" cy="512064"/>
          </a:xfrm>
          <a:prstGeom prst="roundRect">
            <a:avLst>
              <a:gd name="adj" fmla="val 12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10 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术后 ICU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7516" y="1645920"/>
            <a:ext cx="809595" cy="512064"/>
          </a:xfrm>
          <a:prstGeom prst="roundRect">
            <a:avLst>
              <a:gd name="adj" fmla="val 12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11 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无创高流量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1976" y="1645920"/>
            <a:ext cx="809595" cy="512064"/>
          </a:xfrm>
          <a:prstGeom prst="roundRect">
            <a:avLst>
              <a:gd name="adj" fmla="val 12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12 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年龄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76436" y="1645920"/>
            <a:ext cx="809595" cy="512064"/>
          </a:xfrm>
          <a:prstGeom prst="roundRect">
            <a:avLst>
              <a:gd name="adj" fmla="val 12000"/>
            </a:avLst>
          </a:prstGeom>
          <a:solidFill>
            <a:srgbClr val="1F4E94"/>
          </a:solidFill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13 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SpO2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286000"/>
            <a:ext cx="164592" cy="12801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2212848"/>
            <a:ext cx="84632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同意现行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69288" y="2286000"/>
            <a:ext cx="164592" cy="128016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9599" y="2212848"/>
            <a:ext cx="7066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补细则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5956" y="2286000"/>
            <a:ext cx="164592" cy="128016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06268" y="2212848"/>
            <a:ext cx="7066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改口径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22624" y="2286000"/>
            <a:ext cx="164592" cy="12801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2936" y="2212848"/>
            <a:ext cx="7066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新材料 2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02920" y="2578608"/>
          <a:ext cx="11183111" cy="314553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2788920"/>
                <a:gridCol w="2606040"/>
                <a:gridCol w="2999232"/>
                <a:gridCol w="187451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题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GD 的答复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拟改口径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10-24 导出的计数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文献呼应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</a:tr>
              <a:tr h="56327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9 题</a:t>
                      </a:r>
                      <a:br>
                        <a:rPr lang="zh-CN" sz="1150">
                          <a:latin typeface="微软雅黑"/>
                          <a:ea typeface="微软雅黑"/>
                          <a:cs typeface="微软雅黑"/>
                        </a:rPr>
                      </a:br>
                      <a:r>
                        <a:rPr sz="115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ICU 科室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科内有监护室的，按医嘱有无“重症监护”区分；EICU 保留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科室名命中，或标黄科室且有重症监护医嘱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标黄 12 个科室共 GD 297 次住院，现行都不算 ICU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 WHO 量表：看支持措施不看地点；07 4CE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327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2 题</a:t>
                      </a:r>
                      <a:br>
                        <a:rPr lang="zh-CN" sz="1150">
                          <a:latin typeface="微软雅黑"/>
                          <a:ea typeface="微软雅黑"/>
                          <a:cs typeface="微软雅黑"/>
                        </a:rPr>
                      </a:br>
                      <a:r>
                        <a:rPr sz="115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慢性低氧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平时血氧差异大，用血气判断呼吸衰竭；另加间质性肺病、哮喘、心衰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慢性低氧扩到这三类，改用血气（阈值待定）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COPD：GD 148、GAM 23；吸空气 SpO2 ≤93% 两院都 &lt;10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8A94A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327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5 题</a:t>
                      </a:r>
                      <a:br>
                        <a:rPr lang="zh-CN" sz="1150">
                          <a:latin typeface="微软雅黑"/>
                          <a:ea typeface="微软雅黑"/>
                          <a:cs typeface="微软雅黑"/>
                        </a:rPr>
                      </a:br>
                      <a:r>
                        <a:rPr sz="115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再住院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 天内再住院期间的转重，算进第一次住院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住院任务的标签窗含同一病程的再住院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 天内再住院：GD 0、GAM &lt;10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 ISARIC CCP · 18 ACES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327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4 题</a:t>
                      </a:r>
                      <a:br>
                        <a:rPr lang="zh-CN" sz="1150">
                          <a:latin typeface="微软雅黑"/>
                          <a:ea typeface="微软雅黑"/>
                          <a:cs typeface="微软雅黑"/>
                        </a:rPr>
                      </a:br>
                      <a:r>
                        <a:rPr sz="115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确诊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弱阳性算；加 NGS 报告；只写“甲 / 乙型流感病毒”的认作抗原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检测对应表加 NGS，两项改为抗原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弱阳性 GD 99 次就诊，其中 82 次只有这一条阳性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06 N3C：检测证据分层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327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 题</a:t>
                      </a:r>
                      <a:br>
                        <a:rPr lang="zh-CN" sz="1150">
                          <a:latin typeface="微软雅黑"/>
                          <a:ea typeface="微软雅黑"/>
                          <a:cs typeface="微软雅黑"/>
                        </a:rPr>
                      </a:br>
                      <a:r>
                        <a:rPr sz="1150" b="1" i="0" lang="zh-CN" altLang="en-US">
                          <a:solidFill>
                            <a:srgbClr val="1137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发热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都按腋温；“昨日到今晨无发热”即退热；不发热者从感冒样症状起算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体温不折算；退热加文字规则；起病按首个感冒样症状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2731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入院前后 24 小时不发热：GD 24%、GAM 67%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zh-CN" altLang="en-US">
                          <a:solidFill>
                            <a:srgbClr val="8A94A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73152" marT="27432" marR="7315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10220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临床答复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488439" y="219456"/>
            <a:ext cx="77927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中医证型：355 种写法已对到 7 型的 271 种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GD 按 2025 年版诊疗方案的 7 个证型填了对应表；按就诊算，GD 已覆盖 85%，GAM 69%。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下一步：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84 种未填的（多为痰、瘀、虚类）发回 GD 补填或标“不对应”；证候只作研究变量，不进分级。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近期工作与论文阅读汇报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8C3BAEB4-FD3B-4D8C-8FC6-7C05AE0ACE53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10</a:t>
            </a:fld>
          </a:p>
        </p:txBody>
      </p:sp>
      <p:sp>
        <p:nvSpPr>
          <p:cNvPr id="13" name="Rectangle 12"/>
          <p:cNvSpPr/>
          <p:nvPr/>
        </p:nvSpPr>
        <p:spPr>
          <a:xfrm>
            <a:off x="502920" y="1664208"/>
            <a:ext cx="630936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719072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对到各证型的就诊次数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828800"/>
            <a:ext cx="164592" cy="12801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1755648"/>
            <a:ext cx="3266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30748" y="1828800"/>
            <a:ext cx="164592" cy="12801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1060" y="1755648"/>
            <a:ext cx="40767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GAM</a:t>
            </a:r>
          </a:p>
        </p:txBody>
      </p:sp>
      <p:graphicFrame>
        <p:nvGraphicFramePr>
          <p:cNvPr id="19" name="证型条形图"/>
          <p:cNvGraphicFramePr>
            <a:graphicFrameLocks noGrp="1"/>
          </p:cNvGraphicFramePr>
          <p:nvPr/>
        </p:nvGraphicFramePr>
        <p:xfrm>
          <a:off x="594360" y="2066543"/>
          <a:ext cx="608076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85800" y="532180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按写法累加的就诊次数（一次就诊可写多个证候）；轻症 4 型、重症 2 型、恢复期 1 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1664208"/>
            <a:ext cx="22402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7184" y="1719072"/>
            <a:ext cx="1947672" cy="408919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355 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2127991"/>
            <a:ext cx="1947672" cy="254568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证候写法（两院去重）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45752" y="1664208"/>
            <a:ext cx="22402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92056" y="1719072"/>
            <a:ext cx="1947672" cy="408919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271 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92056" y="2127991"/>
            <a:ext cx="1947672" cy="254568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GD 已填（76%）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2560320"/>
            <a:ext cx="22402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87184" y="2615184"/>
            <a:ext cx="1947672" cy="408919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85% · 69%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7184" y="3024103"/>
            <a:ext cx="1947672" cy="254568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已覆盖就诊（GD · GAM）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45752" y="2560320"/>
            <a:ext cx="22402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92056" y="2615184"/>
            <a:ext cx="1947672" cy="408919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84 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92056" y="3024103"/>
            <a:ext cx="1947672" cy="254568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待补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3529584"/>
            <a:ext cx="4645152" cy="2203703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3621024"/>
            <a:ext cx="4279392" cy="20208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处理要点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/>
              <a:buChar char="•"/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150 种写法是“¤”连起来的多个证候：先拆开去重，再对应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/>
              <a:buChar char="•"/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系统现在只认方案原名：改为读这张对应表，原名保留、随导出发布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/>
              <a:buChar char="•"/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待补最多：痰浊阻肺证（GD 60）、痰瘀互结证（GAM 31）</a:t>
            </a:r>
          </a:p>
          <a:p>
            <a:pPr algn="l" marL="182880" indent="-182880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/>
              <a:buChar char="•"/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一次就诊对到多个证型时怎么取，需要定口径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6664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132839" y="219456"/>
            <a:ext cx="8148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需要讨论确定的六件事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前五件改变口径定义，列出选项和证据，标“参考”的是建议；第六件需要协调数据。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定下后：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登记为新版本口径（规则集 v0.4），旧版本保留，两院重算后对比。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近期工作与论文阅读汇报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193F8716-C264-40EE-8507-26D3C36F1D10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11</a:t>
            </a:fld>
          </a:p>
        </p:txBody>
      </p:sp>
      <p:sp>
        <p:nvSpPr>
          <p:cNvPr id="13" name="Rectangle 12"/>
          <p:cNvSpPr/>
          <p:nvPr/>
        </p:nvSpPr>
        <p:spPr>
          <a:xfrm>
            <a:off x="502920" y="1664208"/>
            <a:ext cx="3593592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64208"/>
            <a:ext cx="3593592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1664208"/>
            <a:ext cx="331927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ICU 怎么认</a:t>
            </a:r>
            <a:r>
              <a:rPr sz="11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第 9 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103120"/>
            <a:ext cx="330098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标黄 12 个科室 GD 297 次住院，现行都不算 ICU；EICU 也有普通床位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" y="2606040"/>
            <a:ext cx="274320" cy="237744"/>
          </a:xfrm>
          <a:prstGeom prst="roundRect">
            <a:avLst>
              <a:gd name="adj" fmla="val 30000"/>
            </a:avLst>
          </a:prstGeom>
          <a:solidFill>
            <a:srgbClr val="FBF1D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" y="2578608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维持：只看科室名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" y="2935224"/>
            <a:ext cx="274320" cy="237744"/>
          </a:xfrm>
          <a:prstGeom prst="roundRect">
            <a:avLst>
              <a:gd name="adj" fmla="val 30000"/>
            </a:avLst>
          </a:prstGeom>
          <a:solidFill>
            <a:srgbClr val="B7791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" y="2907792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科室名，或标黄科室且有重症监护医嘱</a:t>
            </a:r>
            <a:r>
              <a:rPr sz="105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  参考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268979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需要：重症监护类医嘱的名称清单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664208"/>
            <a:ext cx="3593592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1664208"/>
            <a:ext cx="3593592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3984" y="1664208"/>
            <a:ext cx="331927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新开始吸氧</a:t>
            </a:r>
            <a:r>
              <a:rPr sz="11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第 7 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2103120"/>
            <a:ext cx="330098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临床同意；GD 给氧 522 次中有低氧证据的 25%，但 SpO2 多被推断为吸氧中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3984" y="2606040"/>
            <a:ext cx="274320" cy="237744"/>
          </a:xfrm>
          <a:prstGeom prst="roundRect">
            <a:avLst>
              <a:gd name="adj" fmla="val 30000"/>
            </a:avLst>
          </a:prstGeom>
          <a:solidFill>
            <a:srgbClr val="FBF1D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6" y="2578608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维持代理判据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3984" y="2935224"/>
            <a:ext cx="274320" cy="237744"/>
          </a:xfrm>
          <a:prstGeom prst="roundRect">
            <a:avLst>
              <a:gd name="adj" fmla="val 30000"/>
            </a:avLst>
          </a:prstGeom>
          <a:solidFill>
            <a:srgbClr val="FBF1D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6" y="2907792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要求给氧前后有低氧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3984" y="3264408"/>
            <a:ext cx="274320" cy="237744"/>
          </a:xfrm>
          <a:prstGeom prst="roundRect">
            <a:avLst>
              <a:gd name="adj" fmla="val 30000"/>
            </a:avLst>
          </a:prstGeom>
          <a:solidFill>
            <a:srgbClr val="B7791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3236976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主口径维持，“伴低氧”作敏感性</a:t>
            </a:r>
            <a:r>
              <a:rPr sz="105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  参考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1664208"/>
            <a:ext cx="3593592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1664208"/>
            <a:ext cx="3593592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38744" y="1664208"/>
            <a:ext cx="331927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慢性低氧者</a:t>
            </a:r>
            <a:r>
              <a:rPr sz="11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第 2 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2103120"/>
            <a:ext cx="330098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临床建议用血气判呼吸衰竭；病种加间质性肺病、哮喘、心衰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38744" y="2606040"/>
            <a:ext cx="274320" cy="237744"/>
          </a:xfrm>
          <a:prstGeom prst="roundRect">
            <a:avLst>
              <a:gd name="adj" fmla="val 30000"/>
            </a:avLst>
          </a:prstGeom>
          <a:solidFill>
            <a:srgbClr val="FBF1D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2578608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病种清单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38744" y="2935224"/>
            <a:ext cx="274320" cy="237744"/>
          </a:xfrm>
          <a:prstGeom prst="roundRect">
            <a:avLst>
              <a:gd name="adj" fmla="val 30000"/>
            </a:avLst>
          </a:prstGeom>
          <a:solidFill>
            <a:srgbClr val="FBF1D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6216" y="2907792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血气阈值，以及没有血气时怎么办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799332"/>
            <a:ext cx="3593592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3799332"/>
            <a:ext cx="3593592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" y="3799332"/>
            <a:ext cx="331927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14 天内再住院</a:t>
            </a:r>
            <a:r>
              <a:rPr sz="11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第 5 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" y="4238244"/>
            <a:ext cx="330098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临床：算进第一次住院；影响 GD 0、GAM &lt;10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" y="4741164"/>
            <a:ext cx="274320" cy="237744"/>
          </a:xfrm>
          <a:prstGeom prst="roundRect">
            <a:avLst>
              <a:gd name="adj" fmla="val 30000"/>
            </a:avLst>
          </a:prstGeom>
          <a:solidFill>
            <a:srgbClr val="FBF1D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" y="4713732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不算（现行）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" y="5070348"/>
            <a:ext cx="274320" cy="237744"/>
          </a:xfrm>
          <a:prstGeom prst="roundRect">
            <a:avLst>
              <a:gd name="adj" fmla="val 30000"/>
            </a:avLst>
          </a:prstGeom>
          <a:solidFill>
            <a:srgbClr val="B7791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" y="5042916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算，出新版本标签</a:t>
            </a:r>
            <a:r>
              <a:rPr sz="105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  参考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3799332"/>
            <a:ext cx="3593592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97680" y="3799332"/>
            <a:ext cx="3593592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43984" y="3799332"/>
            <a:ext cx="331927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⑤ 细则：确诊与发热</a:t>
            </a:r>
            <a:r>
              <a:rPr sz="11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第 4、1 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43984" y="4238244"/>
            <a:ext cx="330098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临床意见明确：弱阳性 GD 99 次；基线不发热 GD 24%、GAM 67%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43984" y="4741164"/>
            <a:ext cx="274320" cy="237744"/>
          </a:xfrm>
          <a:prstGeom prst="roundRect">
            <a:avLst>
              <a:gd name="adj" fmla="val 30000"/>
            </a:avLst>
          </a:prstGeom>
          <a:solidFill>
            <a:srgbClr val="FBF1D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91456" y="4713732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弱阳性算；加 NGS；两项认作抗原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43984" y="5070348"/>
            <a:ext cx="274320" cy="237744"/>
          </a:xfrm>
          <a:prstGeom prst="roundRect">
            <a:avLst>
              <a:gd name="adj" fmla="val 30000"/>
            </a:avLst>
          </a:prstGeom>
          <a:solidFill>
            <a:srgbClr val="FBF1D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91456" y="5042916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腋温不折算；退热看病程记录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43984" y="5399532"/>
            <a:ext cx="274320" cy="237744"/>
          </a:xfrm>
          <a:prstGeom prst="roundRect">
            <a:avLst>
              <a:gd name="adj" fmla="val 30000"/>
            </a:avLst>
          </a:prstGeom>
          <a:solidFill>
            <a:srgbClr val="FBF1D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B7791F"/>
                </a:solidFill>
                <a:latin typeface="微软雅黑"/>
                <a:ea typeface="微软雅黑"/>
                <a:cs typeface="微软雅黑"/>
              </a:rPr>
              <a:t>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91456" y="5372100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不发热者从感冒样症状起算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92440" y="3799332"/>
            <a:ext cx="3593592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92440" y="3799332"/>
            <a:ext cx="3593592" cy="384048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38744" y="3799332"/>
            <a:ext cx="331927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⑥ 门急诊数据</a:t>
            </a:r>
            <a:r>
              <a:rPr sz="11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第 3 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38744" y="4238244"/>
            <a:ext cx="330098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门急诊符合主分析的只有 17 次，O3 缺样本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38744" y="4741164"/>
            <a:ext cx="274320" cy="237744"/>
          </a:xfrm>
          <a:prstGeom prst="roundRect">
            <a:avLst>
              <a:gd name="adj" fmla="val 30000"/>
            </a:avLst>
          </a:prstGeom>
          <a:solidFill>
            <a:srgbClr val="E3F5FA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00A4CB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86216" y="4713732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按临床给的检索条件：诊断 + 症状 + 检验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38744" y="5070348"/>
            <a:ext cx="274320" cy="237744"/>
          </a:xfrm>
          <a:prstGeom prst="roundRect">
            <a:avLst>
              <a:gd name="adj" fmla="val 30000"/>
            </a:avLst>
          </a:prstGeom>
          <a:solidFill>
            <a:srgbClr val="E3F5FA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zh-CN" altLang="en-US">
                <a:solidFill>
                  <a:srgbClr val="00A4CB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86216" y="5042916"/>
            <a:ext cx="29535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altLang="en-US">
                <a:solidFill>
                  <a:srgbClr val="273140"/>
                </a:solidFill>
                <a:latin typeface="微软雅黑"/>
                <a:ea typeface="微软雅黑"/>
                <a:cs typeface="微软雅黑"/>
              </a:rPr>
              <a:t>申请两院门急诊、发热门诊导出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38744" y="5404103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4075BE"/>
                </a:solidFill>
                <a:latin typeface="微软雅黑"/>
                <a:ea typeface="微软雅黑"/>
                <a:cs typeface="微软雅黑"/>
              </a:rPr>
              <a:t>需要协调：信息科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1F4E94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下一步：先定口径出 v0.4，赶在流感高峰前定稿</a:t>
            </a:r>
          </a:p>
        </p:txBody>
      </p:sp>
      <p:sp>
        <p:nvSpPr>
          <p:cNvPr id="6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关键路径：定口径 → v0.4 与 GAM 新数据 → 两院重算 → 口径定稿 → 流感高峰前上线前瞻收集。</a:t>
            </a:r>
          </a:p>
        </p:txBody>
      </p:sp>
      <p:sp>
        <p:nvSpPr>
          <p:cNvPr id="9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11 月底前要有：</a:t>
            </a:r>
            <a:r>
              <a:rPr sz="15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v0.4 在两院的真实计数、定稿的口径与证型对应、Healthsheet 初稿、六模型汇总表。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老年流感转重研究 · 近期工作与论文阅读汇报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9C5F06F4-E160-46F6-B508-A2DA1FA0D4E3}" type="slidenum">
              <a:rPr lang="zh-CN" sz="1050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12</a:t>
            </a:fld>
          </a:p>
        </p:txBody>
      </p:sp>
      <p:sp>
        <p:nvSpPr>
          <p:cNvPr id="13" name="Rectangle 12"/>
          <p:cNvSpPr/>
          <p:nvPr/>
        </p:nvSpPr>
        <p:spPr>
          <a:xfrm>
            <a:off x="2020824" y="1664208"/>
            <a:ext cx="2352294" cy="40233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本周</a:t>
            </a:r>
            <a:r>
              <a:rPr sz="10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10-26 – 11-01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6270" y="1664208"/>
            <a:ext cx="2352294" cy="40233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下周</a:t>
            </a:r>
            <a:r>
              <a:rPr sz="10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11-02 – 11-08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71716" y="1664208"/>
            <a:ext cx="2352294" cy="40233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 月中</a:t>
            </a:r>
            <a:r>
              <a:rPr sz="10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11-09 – 11-22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97162" y="1664208"/>
            <a:ext cx="2352294" cy="40233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 月</a:t>
            </a:r>
            <a:r>
              <a:rPr sz="1050" b="0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流感高峰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130552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口径 · GD 答复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724912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GAM 补充数据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19272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证型对应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13632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门急诊与前瞻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507992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文献落地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02352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六模型实验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39112" y="2167128"/>
            <a:ext cx="2315718" cy="475488"/>
          </a:xfrm>
          <a:prstGeom prst="roundRect">
            <a:avLst>
              <a:gd name="adj" fmla="val 12000"/>
            </a:avLst>
          </a:prstGeom>
          <a:solidFill>
            <a:srgbClr val="1F4E94"/>
          </a:solidFill>
          <a:ln>
            <a:noFill/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讨论确定 5 处口径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出规则集 v0.4 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64557" y="2167128"/>
            <a:ext cx="231571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两院按 v0.3 / v0.4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重算对比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90004" y="2167128"/>
            <a:ext cx="2315718" cy="475488"/>
          </a:xfrm>
          <a:prstGeom prst="roundRect">
            <a:avLst>
              <a:gd name="adj" fmla="val 12000"/>
            </a:avLst>
          </a:prstGeom>
          <a:solidFill>
            <a:srgbClr val="1F4E94"/>
          </a:solidFill>
          <a:ln>
            <a:noFill/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口径定稿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39112" y="2761488"/>
            <a:ext cx="231571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只出计数的扫描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判断读取器要不要升级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64557" y="2761488"/>
            <a:ext cx="231571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重新导入、重导 std_v3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重跑宽表与计数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39112" y="3355848"/>
            <a:ext cx="231571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拆开“¤”、去重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未填的 84 种发回 GD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64557" y="3355848"/>
            <a:ext cx="231571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对应表进系统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导出加证型列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39112" y="3950208"/>
            <a:ext cx="4741164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按检索条件申请两院门急诊、发热门诊导出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90004" y="3950208"/>
            <a:ext cx="231571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医生试用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前瞻表单定稿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15450" y="3950208"/>
            <a:ext cx="2315718" cy="475488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 w="15875">
            <a:solidFill>
              <a:srgbClr val="C0392B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 altLang="en-US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上线前瞻收集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39112" y="4544568"/>
            <a:ext cx="231571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时间来源列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治疗来源类型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64557" y="4544568"/>
            <a:ext cx="231571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呼吸支持长表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质量成绩单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90004" y="4544568"/>
            <a:ext cx="231571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Healthsheet 初稿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样本量估算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39112" y="5138928"/>
            <a:ext cx="4741164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dash"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646E79"/>
                </a:solidFill>
                <a:latin typeface="微软雅黑"/>
                <a:ea typeface="微软雅黑"/>
                <a:cs typeface="微软雅黑"/>
              </a:rPr>
              <a:t>等合作同学的 OPL-MT-MNAR 结果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90004" y="5138928"/>
            <a:ext cx="231571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75BE"/>
            </a:solidFill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六模型汇总</a:t>
            </a:r>
            <a:br>
              <a:rPr lang="zh-CN" sz="1100">
                <a:latin typeface="微软雅黑"/>
                <a:ea typeface="微软雅黑"/>
                <a:cs typeface="微软雅黑"/>
              </a:rPr>
            </a:br>
            <a:r>
              <a:rPr sz="11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与配对比较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致谢横带"/>
          <p:cNvSpPr/>
          <p:nvPr/>
        </p:nvSpPr>
        <p:spPr>
          <a:xfrm>
            <a:off x="0" y="2331720"/>
            <a:ext cx="12191695" cy="14630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rtlCol="0" anchor="ctr"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 lang="zh-CN" altLang="en-US">
                <a:solidFill>
                  <a:srgbClr val="FFFFFF"/>
                </a:solidFill>
                <a:effectLst>
                  <a:outerShdw blurRad="50800" dist="38100" dir="5400000" algn="ctr" rotWithShape="0">
                    <a:srgbClr val="000000">
                      <a:alpha val="45000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谢谢！欢迎讨论与指正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69080"/>
            <a:ext cx="10362895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 altLang="en-US">
                <a:solidFill>
                  <a:srgbClr val="11376A"/>
                </a:solidFill>
                <a:latin typeface="微软雅黑"/>
                <a:ea typeface="微软雅黑"/>
                <a:cs typeface="微软雅黑"/>
              </a:rPr>
              <a:t>需要讨论的六件事见第 11 页 · 下一步计划见第 12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5141</Words>
  <Application>WPS 演示</Application>
  <PresentationFormat>On-screen Show (4:3)</PresentationFormat>
  <Paragraphs>758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华文隶书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老年流感转重研究 · 近期工作与论文阅读汇报</dc:title>
  <dc:creator/>
  <dc:description>generated using python-pptx</dc:description>
  <cp:lastModifiedBy>WPS_1663841273</cp:lastModifiedBy>
  <cp:revision>6</cp:revision>
  <dcterms:created xsi:type="dcterms:W3CDTF">2026-10-08T17:10:00Z</dcterms:created>
  <dcterms:modified xsi:type="dcterms:W3CDTF">2026-10-23T11:38:50Z</dcterms:modified>
  <dc:subject>近期（10-17 至 10-25）进展与发现、数据集构建论文阅读、GD 临床答复与证型对应、下一步计划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B4859E5D52ED938F9CCEC76A15F9362E_43</vt:lpwstr>
  </property>
</Properties>
</file>