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3" r:id="rId3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转重事件数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D9DFE8"/>
              </a:solidFill>
              <a:ln w="12700">
                <a:solidFill>
                  <a:srgbClr val="8A94A6"/>
                </a:solidFill>
                <a:prstDash val="dash"/>
              </a:ln>
            </c:spPr>
          </c:dPt>
          <c:dPt>
            <c:idx val="1"/>
            <c:invertIfNegative val="0"/>
            <c:bubble3D val="0"/>
            <c:spPr>
              <a:solidFill>
                <a:srgbClr val="1F4E94"/>
              </a:solidFill>
            </c:spPr>
          </c:dPt>
          <c:dPt>
            <c:idx val="2"/>
            <c:invertIfNegative val="0"/>
            <c:bubble3D val="0"/>
            <c:spPr>
              <a:solidFill>
                <a:srgbClr val="4075BE"/>
              </a:solidFill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none" lIns="38100" tIns="19050" rIns="38100" bIns="19050" anchor="ctr" anchorCtr="1"/>
                  <a:lstStyle/>
                  <a:p>
                    <a:pPr>
                      <a:defRPr lang="zh-CN" sz="13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zh-CN" altLang="en-US" sz="1300" b="1" i="0">
                        <a:solidFill>
                          <a:srgbClr val="8A94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≥100 例</a:t>
                    </a:r>
                    <a:endParaRPr lang="zh-CN" altLang="en-US" sz="1300" b="1" i="0">
                      <a:solidFill>
                        <a:srgbClr val="8A94A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none" lIns="38100" tIns="19050" rIns="38100" bIns="19050" anchor="ctr" anchorCtr="1"/>
                  <a:lstStyle/>
                  <a:p>
                    <a:pPr>
                      <a:defRPr lang="zh-CN" sz="13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38 例（13.0%）</a:t>
                    </a:r>
                    <a:endParaRPr lang="zh-CN" altLang="en-US" sz="1300" b="1" i="0">
                      <a:solidFill>
                        <a:srgbClr val="11376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none" lIns="38100" tIns="19050" rIns="38100" bIns="19050" anchor="ctr" anchorCtr="1"/>
                  <a:lstStyle/>
                  <a:p>
                    <a:pPr>
                      <a:defRPr lang="zh-CN" sz="13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10 例（6.1%）</a:t>
                    </a:r>
                    <a:endParaRPr lang="zh-CN" altLang="en-US" sz="1300" b="1" i="0">
                      <a:solidFill>
                        <a:srgbClr val="11376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3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参考：外部验证建议</c:v>
                </c:pt>
                <c:pt idx="1">
                  <c:v>GD（外部验证）</c:v>
                </c:pt>
                <c:pt idx="2">
                  <c:v>GAM（训练）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38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CDDA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5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b275581-8cb2-47cc-9b3c-a3f529ccbc7a}"/>
      </c:ext>
    </c:extLst>
  </c:chart>
  <c:txPr>
    <a:bodyPr/>
    <a:lstStyle/>
    <a:p>
      <a:pPr>
        <a:defRPr lang="zh-CN" sz="13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预计用时：30 秒。</a:t>
            </a:r>
          </a:p>
          <a:p>
            <a:r>
              <a:t>今天汇报两中心数据对齐的进展，以及需要院方协助确认的事项。按四个问题展开：理想数据、两院差异、已完成的对齐工作、需要共同核实的问题；第 13 页是分批核实清单。</a:t>
            </a:r>
          </a:p>
          <a:p>
            <a:r>
              <a:t>（原稿此处的备注是另一份“时序大模型后训练”汇报的内容，已替换。）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 分钟。</a:t>
            </a:r>
          </a:p>
          <a:p>
            <a:r>
              <a:t>先给出四个问题的一句话回答。核心诉求在第 4 条：转重的定义与发生时间、真实入院时间、检验单位与字段含义，需要院方帮助确认。右侧是各部分对应的页码。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用一条病程时间轴说明理想数据：入院、流感检测阳性（索引时点）、住院期间多次测量、呼吸支持或入 ICU、首次转重、出院或死亡。每个环节都要带时间。</a:t>
            </a:r>
          </a:p>
          <a:p>
            <a:r>
              <a:t>两个条件：时间可追溯、病程可重建；同时要纳入未转重病例，否则没有对照。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两院数据的来源完全不同：GAM 是 EHR 多表导出，GD 是人工整理的 CRF 宽表。两院没有共同患者（同日三项血常规完全相同的记录为 0 组），只能在变量与定义层面对齐。</a:t>
            </a:r>
          </a:p>
          <a:p>
            <a:r>
              <a:t>GAM 是全院提取，109/173（63%）次住院在入院 48 小时后才首次流感阳性，入院值不能直接与 GD 比较。</a:t>
            </a:r>
          </a:p>
          <a:p>
            <a:r>
              <a:t>来源：docs/数据对齐.md；docs/两院数据对齐工作与示例数据格式_20261006.docx；时间跨度与年龄见 docs/数据理想形态与两中心对齐_交互演示_20261005.html。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预计用时：2 分钟。</a:t>
            </a:r>
          </a:p>
          <a:p>
            <a:r>
              <a:t>逐行对照理想记录与两院现状。重点讲三行：入院时间（GD 没有）、体征（GD 每项 1–2 次；GAM 用的是病历书写时间）、呼吸支持（GAM 需从文字推断）。</a:t>
            </a:r>
          </a:p>
          <a:p>
            <a:r>
              <a:t>强调差异来自采集方式，不是数据质量高低。来源：docx 第九节“同一件事，理想的记录与现在的记录”。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四类工作：结构、语义与时间、标签、质量检查。本页数字是 CDM 对齐口径（全部记录）。</a:t>
            </a:r>
          </a:p>
          <a:p>
            <a:r>
              <a:t>SEV_B 是重症候选规则：ICU、有创或无创通气、ECMO、死亡、I 型或 II 型呼衰任一即判为重症；在 GD 293 次住院上与人工判定的一致性 κ = 0.917（漏判 0、多判 10）。</a:t>
            </a:r>
          </a:p>
          <a:p>
            <a:r>
              <a:t>流水线共 9 步，原始表格只在服务器上只读使用。来源：docx 第二、四、七节。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用虚构示例说明统一格式：GD 一行里的体温和 PCT 拆成带时间精度的观测记录；GAM 病程文字里的 SpO₂ 进 events 表，无创通气进 treatments 表（TRT006）；“必要时气管插管”是假设语境，不记为有创通气。</a:t>
            </a:r>
          </a:p>
          <a:p>
            <a:r>
              <a:t>每条记录都保留原值、原时间、时间精度和来源，修正只打标记。</a:t>
            </a:r>
          </a:p>
          <a:p>
            <a:r>
              <a:t>（原稿写的 OUT_NIV 在 CDM 中不存在，已改为 TRT006。）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口径为 v1.0：转重 = 有创通气、ICU、ECMO 或死亡（E1），住院期间任意时间发生。GAM 163 次住院（161 人）、10 个事件，全部用于训练；GD 292 次住院（290 人）、38 个事件，全部用于外部验证。</a:t>
            </a:r>
          </a:p>
          <a:p>
            <a:r>
              <a:t>外部验证的样本量研究建议至少 100 个事件（Collins 等，Stat Med 2016）。约 2/3 的事件发生在流感索引当天。GAM 经单人逐例裁定后为 14 个事件，说明规则识别有遗漏，需要联合复核。</a:t>
            </a:r>
          </a:p>
          <a:p>
            <a:r>
              <a:t>注意：原稿 GD 写“290 例 / 13.1%”，290 是患者数；按住院计为 292 次、13.0%。GAM 的 10 / 14 两个版本需在正式材料中统一。来源：docs/实验进度.md；docs/数据对齐.md。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四条泳道对应四种病程。重点是第三种：转重后好转出院，只看出院状态会误判为“未转重”。第一种“起点已重症”需要单列，如何纳入需共同确认。</a:t>
            </a:r>
          </a:p>
          <a:p>
            <a:r>
              <a:t>GAM 的相关信息分散在病历叙述中，候选事件需要结合临床记录核验。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预计用时：1.5 分钟。</a:t>
            </a:r>
          </a:p>
          <a:p>
            <a:r>
              <a:t>示意图比较三种数据形态：理想的逐次测量；类似 GAM 的每天 1–3 次（病历书写时间）；类似 GD 的每次住院 1–2 次（部分只有日期）。</a:t>
            </a:r>
          </a:p>
          <a:p>
            <a:r>
              <a:t>GD 用首个有效体征时间作时间零点（292/297 次），这不等于真实入院时间；只有日期的数据保留精度标志，不推断为分钟。来源：docx 第八节（时间精度真实计数）；体征时间点中位数见交互演示页 1.2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 分钟。</a:t>
            </a:r>
          </a:p>
          <a:p>
            <a:r>
              <a:t>文本三态：明确存在、明确不存在、未提及。未提及不等于没有发生。还要识别假设、计划、拒绝、围术期和伪否定等语境。希望院方协助确认术语词表与否定规则。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预计用时：1 分钟。</a:t>
            </a:r>
          </a:p>
          <a:p>
            <a:r>
              <a:t>左列是已完成的技术处理，右列是需院方确认的口径。重点：D-二聚体 FEU / DDU 相差约 2 倍；CRF 表头 TRT009 重复；“判定依据”1–4 的含义；急性肾损伤判定标准（CRF 与 KDIGO 一致性 κ = 0.347）。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预计用时：2 分钟。</a:t>
            </a:r>
          </a:p>
          <a:p>
            <a:r>
              <a:t>按对研究的影响分三批：第一批决定主要结局（转重定义、时间锚点）；第二批决定两院可比性（单位与方法、字段字典、文本规则）；持续推进补充病例与导出规范。</a:t>
            </a:r>
          </a:p>
          <a:p>
            <a:r>
              <a:t>核实完成后形成最终字段字典、冻结版 CDM、统一结局标签和可复现的实验数据。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致谢与讨论。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21"/>
          <p:cNvSpPr>
            <a:spLocks noGrp="1"/>
          </p:cNvSpPr>
          <p:nvPr/>
        </p:nvSpPr>
        <p:spPr>
          <a:xfrm>
            <a:off x="3676459" y="828175"/>
            <a:ext cx="5334992" cy="554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明德·厚学·求是·创新 </a:t>
            </a:r>
            <a:endParaRPr sz="3600"/>
          </a:p>
        </p:txBody>
      </p:sp>
      <p:sp>
        <p:nvSpPr>
          <p:cNvPr id="3" name="矩形 22"/>
          <p:cNvSpPr>
            <a:spLocks noGrp="1"/>
          </p:cNvSpPr>
          <p:nvPr/>
        </p:nvSpPr>
        <p:spPr>
          <a:xfrm>
            <a:off x="0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  <p:txBody>
          <a:bodyPr/>
          <a:p/>
        </p:txBody>
      </p:sp>
      <p:sp>
        <p:nvSpPr>
          <p:cNvPr id="4" name="矩形 23"/>
          <p:cNvSpPr>
            <a:spLocks noGrp="1"/>
          </p:cNvSpPr>
          <p:nvPr/>
        </p:nvSpPr>
        <p:spPr>
          <a:xfrm>
            <a:off x="8951764" y="1096132"/>
            <a:ext cx="3239601" cy="17779"/>
          </a:xfrm>
          <a:prstGeom prst="rect">
            <a:avLst/>
          </a:prstGeom>
          <a:solidFill>
            <a:srgbClr val="4472C4"/>
          </a:solidFill>
          <a:ln w="12700">
            <a:solidFill>
              <a:srgbClr val="223962"/>
            </a:solidFill>
          </a:ln>
        </p:spPr>
        <p:txBody>
          <a:bodyPr/>
          <a:p/>
        </p:txBody>
      </p:sp>
      <p:sp>
        <p:nvSpPr>
          <p:cNvPr id="5" name="矩形 24-shape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/>
          <a:p/>
        </p:txBody>
      </p:sp>
      <p:sp>
        <p:nvSpPr>
          <p:cNvPr id="6" name="矩形 24-text"/>
          <p:cNvSpPr>
            <a:spLocks noGrp="1"/>
          </p:cNvSpPr>
          <p:nvPr/>
        </p:nvSpPr>
        <p:spPr>
          <a:xfrm>
            <a:off x="0" y="2070171"/>
            <a:ext cx="12191365" cy="1687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6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36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25"/>
          <p:cNvSpPr>
            <a:spLocks noGrp="1"/>
          </p:cNvSpPr>
          <p:nvPr/>
        </p:nvSpPr>
        <p:spPr>
          <a:xfrm>
            <a:off x="0" y="3783312"/>
            <a:ext cx="12191365" cy="103626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None/>
            </a:pPr>
            <a:r>
              <a:rPr lang="zh-CN" altLang="en-US" sz="240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理想数据 · 两院差异 · 对齐工作 · 待核实事项</a:t>
            </a:r>
            <a:endParaRPr lang="zh-CN" altLang="en-US" sz="2400">
              <a:solidFill>
                <a:schemeClr val="bg1"/>
              </a:solidFill>
              <a:effectLst>
                <a:outerShdw blurRad="50800" dist="50800" dir="5400000" algn="ctr" rotWithShape="0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TextBox 9"/>
          <p:cNvSpPr>
            <a:spLocks noGrp="1"/>
          </p:cNvSpPr>
          <p:nvPr/>
        </p:nvSpPr>
        <p:spPr>
          <a:xfrm>
            <a:off x="4620019" y="4965620"/>
            <a:ext cx="2952596" cy="4000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ClrTx/>
              <a:buSzTx/>
              <a:buFontTx/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6664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132839" y="219456"/>
            <a:ext cx="8148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四个问题与一句话回答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核心诉求：与院方共同确认“谁发生转重、何时转重”，并补齐时间锚点与字段含义。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老年流感多中心数据对齐与研究协作汇报）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170BCFD5-2813-4841-918F-036729326766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1700784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1847088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zh-CN" altLang="en-US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55648" y="1764792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我们理想的数据是怎样的？</a:t>
            </a:r>
            <a:endParaRPr lang="zh-CN" altLang="en-US" sz="18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55648" y="2148840"/>
            <a:ext cx="83210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以病程为主线：观测带真实测量时间、住院期间多次测量、结局带发生时间。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10222992" y="1883664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10259568" y="1700784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页</a:t>
            </a:r>
            <a:endParaRPr lang="zh-CN" altLang="en-US" sz="1300" b="1" i="0">
              <a:solidFill>
                <a:srgbClr val="4075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2670048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8680" y="2816352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altLang="en-US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55648" y="2734056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和 GD 的数据差异在哪里？</a:t>
            </a:r>
            <a:endParaRPr lang="zh-CN" altLang="en-US" sz="18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55648" y="3118104"/>
            <a:ext cx="83210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采集方式不同（EHR 导出 vs 人工整理 CRF），差距集中在时间精度与观测密度。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0222992" y="2852928"/>
            <a:ext cx="0" cy="475487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10259568" y="2670048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4–5 页</a:t>
            </a:r>
            <a:endParaRPr lang="zh-CN" altLang="en-US" sz="1300" b="1" i="0">
              <a:solidFill>
                <a:srgbClr val="4075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8368" y="3639312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3785616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altLang="en-US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5648" y="3703320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我们做了哪些对齐工作？</a:t>
            </a:r>
            <a:endParaRPr lang="zh-CN" altLang="en-US" sz="18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55648" y="4087368"/>
            <a:ext cx="83210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建成 8 张表的统一数据模型，逐一处理 22 个问题；重症规则与人工判定 κ = 0.917。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10222992" y="3822192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0259568" y="3639312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6–7 页</a:t>
            </a:r>
            <a:endParaRPr lang="zh-CN" altLang="en-US" sz="1300" b="1" i="0">
              <a:solidFill>
                <a:srgbClr val="4075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8368" y="4608576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68680" y="4754880"/>
            <a:ext cx="658368" cy="548640"/>
          </a:xfrm>
          <a:prstGeom prst="roundRect">
            <a:avLst>
              <a:gd name="adj" fmla="val 15000"/>
            </a:avLst>
          </a:prstGeom>
          <a:solidFill>
            <a:srgbClr val="1F4E9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zh-CN" altLang="en-US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55648" y="4672584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哪些问题需要共同解决？</a:t>
            </a:r>
            <a:endParaRPr lang="zh-CN" altLang="en-US" sz="18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55648" y="5056632"/>
            <a:ext cx="83210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转重定义与首次时间、真实入院时间、检验单位与字段含义、文本“未提及”的编码。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10222992" y="4791456"/>
            <a:ext cx="0" cy="475488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10259568" y="4608576"/>
            <a:ext cx="1207008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8–13 页</a:t>
            </a:r>
            <a:endParaRPr lang="zh-CN" altLang="en-US" sz="1300" b="1" i="0">
              <a:solidFill>
                <a:srgbClr val="4075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问题一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理想的数据：沿病程记录“发生了什么、何时发生”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目标：以患者病程为主线，支持“转重是否发生、何时发生”的动态研究。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研究重点：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不仅记录最终出院状态，更关注住院期间病情变化的时间顺序。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26CC85DB-0071-412E-B63C-F6F52F880CA1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777240" y="2395728"/>
            <a:ext cx="10607040" cy="0"/>
          </a:xfrm>
          <a:prstGeom prst="line">
            <a:avLst/>
          </a:prstGeom>
          <a:ln w="31750">
            <a:solidFill>
              <a:srgbClr val="1F4E94"/>
            </a:solidFill>
            <a:tailEnd type="triangle" w="med" len="med"/>
          </a:ln>
        </p:spPr>
      </p:cxnSp>
      <p:sp>
        <p:nvSpPr>
          <p:cNvPr id="29" name="Oval 28"/>
          <p:cNvSpPr/>
          <p:nvPr/>
        </p:nvSpPr>
        <p:spPr>
          <a:xfrm>
            <a:off x="3200400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02152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03904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656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07408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09160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0912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12664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14416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16168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0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19672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21424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26679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28431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30183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31936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35440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537192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38944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140696" y="2350008"/>
            <a:ext cx="91440" cy="91440"/>
          </a:xfrm>
          <a:prstGeom prst="ellipse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8992" y="228600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1828800"/>
            <a:ext cx="155448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入院 / 门急诊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1480" y="2560320"/>
            <a:ext cx="155448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观察起点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2679191" y="2286000"/>
            <a:ext cx="219456" cy="219456"/>
          </a:xfrm>
          <a:prstGeom prst="ellipse">
            <a:avLst/>
          </a:prstGeom>
          <a:solidFill>
            <a:srgbClr val="00A4C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79" y="1828800"/>
            <a:ext cx="155448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流感检测阳性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11679" y="2560320"/>
            <a:ext cx="155448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索引时点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7205472" y="2286000"/>
            <a:ext cx="219456" cy="219456"/>
          </a:xfrm>
          <a:prstGeom prst="ellipse">
            <a:avLst/>
          </a:prstGeom>
          <a:solidFill>
            <a:srgbClr val="4075BE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1828800"/>
            <a:ext cx="155448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呼吸支持 / 入 ICU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537960" y="2560320"/>
            <a:ext cx="155448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开始与结束时间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8805672" y="2286000"/>
            <a:ext cx="219456" cy="219456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1828800"/>
            <a:ext cx="155448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</a:t>
            </a:r>
            <a:endParaRPr lang="zh-CN" altLang="en-US" sz="135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38160" y="2560320"/>
            <a:ext cx="155448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发生时间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0634472" y="2286000"/>
            <a:ext cx="219456" cy="219456"/>
          </a:xfrm>
          <a:prstGeom prst="ellipse">
            <a:avLst/>
          </a:prstGeom>
          <a:solidFill>
            <a:srgbClr val="1F4E94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0" y="1828800"/>
            <a:ext cx="155448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出院 / 死亡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966960" y="2560320"/>
            <a:ext cx="155448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结局与去向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60520" y="1828800"/>
            <a:ext cx="2377440" cy="402336"/>
          </a:xfrm>
          <a:prstGeom prst="rect">
            <a:avLst/>
          </a:prstGeom>
          <a:noFill/>
        </p:spPr>
        <p:txBody>
          <a:bodyPr wrap="square" lIns="45720" tIns="27432" rIns="45720" bIns="27432" anchor="b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体征、检验多次测量</a:t>
            </a:r>
            <a:endParaRPr lang="zh-CN" altLang="en-US" sz="1350" b="1" i="0">
              <a:solidFill>
                <a:srgbClr val="4075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60520" y="2560320"/>
            <a:ext cx="2377440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每次带真实测量时间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02920" y="3090672"/>
            <a:ext cx="2103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" y="3090672"/>
            <a:ext cx="210312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3090672"/>
            <a:ext cx="182879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患者与就诊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12648" y="3529584"/>
            <a:ext cx="1883663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脱敏患者 ID、门急诊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入院、出院、ICU 时间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772918" y="3090672"/>
            <a:ext cx="2103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72918" y="3090672"/>
            <a:ext cx="210312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10077" y="3090672"/>
            <a:ext cx="182879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连续观测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882646" y="3529584"/>
            <a:ext cx="1883663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多次生命体征与检验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每次真实测量时间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042916" y="3090672"/>
            <a:ext cx="2103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42916" y="3090672"/>
            <a:ext cx="210312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80076" y="3090672"/>
            <a:ext cx="182879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临床过程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152644" y="3529584"/>
            <a:ext cx="1883663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病历、病原、影像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用药与呼吸支持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312914" y="3090672"/>
            <a:ext cx="2103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2914" y="3090672"/>
            <a:ext cx="210312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50073" y="3090672"/>
            <a:ext cx="182879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临床结局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422642" y="3529584"/>
            <a:ext cx="1883663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ICU、通气、ECMO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死亡、出院方式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582912" y="3090672"/>
            <a:ext cx="2103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82912" y="3090672"/>
            <a:ext cx="210312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20072" y="3090672"/>
            <a:ext cx="182879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预测标签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692640" y="3529584"/>
            <a:ext cx="1883663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是否发生转重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首次转重时间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02920" y="4663440"/>
            <a:ext cx="1417320" cy="73152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4663440"/>
            <a:ext cx="14173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时间可追溯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920240" y="4663440"/>
            <a:ext cx="4082796" cy="7315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663440"/>
            <a:ext cx="3808476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保留原始测量、治疗与事件时间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并注明时间精度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85916" y="4663440"/>
            <a:ext cx="1417320" cy="73152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85916" y="4663440"/>
            <a:ext cx="14173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病程可重建</a:t>
            </a:r>
            <a:endParaRPr lang="zh-CN" altLang="en-US"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7603236" y="4663440"/>
            <a:ext cx="4082796" cy="7315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40396" y="4663440"/>
            <a:ext cx="3808476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保留多次观测、明确结局与观察起点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同时纳入未转重病例作为对照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Oval 58"/>
          <p:cNvSpPr/>
          <p:nvPr/>
        </p:nvSpPr>
        <p:spPr>
          <a:xfrm>
            <a:off x="7202932" y="2286000"/>
            <a:ext cx="219456" cy="219456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1106805" y="6096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问题二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两中心的数据来源与研究对象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两院采集方式不同、患者不重叠，只能在“变量与定义”层面对齐。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互补价值：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GAM留较丰富的诊疗过程，GD 提供专病结构化字段；需统一变量含义与纳排标准。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D9D243AE-35B6-4B58-9613-51C5E4636BAF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164592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645920"/>
            <a:ext cx="5486400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645920"/>
            <a:ext cx="5212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· 广安门医院</a:t>
            </a:r>
            <a:endParaRPr lang="zh-CN" altLang="en-US"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215798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173</a:t>
            </a:r>
            <a:endParaRPr lang="zh-CN" altLang="en-US" sz="28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26334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次住院（168 人）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37560" y="215798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1,166</a:t>
            </a:r>
            <a:endParaRPr lang="zh-CN" altLang="en-US" sz="28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37560" y="26334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次门诊（1,136 人）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2926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时间跨度：2024-11 至 2026-03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31520" y="3273552"/>
            <a:ext cx="5029200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731520" y="3346704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数据形态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37360" y="33467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多科室临床 EHR 导出：住院 6 张原始表 + 门诊记录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3803904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信息组织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37360" y="38039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病历、检验、影像、医嘱分散于不同记录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20" y="4261104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人群特点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37360" y="4261104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全院提取，含 &lt;60 岁 44 次</a:t>
            </a:r>
            <a:br>
              <a:rPr lang="zh-CN" sz="13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63% 的住院在入院 48 小时后才首次流感阳性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1520" y="4828032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研究用途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737360" y="4828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先筛选老年流感病例，再提取临床变量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9632" y="164592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1645920"/>
            <a:ext cx="5486400" cy="420624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36792" y="1645920"/>
            <a:ext cx="5212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 · 广东省中医院</a:t>
            </a:r>
            <a:endParaRPr lang="zh-CN" altLang="en-US"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28232" y="215798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297</a:t>
            </a:r>
            <a:endParaRPr lang="zh-CN" altLang="en-US" sz="28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28232" y="26334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次住院（295 人）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34272" y="2157984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≥60 岁</a:t>
            </a:r>
            <a:endParaRPr lang="zh-CN" altLang="en-US" sz="28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034272" y="26334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全部为老年流感住院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28232" y="2926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时间跨度：2021-11 至 2026-06</a:t>
            </a:r>
            <a:endParaRPr lang="zh-CN" altLang="en-US" sz="12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6428232" y="3273552"/>
            <a:ext cx="5029200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6428232" y="3346704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数据形态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34072" y="33467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已整理的老年流感研究队列 CRF（人工整理宽表）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28232" y="3803904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信息组织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34072" y="38039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症状、基础病、治疗及结局字段较集中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8232" y="4261104"/>
            <a:ext cx="9601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人群特点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434072" y="4261104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年龄 60–97 岁，中位数 68 岁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28232" y="4828032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研究用途</a:t>
            </a:r>
            <a:endParaRPr lang="zh-CN" altLang="en-US" sz="13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434072" y="482803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适合按统一字段开展队列分析与验证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问题二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理想的记录与两院现状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差异集中在“时间”与“密度”：GD缺入院时间、检验只有日期；GAM体征与呼吸支持需从文字推断。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差异主要来自采集方式，而非数据质量高低；对齐目标是“可追溯、可解释、知道哪里不可比”。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81310E05-875A-428A-ACC0-3954B5EC383D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1645920"/>
          <a:ext cx="11183112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3200400"/>
                <a:gridCol w="27432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理想的记录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 现状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GAM 现状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入院时间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入院登记时间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没有，以首个有效体征时间代替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入院记录中的“入院时间”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流感检测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采样时间、方法、结果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没有检测时间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检验表有时间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体温、心率、SpO₂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逐次测量+测量时间+吸氧方式与流量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CRF摘录，每项每次住院1–2 次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从病历文字抽取，时间为书写时间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采样/报告时间+单位+方法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只有日期；只有表头单位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到分钟，有单位、参考范围、异常标记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呼吸支持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开始/结束时间、方式、参数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CRF勾选 + 日期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从文字推断</a:t>
                      </a:r>
                      <a:br>
                        <a:rPr lang="zh-CN" sz="13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需排除“必要时”“拒绝”“术后”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用药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医嘱开始/停止时间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CRF开始 / 结束日期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医嘱无时间，以病程首次提及近似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症状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结构化“有/无/未问”</a:t>
                      </a:r>
                      <a:endParaRPr lang="zh-CN" altLang="en-US" sz="1300" b="0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CRF</a:t>
                      </a:r>
                      <a:r>
                        <a:rPr lang="en-US" altLang="zh-CN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0/1 + 记录日期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文字三态：肯定/否定/未提及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问题三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已完成的四类对齐工作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对齐时始终保留原始数值和来源；修正另加标记，具体临床口径仍需要以共同确认结果为准。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口径说明：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本页数量为 CDM 对齐数据口径（全部住院 / 门诊记录），非后续转重分析的入模样本数。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DB332C66-C67C-48FD-98A8-C55DB1CBE6E5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1645920"/>
            <a:ext cx="26700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645920"/>
            <a:ext cx="2670048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645920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结构对齐</a:t>
            </a:r>
            <a:endParaRPr lang="zh-CN" altLang="en-US"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1792" y="2103120"/>
            <a:ext cx="243230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张表</a:t>
            </a:r>
            <a:endParaRPr lang="zh-CN" altLang="en-US" sz="26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" y="2670048"/>
            <a:ext cx="2432304" cy="11155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统一数据模型CDM v3.1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GAM住院173、门诊1,166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GD住院297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340608" y="1645920"/>
            <a:ext cx="26700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40608" y="1645920"/>
            <a:ext cx="2670048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7768" y="1645920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语义与时间对齐</a:t>
            </a:r>
            <a:endParaRPr lang="zh-CN" altLang="en-US"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459480" y="2103120"/>
            <a:ext cx="243230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22个问题</a:t>
            </a:r>
            <a:endParaRPr lang="zh-CN" altLang="en-US" sz="26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59480" y="2670048"/>
            <a:ext cx="2432304" cy="11155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统一编码、单位与时间零点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确定流感索引时点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症状三态、保留时间精度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78296" y="1645920"/>
            <a:ext cx="26700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8296" y="1645920"/>
            <a:ext cx="2670048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5456" y="1645920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标签对齐</a:t>
            </a:r>
            <a:endParaRPr lang="zh-CN" altLang="en-US"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97168" y="2103120"/>
            <a:ext cx="243230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κ=0.917</a:t>
            </a:r>
            <a:endParaRPr lang="zh-CN" altLang="en-US" sz="26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7168" y="2670048"/>
            <a:ext cx="2432304" cy="11155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重症规则SEV_B与人工判定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 293次住院中比较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漏判0、多判10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15984" y="1645920"/>
            <a:ext cx="26700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15984" y="1645920"/>
            <a:ext cx="2670048" cy="402336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53144" y="1645920"/>
            <a:ext cx="23957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质量检查</a:t>
            </a:r>
            <a:endParaRPr lang="zh-CN" altLang="en-US"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34856" y="2103120"/>
            <a:ext cx="243230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0命中</a:t>
            </a:r>
            <a:endParaRPr lang="zh-CN" altLang="en-US" sz="26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34856" y="2670048"/>
            <a:ext cx="2432304" cy="11155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隐私审计0命中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两院重复患者0组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两次构建28个产物一致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SEV_B（重症候选规则）：ICU、有创或无创通气、ECMO、死亡、I 型或 II 型呼吸衰竭，任一发生即判为重症。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4315968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对齐流水线（9 步）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Pentagon 49"/>
          <p:cNvSpPr/>
          <p:nvPr/>
        </p:nvSpPr>
        <p:spPr>
          <a:xfrm>
            <a:off x="502920" y="4709160"/>
            <a:ext cx="1307592" cy="566928"/>
          </a:xfrm>
          <a:prstGeom prst="homePlate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只读读入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Chevron 50"/>
          <p:cNvSpPr/>
          <p:nvPr/>
        </p:nvSpPr>
        <p:spPr>
          <a:xfrm>
            <a:off x="173736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识别就诊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Chevron 51"/>
          <p:cNvSpPr/>
          <p:nvPr/>
        </p:nvSpPr>
        <p:spPr>
          <a:xfrm>
            <a:off x="297180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化名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Chevron 52"/>
          <p:cNvSpPr/>
          <p:nvPr/>
        </p:nvSpPr>
        <p:spPr>
          <a:xfrm>
            <a:off x="420624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变量映射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Chevron 53"/>
          <p:cNvSpPr/>
          <p:nvPr/>
        </p:nvSpPr>
        <p:spPr>
          <a:xfrm>
            <a:off x="544068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时间处理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Chevron 54"/>
          <p:cNvSpPr/>
          <p:nvPr/>
        </p:nvSpPr>
        <p:spPr>
          <a:xfrm>
            <a:off x="667512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单位与范围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Chevron 55"/>
          <p:cNvSpPr/>
          <p:nvPr/>
        </p:nvSpPr>
        <p:spPr>
          <a:xfrm>
            <a:off x="790956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衍生候选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Chevron 56"/>
          <p:cNvSpPr/>
          <p:nvPr/>
        </p:nvSpPr>
        <p:spPr>
          <a:xfrm>
            <a:off x="914400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4075BE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写盘审计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Chevron 57"/>
          <p:cNvSpPr/>
          <p:nvPr/>
        </p:nvSpPr>
        <p:spPr>
          <a:xfrm>
            <a:off x="10378440" y="4709160"/>
            <a:ext cx="1307592" cy="566928"/>
          </a:xfrm>
          <a:prstGeom prst="chevron">
            <a:avLst>
              <a:gd name="adj" fmla="val 28000"/>
            </a:avLst>
          </a:prstGeom>
          <a:solidFill>
            <a:srgbClr val="1F4E94"/>
          </a:solidFill>
          <a:ln>
            <a:noFill/>
          </a:ln>
        </p:spPr>
        <p:txBody>
          <a:bodyPr wrap="square" lIns="73152" tIns="0" rIns="36576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质量汇总</a:t>
            </a:r>
            <a:endParaRPr lang="zh-CN" altLang="en-US"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问题三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对齐后的记录如何保留原始信息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以下为虚构记录示例，仅用于说明实际采用的数据结构与可追溯原则。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原则：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统一数据不覆盖原始数据；文本提及的时间也不直接等同于事件真实发生时间。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3BB2E4A3-57BB-403D-B6F5-119DC90D7933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1645920"/>
            <a:ext cx="4434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645920"/>
            <a:ext cx="443484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64592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 原始 CRF（一次住院占多行）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2121408"/>
          <a:ext cx="4160520" cy="658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81328"/>
                <a:gridCol w="603504"/>
                <a:gridCol w="1188720"/>
                <a:gridCol w="88696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体征记录时间</a:t>
                      </a:r>
                      <a:endParaRPr lang="zh-CN" altLang="en-US"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A7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体温</a:t>
                      </a:r>
                      <a:endParaRPr lang="zh-CN" altLang="en-US"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A7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检验记录时间</a:t>
                      </a:r>
                      <a:endParaRPr lang="zh-CN" altLang="en-US"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A7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PCT</a:t>
                      </a:r>
                      <a:endParaRPr lang="zh-CN" altLang="en-US"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A7FB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2024-01-03 10:30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38.6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2024-01-08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&lt;0.05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40080" y="28072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体征、检验、症状各有自己的“记录时间”，分别展开。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3364992"/>
            <a:ext cx="44348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364992"/>
            <a:ext cx="4434840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364992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病历文本（日常病程）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4"/>
            <a:ext cx="416052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2024-01-05 08:30　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患者喘憋加重，</a:t>
            </a:r>
            <a:r>
              <a:rPr lang="zh-CN" altLang="en-US" sz="1300" b="1" i="0">
                <a:solidFill>
                  <a:srgbClr val="4075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SpO₂ 88%</a:t>
            </a: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（鼻导管吸氧 3 L/min），予</a:t>
            </a:r>
            <a:r>
              <a:rPr lang="zh-CN" altLang="en-US" sz="13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无创呼吸机辅助通气</a:t>
            </a: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。……病情加重</a:t>
            </a:r>
            <a:r>
              <a:rPr lang="zh-CN" altLang="en-US" sz="1300" b="1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必要时气管插管</a:t>
            </a:r>
            <a:r>
              <a:rPr lang="zh-CN" altLang="en-US" sz="13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3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" y="4535424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同一段文字拆出 2 条记录，并排除 1 处假设语境。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转换箭头"/>
          <p:cNvSpPr/>
          <p:nvPr/>
        </p:nvSpPr>
        <p:spPr>
          <a:xfrm>
            <a:off x="5047488" y="2971800"/>
            <a:ext cx="457200" cy="640080"/>
          </a:xfrm>
          <a:prstGeom prst="rightArrow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14416" y="1645920"/>
            <a:ext cx="60716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CDM 记录（events / treatments 表）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614416" y="2011680"/>
          <a:ext cx="6071616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1560"/>
                <a:gridCol w="1554480"/>
                <a:gridCol w="566928"/>
                <a:gridCol w="1554480"/>
                <a:gridCol w="1344168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</a:t>
                      </a:r>
                      <a:endParaRPr lang="zh-CN" altLang="en-US"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编码与变量</a:t>
                      </a:r>
                      <a:endParaRPr lang="zh-CN" altLang="en-US"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</a:t>
                      </a:r>
                      <a:endParaRPr lang="zh-CN" altLang="en-US"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时间与精度</a:t>
                      </a:r>
                      <a:endParaRPr lang="zh-CN" altLang="en-US"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 / 标记</a:t>
                      </a:r>
                      <a:endParaRPr lang="zh-CN" altLang="en-US"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events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VS001 体温</a:t>
                      </a:r>
                      <a:endParaRPr lang="zh-CN" altLang="en-US" sz="12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38.6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2024-01-03 10:30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到分钟</a:t>
                      </a:r>
                      <a:endParaRPr lang="zh-CN" altLang="en-US" sz="110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 CRF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events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LAB007 PCT</a:t>
                      </a:r>
                      <a:endParaRPr lang="zh-CN" altLang="en-US" sz="12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2024-01-08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只有日期</a:t>
                      </a:r>
                      <a:endParaRPr lang="zh-CN" altLang="en-US" sz="110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删失标记“&lt;”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events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VS006 SpO₂</a:t>
                      </a:r>
                      <a:endParaRPr lang="zh-CN" altLang="en-US" sz="12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88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2024-01-05 08:30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病历书写时间</a:t>
                      </a:r>
                      <a:endParaRPr lang="zh-CN" altLang="en-US" sz="110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GAM 病历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treatments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TRT006 无创通气</a:t>
                      </a:r>
                      <a:endParaRPr lang="zh-CN" altLang="en-US" sz="12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2024-01-05 08:30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首次肯定提及</a:t>
                      </a:r>
                      <a:endParaRPr lang="zh-CN" altLang="en-US" sz="110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GAM 病历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treatments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TRT007 有创通气</a:t>
                      </a:r>
                      <a:endParaRPr lang="zh-CN" altLang="en-US" sz="12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不记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假设语境</a:t>
                      </a:r>
                      <a:endParaRPr lang="zh-CN" altLang="en-US" sz="12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“必要时”插管</a:t>
                      </a:r>
                      <a:endParaRPr lang="zh-CN" altLang="en-US" sz="110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502920" y="5102352"/>
            <a:ext cx="11183112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02352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每条记录同步保留</a:t>
            </a:r>
            <a:endParaRPr lang="zh-CN" altLang="en-US" sz="14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423160" y="5221224"/>
            <a:ext cx="14864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原值 raw_value</a:t>
            </a:r>
            <a:endParaRPr lang="zh-CN" altLang="en-US" sz="125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019296" y="5221224"/>
            <a:ext cx="155308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原时间 time_raw</a:t>
            </a:r>
            <a:endParaRPr lang="zh-CN" altLang="en-US" sz="125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682107" y="5221224"/>
            <a:ext cx="226428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时间精度 time_precision</a:t>
            </a:r>
            <a:endParaRPr lang="zh-CN" altLang="en-US" sz="125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056118" y="5221224"/>
            <a:ext cx="121018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origin</a:t>
            </a:r>
            <a:endParaRPr lang="zh-CN" altLang="en-US" sz="125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376029" y="5221224"/>
            <a:ext cx="200393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修正标记（如 year+1）</a:t>
            </a:r>
            <a:endParaRPr lang="zh-CN" altLang="en-US" sz="125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问题四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研究样本与可识别的转重事件数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当前口径下可识别的转重事件有限（GAM 10 例、GD 38 例），直接制约模型训练与评估的稳定性。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请院方协助：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复核候选转重事件；评估可补充的“有明确事件时间的转重病例”与“明确未转重病例”。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CA0C152-D4E1-4B46-9EC0-62B034577DE1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1645920"/>
            <a:ext cx="580644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17190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转重事件数（按住院计）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0" name="事件数条形图"/>
          <p:cNvGraphicFramePr>
            <a:graphicFrameLocks noGrp="1"/>
          </p:cNvGraphicFramePr>
          <p:nvPr/>
        </p:nvGraphicFramePr>
        <p:xfrm>
          <a:off x="594360" y="2103120"/>
          <a:ext cx="56235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85800" y="50749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括号内为事件占住院次数的比例。参考值：外部验证样本量研究建议至少 100 个事件（Collins 等，Stat Med 2016）。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37959" y="1645920"/>
            <a:ext cx="51480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59" y="1645920"/>
            <a:ext cx="514807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645920"/>
            <a:ext cx="4873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当前口径（v1.0 研究口径）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2551" y="2121408"/>
            <a:ext cx="4818888" cy="1444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转重：</a:t>
            </a: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有创通气、ICU、ECMO 或死亡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时间窗：</a:t>
            </a: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住院期间任意时间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GAM：</a:t>
            </a: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163 次住院（161 人），全部用于训练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GD：</a:t>
            </a: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292 次住院（290 人），全部用于外部验证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537959" y="3730752"/>
            <a:ext cx="5148072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37959" y="3730752"/>
            <a:ext cx="5148072" cy="3840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730752"/>
            <a:ext cx="4873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需要注意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02551" y="4206240"/>
            <a:ext cx="4818888" cy="1426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B7791F"/>
              </a:buClr>
              <a:buFont typeface="Arial" panose="020B0604020202020204"/>
              <a:buChar char="•"/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2/3 的事件发生在流感索引当天，</a:t>
            </a:r>
            <a:br>
              <a:rPr lang="zh-CN" sz="13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可用于“提前预警”的事件更少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Font typeface="Arial" panose="020B0604020202020204"/>
              <a:buChar char="•"/>
            </a:pP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经单人逐例裁定后为 14 例：</a:t>
            </a:r>
            <a:br>
              <a:rPr lang="zh-CN" sz="13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3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规则识别存在遗漏，需联合复核</a:t>
            </a:r>
            <a:endParaRPr lang="zh-CN" altLang="en-US" sz="13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问题四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转重标签应反映病程，而不仅是出院结局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建议明确区分“起点已处于重症”“观察期间转重”“转重后好转”“始终未转重”四种情况。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请院方确认：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观察起点的重症状态、首次转重时间，以及转重后恢复出院的病例。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238595E3-F96B-452E-B9CA-D9A91CCF596C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40279" y="1627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观察起点 t0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35240" y="1627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出院 / 死亡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51960" y="162763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住院时间 →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96528" y="1691640"/>
            <a:ext cx="292608" cy="146304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160934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非重症</a:t>
            </a:r>
            <a:endParaRPr lang="zh-CN" altLang="en-US" sz="11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875519" y="1691640"/>
            <a:ext cx="292608" cy="1463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2" y="1609344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重症（ICU、通气等）</a:t>
            </a:r>
            <a:endParaRPr lang="zh-CN" altLang="en-US" sz="11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1975104"/>
            <a:ext cx="11183112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0299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起点已处于重症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" y="237744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观察起点时已在 ICU 或通气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88920" y="2267712"/>
            <a:ext cx="2427732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16652" y="2267712"/>
            <a:ext cx="2967228" cy="201168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97479" y="2276856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4E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92440" y="2276856"/>
            <a:ext cx="182880" cy="182880"/>
          </a:xfrm>
          <a:prstGeom prst="ellipse">
            <a:avLst/>
          </a:prstGeom>
          <a:solidFill>
            <a:srgbClr val="1F4E9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1975104"/>
            <a:ext cx="3090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需单列；纳入方式待共同确认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2920" y="2852928"/>
            <a:ext cx="1118311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29077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观察期间转重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3255264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起点非重症，住院中首次转重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88920" y="3145536"/>
            <a:ext cx="2967228" cy="201168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56148" y="3145536"/>
            <a:ext cx="2427731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697479" y="315468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4E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92440" y="3154680"/>
            <a:ext cx="182880" cy="182880"/>
          </a:xfrm>
          <a:prstGeom prst="ellipse">
            <a:avLst/>
          </a:prstGeom>
          <a:solidFill>
            <a:srgbClr val="1F4E9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erge 49"/>
          <p:cNvSpPr/>
          <p:nvPr/>
        </p:nvSpPr>
        <p:spPr>
          <a:xfrm>
            <a:off x="5646420" y="2898648"/>
            <a:ext cx="219456" cy="182880"/>
          </a:xfrm>
          <a:prstGeom prst="flowChartMerge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84164" y="284378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首次转重</a:t>
            </a:r>
            <a:endParaRPr lang="zh-CN" altLang="en-US" sz="11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03920" y="2852928"/>
            <a:ext cx="3090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预测目标：需记录首次转重时间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2920" y="3730752"/>
            <a:ext cx="11183112" cy="78638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785615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转重后好转出院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" y="4133088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转重经治疗恢复后出院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88920" y="4023359"/>
            <a:ext cx="1888235" cy="201168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77155" y="4023359"/>
            <a:ext cx="1780336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57492" y="4023359"/>
            <a:ext cx="1726387" cy="201168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97479" y="4032504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4E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92440" y="4032504"/>
            <a:ext cx="182880" cy="182880"/>
          </a:xfrm>
          <a:prstGeom prst="ellipse">
            <a:avLst/>
          </a:prstGeom>
          <a:solidFill>
            <a:srgbClr val="1F4E9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Merge 60"/>
          <p:cNvSpPr/>
          <p:nvPr/>
        </p:nvSpPr>
        <p:spPr>
          <a:xfrm>
            <a:off x="4567427" y="3776472"/>
            <a:ext cx="219456" cy="182880"/>
          </a:xfrm>
          <a:prstGeom prst="flowChartMerge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5171" y="37216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首次转重</a:t>
            </a:r>
            <a:endParaRPr lang="zh-CN" altLang="en-US" sz="11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03920" y="3730752"/>
            <a:ext cx="3090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只看出院状态会误判为“未转重”</a:t>
            </a:r>
            <a:endParaRPr lang="zh-CN" altLang="en-US" sz="135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02920" y="4608576"/>
            <a:ext cx="11183112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663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始终未转重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0080" y="501091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全程未出现重症事件</a:t>
            </a:r>
            <a:endParaRPr lang="zh-CN" altLang="en-US" sz="11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2788920" y="4901183"/>
            <a:ext cx="5394959" cy="201168"/>
          </a:xfrm>
          <a:prstGeom prst="rect">
            <a:avLst/>
          </a:prstGeom>
          <a:solidFill>
            <a:srgbClr val="9DB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97479" y="4910328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4E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92440" y="4910328"/>
            <a:ext cx="182880" cy="182880"/>
          </a:xfrm>
          <a:prstGeom prst="ellipse">
            <a:avLst/>
          </a:prstGeom>
          <a:solidFill>
            <a:srgbClr val="1F4E94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4608576"/>
            <a:ext cx="30906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需与“未记录 / 未提及”区分</a:t>
            </a:r>
            <a:endParaRPr lang="zh-CN" altLang="en-US" sz="13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2920" y="5468112"/>
            <a:ext cx="111831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</a:t>
            </a:r>
            <a:r>
              <a:rPr lang="zh-CN" altLang="en-US" sz="12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的相关信息分散在病历叙述中，可能存在不同表述、否定语境或记录不完整，候选事件需结合临床记录核验。</a:t>
            </a:r>
            <a:endParaRPr lang="zh-CN" altLang="en-US" sz="12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问题四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时间信息与连续观测是动态预测的关键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现有数据适用于描述性和初步验证；动态病程建模需要更明确的时间信息。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请院方补充：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真实入出院时间、首次转重时间，以及体征 / 护理的多次观测与时间戳。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12AC3F41-C9F4-485C-82F0-9DE9027F4CE6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1645920"/>
            <a:ext cx="6675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1700784"/>
            <a:ext cx="630935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同一位病人住院前 5 天的心率记录（示意）</a:t>
            </a:r>
            <a:endParaRPr lang="zh-CN" altLang="en-US" sz="15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2249424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</a:t>
            </a:r>
            <a:endParaRPr lang="zh-CN" altLang="en-US" sz="14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2578608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逐次测量，真实测量时间</a:t>
            </a:r>
            <a:endParaRPr lang="zh-CN" altLang="en-US" sz="11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2606040" y="2578608"/>
            <a:ext cx="4343400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2606040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3474720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4343400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5212079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6080760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6949440" y="2505456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85800" y="3090672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类似 GAM</a:t>
            </a:r>
            <a:endParaRPr lang="zh-CN" altLang="en-US" sz="14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" y="3419856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 1–3 次，病历书写时间</a:t>
            </a:r>
            <a:endParaRPr lang="zh-CN" altLang="en-US" sz="11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2606040" y="3419856"/>
            <a:ext cx="4343400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606040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3474720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4343400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5212079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6080760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6949440" y="3346704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85800" y="3931920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类似 GD</a:t>
            </a:r>
            <a:endParaRPr lang="zh-CN" altLang="en-US" sz="14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5800" y="4261104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每次住院 1–2 次，部分仅日期</a:t>
            </a:r>
            <a:endParaRPr lang="zh-CN" altLang="en-US" sz="11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2606040" y="4261104"/>
            <a:ext cx="4343400" cy="0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2606040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3474720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4343400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5212079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6080760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6949440" y="4187952"/>
            <a:ext cx="0" cy="146304"/>
          </a:xfrm>
          <a:prstGeom prst="line">
            <a:avLst/>
          </a:prstGeom>
          <a:ln w="12700">
            <a:solidFill>
              <a:srgbClr val="CDDAE8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263728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78206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92684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7162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21640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6118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50596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65074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79552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4030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8508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2986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7464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1942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6420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80898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5376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9854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24332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8810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3288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67766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2244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6722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1200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25678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40156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546341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69112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835902" y="2537460"/>
            <a:ext cx="82296" cy="82296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908554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089529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741038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994404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645914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863083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514594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731763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3273" y="336042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926651" y="4201668"/>
            <a:ext cx="118872" cy="118872"/>
          </a:xfrm>
          <a:prstGeom prst="ellipse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343400" y="4123944"/>
            <a:ext cx="868680" cy="274320"/>
          </a:xfrm>
          <a:prstGeom prst="rect">
            <a:avLst/>
          </a:prstGeom>
          <a:solidFill>
            <a:srgbClr val="D6E4F5"/>
          </a:solidFill>
          <a:ln w="12700">
            <a:solidFill>
              <a:srgbClr val="4075BE"/>
            </a:solidFill>
            <a:prstDash val="dash"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只有日期</a:t>
            </a:r>
            <a:endParaRPr lang="zh-CN" altLang="en-US" sz="105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606040" y="4572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天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474720" y="4572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天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343400" y="4572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天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212079" y="4572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天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080760" y="45720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天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726948" y="4960620"/>
            <a:ext cx="100584" cy="100584"/>
          </a:xfrm>
          <a:prstGeom prst="ellipse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86968" y="48737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实际测量时间</a:t>
            </a:r>
            <a:endParaRPr lang="zh-CN" altLang="en-US" sz="11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2409444" y="4951476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5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87752" y="48737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病历书写时间</a:t>
            </a:r>
            <a:endParaRPr lang="zh-CN" altLang="en-US" sz="11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114800" y="4928616"/>
            <a:ext cx="274320" cy="164592"/>
          </a:xfrm>
          <a:prstGeom prst="rect">
            <a:avLst/>
          </a:prstGeom>
          <a:solidFill>
            <a:srgbClr val="D6E4F5"/>
          </a:solidFill>
          <a:ln w="12700">
            <a:solidFill>
              <a:srgbClr val="4075B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53128" y="48737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只有日期（当天任意时刻）</a:t>
            </a:r>
            <a:endParaRPr lang="zh-CN" altLang="en-US" sz="11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85800" y="5230368"/>
            <a:ext cx="630935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示意图，数值虚构。每次住院体征时间点数（中位数）：GD 2 个，GAM 7–9 个。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7406640" y="1645920"/>
            <a:ext cx="4279392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06640" y="1645920"/>
            <a:ext cx="42793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43800" y="1645920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 · 时间与观测点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552944" y="2121408"/>
            <a:ext cx="3986784" cy="1426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尚无入出院时间：以首个有效体征时间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作时间零点（292/297 次），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不等同于真实入院时间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 6,170 条、体征 484 条只有日期；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保留精度标志，不推断为分钟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406640" y="3730752"/>
            <a:ext cx="4279392" cy="1984248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406640" y="3730752"/>
            <a:ext cx="427939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43800" y="3730752"/>
            <a:ext cx="4005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 · 文本与测量时间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552944" y="4206240"/>
            <a:ext cx="3986784" cy="1444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体征从病历文字抽取，时间为书写时间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（8,112 条），不是测量时间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880" indent="-18288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075BE"/>
              </a:buClr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写法不规范会漏抽；</a:t>
            </a:r>
            <a:b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如能提供结构化护理记录，可还原变化轨迹</a:t>
            </a:r>
            <a:endParaRPr lang="zh-CN" altLang="en-US" sz="14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问题四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文本记录的“未提及”需要独立编码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文本提取结果是研究候选变量，需考虑临床语境与记录方式，并以核验后规则为准。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请院方确认：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症状、治疗和重症状态的术语词表、否定规则及事件时间。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E1294C01-6BAD-45CC-A6E4-4343E678E507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97480" y="1609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病历中的写法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160934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含义与编码</a:t>
            </a:r>
            <a:endParaRPr lang="zh-CN" altLang="en-US" sz="12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1901952"/>
            <a:ext cx="2011680" cy="676656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明确存在</a:t>
            </a:r>
            <a:endParaRPr lang="zh-CN" altLang="en-US"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651760" y="1901952"/>
            <a:ext cx="4754880" cy="676656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1901952"/>
            <a:ext cx="448056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“已插管”“已行无创通气”</a:t>
            </a:r>
            <a:endParaRPr lang="zh-CN" altLang="en-US" sz="15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543800" y="1901952"/>
            <a:ext cx="41422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1901952"/>
            <a:ext cx="3822192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可作为候选发生线索（记 1）</a:t>
            </a:r>
            <a:endParaRPr lang="zh-CN" altLang="en-US" sz="1400" b="1" i="0">
              <a:solidFill>
                <a:srgbClr val="2E7D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2920" y="2724912"/>
            <a:ext cx="2011680" cy="676656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明确不存在</a:t>
            </a:r>
            <a:endParaRPr lang="zh-CN" altLang="en-US"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651760" y="2724912"/>
            <a:ext cx="4754880" cy="676656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2724912"/>
            <a:ext cx="448056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“未行插管”“无胸闷气促”</a:t>
            </a:r>
            <a:endParaRPr lang="zh-CN" altLang="en-US" sz="15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543800" y="2724912"/>
            <a:ext cx="41422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2724912"/>
            <a:ext cx="3822192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识别否定表达（记 0）</a:t>
            </a:r>
            <a:endParaRPr lang="zh-CN" altLang="en-US" sz="14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02920" y="3547872"/>
            <a:ext cx="2011680" cy="676656"/>
          </a:xfrm>
          <a:prstGeom prst="roundRect">
            <a:avLst>
              <a:gd name="adj" fmla="val 12000"/>
            </a:avLst>
          </a:prstGeom>
          <a:solidFill>
            <a:srgbClr val="8A94A6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未提及 / 待核实</a:t>
            </a:r>
            <a:endParaRPr lang="zh-CN" altLang="en-US"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651760" y="3547872"/>
            <a:ext cx="4754880" cy="676656"/>
          </a:xfrm>
          <a:prstGeom prst="rect">
            <a:avLst/>
          </a:prstGeom>
          <a:solidFill>
            <a:srgbClr val="F5F8FC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3547872"/>
            <a:ext cx="448056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病历中未检出相关词语</a:t>
            </a:r>
            <a:endParaRPr lang="zh-CN" altLang="en-US" sz="150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543800" y="3547872"/>
            <a:ext cx="41422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547872"/>
            <a:ext cx="3822192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不等同于临床上确定未发生（单独标记）</a:t>
            </a:r>
            <a:endParaRPr lang="zh-CN" altLang="en-US" sz="14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" y="4462272"/>
            <a:ext cx="1118311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DDAE8"/>
            </a:solidFill>
          </a:ln>
          <a:effectLst>
            <a:outerShdw blurRad="63500" dist="19050" dir="5400000" algn="t" rotWithShape="0">
              <a:srgbClr val="1F3B66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462272"/>
            <a:ext cx="11183112" cy="384048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462272"/>
            <a:ext cx="109087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还需识别的语境：以下写法不代表该项治疗已经实施</a:t>
            </a:r>
            <a:endParaRPr lang="zh-CN" altLang="en-US"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85800" y="4965192"/>
            <a:ext cx="1838452" cy="34747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“必要时插管”</a:t>
            </a:r>
            <a:r>
              <a:rPr lang="zh-CN" altLang="en-US" sz="1100" b="1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假设</a:t>
            </a:r>
            <a:endParaRPr lang="zh-CN" altLang="en-US" sz="1100" b="1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661412" y="4965192"/>
            <a:ext cx="1673860" cy="34747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“拟转 ICU”</a:t>
            </a:r>
            <a:r>
              <a:rPr lang="zh-CN" altLang="en-US" sz="1100" b="1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计划</a:t>
            </a:r>
            <a:endParaRPr lang="zh-CN" altLang="en-US" sz="1100" b="1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472432" y="4965192"/>
            <a:ext cx="2009902" cy="34747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“家属拒绝插管”</a:t>
            </a:r>
            <a:r>
              <a:rPr lang="zh-CN" altLang="en-US" sz="1100" b="1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拒绝</a:t>
            </a:r>
            <a:endParaRPr lang="zh-CN" altLang="en-US" sz="1100" b="1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619493" y="4965192"/>
            <a:ext cx="2523363" cy="347472"/>
          </a:xfrm>
          <a:prstGeom prst="roundRect">
            <a:avLst>
              <a:gd name="adj" fmla="val 50000"/>
            </a:avLst>
          </a:prstGeom>
          <a:solidFill>
            <a:srgbClr val="EBF3FB"/>
          </a:solidFill>
          <a:ln w="9525">
            <a:solidFill>
              <a:srgbClr val="CDDAE8"/>
            </a:solidFill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“全麻下 / 术后插管”</a:t>
            </a:r>
            <a:r>
              <a:rPr lang="zh-CN" altLang="en-US" sz="1100" b="1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围术期</a:t>
            </a:r>
            <a:endParaRPr lang="zh-CN" altLang="en-US" sz="1100" b="1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" y="5358384"/>
            <a:ext cx="108173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5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伪否定：</a:t>
            </a:r>
            <a:r>
              <a:rPr lang="zh-CN" altLang="en-US" sz="1250" b="0" i="0">
                <a:solidFill>
                  <a:srgbClr val="2731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“无明显诱因出现发热”中的“无”并不否定发热，需先屏蔽这类短语再判断否定。</a:t>
            </a:r>
            <a:endParaRPr lang="zh-CN" altLang="en-US" sz="1250" b="0" i="0">
              <a:solidFill>
                <a:srgbClr val="2731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问题四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E. 其他字段：已完成的处理与待确认口径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格式与字段的预处理已经开展；临床定义、检验方法和数据来源需进一步与院方确认。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临床字段的最终解释以双方确认的数据字典及原始病历记录为依据。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6287BBA-14FF-47CA-B2B5-AA6291A6C564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1664208"/>
          <a:ext cx="11183112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4526280"/>
                <a:gridCol w="4828032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字段类别</a:t>
                      </a:r>
                      <a:endParaRPr lang="zh-CN" altLang="en-US" sz="14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已完成的技术处理</a:t>
                      </a:r>
                      <a:endParaRPr lang="zh-CN" altLang="en-US" sz="14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需院方确认</a:t>
                      </a:r>
                      <a:endParaRPr lang="zh-CN" altLang="en-US" sz="14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标识与日期</a:t>
                      </a:r>
                      <a:endParaRPr lang="zh-CN" altLang="en-US" sz="14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兼容表头、跨行与混合日期格式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年份笔误在住院时间窗内修正并标记（105 条）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重复病案号、个别年份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CRF 表头 TRT009 重复（ECMO 与“其他治疗”）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EF6E0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检验与单位</a:t>
                      </a:r>
                      <a:endParaRPr lang="zh-CN" altLang="en-US" sz="14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按标本区分同名检验（如尿 / 血肌酐）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统一单位，并保留原单位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IL-6、铁蛋白的单位与检测方法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D-二聚体为 FEU 还是 DDU（相差约 2 倍）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EF6E0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治疗与并发症</a:t>
                      </a:r>
                      <a:endParaRPr lang="zh-CN" altLang="en-US" sz="14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建立治疗 / 诊断候选提取规则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区分入院时已存在与住院后新发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医嘱执行时间；急性肾损伤的判定标准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并发症“判定依据”编码 1–4 的含义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EF6E0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缺失与隐私</a:t>
                      </a:r>
                      <a:endParaRPr lang="zh-CN" altLang="en-US" sz="14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人口学关联与隐私清洗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逐文件隐私审计 0 命中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空白、未记录与重复记录的含义</a:t>
                      </a:r>
                      <a:br>
                        <a:rPr 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4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（如空白是否代表“未评估”）</a:t>
                      </a:r>
                      <a:endParaRPr lang="zh-CN" altLang="en-US" sz="14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EF6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顶部色条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标题栏"/>
          <p:cNvSpPr/>
          <p:nvPr/>
        </p:nvSpPr>
        <p:spPr>
          <a:xfrm>
            <a:off x="0" y="219456"/>
            <a:ext cx="9418320" cy="530352"/>
          </a:xfrm>
          <a:prstGeom prst="rect">
            <a:avLst/>
          </a:prstGeom>
          <a:solidFill>
            <a:srgbClr val="4075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章节标签"/>
          <p:cNvSpPr/>
          <p:nvPr/>
        </p:nvSpPr>
        <p:spPr>
          <a:xfrm>
            <a:off x="320040" y="301752"/>
            <a:ext cx="844296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>
                <a:solidFill>
                  <a:srgbClr val="1F4E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lang="zh-CN" altLang="en-US" sz="1400" b="1" i="0">
              <a:solidFill>
                <a:srgbClr val="1F4E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"/>
          <p:cNvSpPr txBox="1"/>
          <p:nvPr/>
        </p:nvSpPr>
        <p:spPr>
          <a:xfrm>
            <a:off x="1310640" y="219456"/>
            <a:ext cx="79705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建议共同推进的核实事项</a:t>
            </a:r>
            <a:endParaRPr lang="zh-CN" altLang="en-US"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分隔线"/>
          <p:cNvSpPr/>
          <p:nvPr/>
        </p:nvSpPr>
        <p:spPr>
          <a:xfrm>
            <a:off x="457200" y="896112"/>
            <a:ext cx="11228832" cy="36576"/>
          </a:xfrm>
          <a:prstGeom prst="rect">
            <a:avLst/>
          </a:prstGeom>
          <a:solidFill>
            <a:srgbClr val="00A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关键信息条"/>
          <p:cNvSpPr/>
          <p:nvPr/>
        </p:nvSpPr>
        <p:spPr>
          <a:xfrm>
            <a:off x="502920" y="1024128"/>
            <a:ext cx="11183112" cy="457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关键信息"/>
          <p:cNvSpPr txBox="1"/>
          <p:nvPr/>
        </p:nvSpPr>
        <p:spPr>
          <a:xfrm>
            <a:off x="685800" y="1024128"/>
            <a:ext cx="108173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感谢两家医院前期在数据整理与提供方面的支持；建议按对研究的影响分批确认。</a:t>
            </a:r>
            <a:endParaRPr lang="zh-CN" altLang="en-US" sz="1600" b="1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结论框"/>
          <p:cNvSpPr/>
          <p:nvPr/>
        </p:nvSpPr>
        <p:spPr>
          <a:xfrm>
            <a:off x="502920" y="5870448"/>
            <a:ext cx="11183112" cy="420624"/>
          </a:xfrm>
          <a:prstGeom prst="rect">
            <a:avLst/>
          </a:prstGeom>
          <a:solidFill>
            <a:srgbClr val="FCEF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结论"/>
          <p:cNvSpPr txBox="1"/>
          <p:nvPr/>
        </p:nvSpPr>
        <p:spPr>
          <a:xfrm>
            <a:off x="685800" y="5870448"/>
            <a:ext cx="10817352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核实完成后共同形成：</a:t>
            </a:r>
            <a:r>
              <a:rPr lang="zh-CN" altLang="en-US" sz="1500" b="0" i="0">
                <a:solidFill>
                  <a:srgbClr val="1137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最终字段字典 · 冻结版 CDM · 统一结局标签 · 可复现的实验数据。</a:t>
            </a:r>
            <a:endParaRPr lang="zh-CN" altLang="en-US" sz="1500" b="0" i="0">
              <a:solidFill>
                <a:srgbClr val="1137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页脚"/>
          <p:cNvSpPr txBox="1"/>
          <p:nvPr/>
        </p:nvSpPr>
        <p:spPr>
          <a:xfrm>
            <a:off x="502920" y="645566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老年流感多中心数据对齐与研究协作汇报</a:t>
            </a:r>
            <a:endParaRPr lang="zh-CN" altLang="en-US" sz="105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页码"/>
          <p:cNvSpPr txBox="1"/>
          <p:nvPr/>
        </p:nvSpPr>
        <p:spPr>
          <a:xfrm>
            <a:off x="10680192" y="645566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5F0E8528-9B55-49A8-877A-BF4B49A80868}" type="slidenum">
              <a:rPr lang="zh-CN" sz="105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sz="105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1645920"/>
          <a:ext cx="11183112" cy="3913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600200"/>
                <a:gridCol w="6382512"/>
                <a:gridCol w="150876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批次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事项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具体内容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主要涉及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E94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b="1" i="0">
                          <a:solidFill>
                            <a:srgbClr val="1F4E9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第一批</a:t>
                      </a:r>
                      <a:endParaRPr lang="zh-CN" altLang="en-US" sz="1500" b="1" i="0">
                        <a:solidFill>
                          <a:srgbClr val="1F4E9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决定主要结局</a:t>
                      </a:r>
                      <a:endParaRPr lang="zh-CN" altLang="en-US" sz="115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DC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转重定义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观察起点是否已重症、首次转重时间、转重后恢复的病例、未转重组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两院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时间锚点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真实入出院时间（最好到分钟）、流感检测时间、关键治疗开始时间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两院（GD 为主）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b="1" i="0">
                          <a:solidFill>
                            <a:srgbClr val="1F4E9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第二批</a:t>
                      </a:r>
                      <a:endParaRPr lang="zh-CN" altLang="en-US" sz="1500" b="1" i="0">
                        <a:solidFill>
                          <a:srgbClr val="1F4E9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决定两院可比性</a:t>
                      </a:r>
                      <a:endParaRPr lang="zh-CN" altLang="en-US" sz="115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DC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 单位与方法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D-二聚体 FEU / DDU；IL-6、铁蛋白的单位与检测方法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 vMerge="1"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 字段字典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TRT009 表头；判定依据 1–4；急性肾损伤判定标准</a:t>
                      </a:r>
                      <a:br>
                        <a:rPr lang="zh-CN" sz="13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呼吸机（OUT003）与无创 / 有创通气（TRT006 / 007）的关系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⑤ 文本规则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症状 / 治疗的“有、明确无、未提及”判定；术语词表与否定规则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GAM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b="1" i="0">
                          <a:solidFill>
                            <a:srgbClr val="1F4E9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持续推进</a:t>
                      </a:r>
                      <a:endParaRPr lang="zh-CN" altLang="en-US" sz="1500" b="1" i="0">
                        <a:solidFill>
                          <a:srgbClr val="1F4E9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50" b="0" i="0">
                          <a:solidFill>
                            <a:srgbClr val="646E7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样本与规范</a:t>
                      </a:r>
                      <a:endParaRPr lang="zh-CN" altLang="en-US" sz="1150" b="0" i="0">
                        <a:solidFill>
                          <a:srgbClr val="646E7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DC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⑥ 补充病例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有明确事件时间的转重病例、明确未转重病例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两院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1137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⑦ 导出规范</a:t>
                      </a:r>
                      <a:endParaRPr lang="zh-CN" altLang="en-US" sz="1300" b="1" i="0">
                        <a:solidFill>
                          <a:srgbClr val="11376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0" i="0">
                          <a:solidFill>
                            <a:srgbClr val="2731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每行填写病案号、按文字格式保留前导零；说明空白格是“阴性”还是“未评估”</a:t>
                      </a:r>
                      <a:endParaRPr lang="zh-CN" altLang="en-US" sz="1300" b="0" i="0">
                        <a:solidFill>
                          <a:srgbClr val="2731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i="0">
                          <a:solidFill>
                            <a:srgbClr val="4075B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GD</a:t>
                      </a:r>
                      <a:endParaRPr lang="zh-CN" altLang="en-US" sz="1300" b="1" i="0">
                        <a:solidFill>
                          <a:srgbClr val="4075B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E6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致谢横带"/>
          <p:cNvSpPr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0" i="0">
                <a:solidFill>
                  <a:srgbClr val="FFFFFF"/>
                </a:solidFill>
                <a:effectLst>
                  <a:outerShdw blurRad="50800" dist="38100" dir="5400000" algn="ctr" rotWithShape="0">
                    <a:srgbClr val="000000">
                      <a:alpha val="4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谢谢！欢迎讨论与指正</a:t>
            </a:r>
            <a:endParaRPr lang="zh-CN" altLang="en-US" sz="4000" b="0" i="0">
              <a:solidFill>
                <a:srgbClr val="FFFFFF"/>
              </a:solidFill>
              <a:effectLst>
                <a:outerShdw blurRad="50800" dist="38100" dir="5400000" algn="ctr" rotWithShape="0">
                  <a:srgbClr val="000000">
                    <a:alpha val="4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646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核实清单见第 13 页</a:t>
            </a:r>
            <a:endParaRPr lang="zh-CN" altLang="en-US" sz="1400" b="0" i="0">
              <a:solidFill>
                <a:srgbClr val="646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5141</Words>
  <Application>WPS 演示</Application>
  <PresentationFormat>On-screen Show (4:3)</PresentationFormat>
  <Paragraphs>758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华文隶书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老年流感多中心数据对齐与研究协作汇报</dc:title>
  <dc:creator/>
  <dc:description>generated using python-pptx</dc:description>
  <cp:lastModifiedBy>WPS_1663841273</cp:lastModifiedBy>
  <cp:revision>6</cp:revision>
  <dcterms:created xsi:type="dcterms:W3CDTF">2026-10-08T17:10:00Z</dcterms:created>
  <dcterms:modified xsi:type="dcterms:W3CDTF">2026-10-23T11:38:50Z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B4859E5D52ED938F9CCEC76A15F9362E_43</vt:lpwstr>
  </property>
</Properties>
</file>