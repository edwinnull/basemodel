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本页说明数据来源和对齐边界。医院 CDM 已经形成；MIMIC 有部分产物，eICU 和 MC-MED 仍处在正式核验之前。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CDM 的层次：原始事件不被压成一个不可追溯的数字。模型输入来自 crf_view 或 landmarks，但仍可回到事件级证据。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这页让听众直观看到对齐后的结构。一个患者不是只有一行，而是 encounters 主记录，加上 events、treatments 和 complications；最终再生成 crf_view。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当前医院实验是小样本真实世界外部验证，不是公开 ICU 时序任务。T-day 是因为 GD 缺少连续高频时间结构。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这里的结论是：在当前医院数据规模和 T-day 结构下，基础模型没有显示出明确增益；主要问题是小样本、事件少和索引时间污染风险。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公开数据部分要明确标记阶段。MIMIC 已有可用抽取，但还不能把急诊、住院、ICU 记录直接合并。eICU 当前仍是候选 QC。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这页把进一步对齐的必要性讲清楚。最危险的不是某个变量少，而是把不同含义的记录当成同一件事。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推荐的架构不是把所有来源压成同一套字段，而是共同核心字段加扩展字段。这样既能复用实验代码，又保留来源的真实信息。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后续工作按定义、对齐、QC、实验四步推进。先冻结标签和时间，避免模型比较在不同数据集上使用不同问题。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收束时强调验收标准。对齐不是一次性清洗，而是对每个输入、标签和来源证据都能追溯。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数据全景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私有医院 + 公开数据库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3/12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61872"/>
            <a:ext cx="102412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3A66"/>
                </a:solidFill>
                <a:latin typeface="Aptos"/>
              </a:rPr>
              <a:t>统一的是变量与数据结构；不能抹平机构、场景和记录习惯差异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19"/>
            <a:ext cx="5074920" cy="117043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74519"/>
            <a:ext cx="109728" cy="1170432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011679"/>
            <a:ext cx="1417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2F73C5"/>
                </a:solidFill>
                <a:latin typeface="Aptos"/>
              </a:rPr>
              <a:t>医院组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84248"/>
            <a:ext cx="3063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GAM：173 次住院 + 1,166 次门诊
GD：297 次住院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87752"/>
            <a:ext cx="3063240" cy="2377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5C6C7E"/>
                </a:solidFill>
                <a:latin typeface="Aptos"/>
              </a:rPr>
              <a:t>已完成医院 CDM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74519"/>
            <a:ext cx="5074920" cy="117043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874519"/>
            <a:ext cx="109728" cy="1170432"/>
          </a:xfrm>
          <a:prstGeom prst="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011679"/>
            <a:ext cx="1417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318F68"/>
                </a:solidFill>
                <a:latin typeface="Aptos"/>
              </a:rPr>
              <a:t>MIMIC-IV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984248"/>
            <a:ext cx="3063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住院 / ICU + ED
已完成部分抽取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87752"/>
            <a:ext cx="3063240" cy="2377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5C6C7E"/>
                </a:solidFill>
                <a:latin typeface="Aptos"/>
              </a:rPr>
              <a:t>变量与标签仍需补齐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64991"/>
            <a:ext cx="5074920" cy="117043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364991"/>
            <a:ext cx="109728" cy="1170432"/>
          </a:xfrm>
          <a:prstGeom prst="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3502151"/>
            <a:ext cx="1417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E8892D"/>
                </a:solidFill>
                <a:latin typeface="Aptos"/>
              </a:rPr>
              <a:t>eICU-CRD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474720"/>
            <a:ext cx="3063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多中心 ICU
候选队列约 20 万次入科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078224"/>
            <a:ext cx="3063240" cy="2377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5C6C7E"/>
                </a:solidFill>
                <a:latin typeface="Aptos"/>
              </a:rPr>
              <a:t>正式标签尚未冻结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364991"/>
            <a:ext cx="5074920" cy="117043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364991"/>
            <a:ext cx="109728" cy="1170432"/>
          </a:xfrm>
          <a:prstGeom prst="rect">
            <a:avLst/>
          </a:prstGeom>
          <a:solidFill>
            <a:srgbClr val="CF4239"/>
          </a:solidFill>
          <a:ln w="10160">
            <a:solidFill>
              <a:srgbClr val="CF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502151"/>
            <a:ext cx="1417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CF4239"/>
                </a:solidFill>
                <a:latin typeface="Aptos"/>
              </a:rPr>
              <a:t>MC-MED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474720"/>
            <a:ext cx="3063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急诊到院、分诊和检验
2020–2022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078224"/>
            <a:ext cx="3063240" cy="2377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5C6C7E"/>
                </a:solidFill>
                <a:latin typeface="Aptos"/>
              </a:rPr>
              <a:t>IMV / 死亡需核对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20640"/>
            <a:ext cx="10469880" cy="658368"/>
          </a:xfrm>
          <a:prstGeom prst="roundRect">
            <a:avLst/>
          </a:prstGeom>
          <a:solidFill>
            <a:srgbClr val="EAF4FC"/>
          </a:solidFill>
          <a:ln w="10160">
            <a:solidFill>
              <a:srgbClr val="EA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230368"/>
            <a:ext cx="1005840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2F73C5"/>
                </a:solidFill>
                <a:latin typeface="Aptos"/>
              </a:rPr>
              <a:t>共同核心 CDM：encounters  →  events  →  treatments  →  complications  →  crf_view / landmarks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统一数据模型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一次住院如何变成可建模样本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4/12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2331720" cy="19659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55648"/>
            <a:ext cx="457200" cy="45720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92224"/>
            <a:ext cx="457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1746504"/>
            <a:ext cx="14173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encounters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59152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93A66"/>
                </a:solidFill>
                <a:latin typeface="Aptos"/>
              </a:rPr>
              <a:t>一次就诊一行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1920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患者、锚点、年龄、流感、结局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6392" y="2606040"/>
            <a:ext cx="38404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1600200"/>
            <a:ext cx="2331720" cy="19659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1755648"/>
            <a:ext cx="457200" cy="45720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792224"/>
            <a:ext cx="457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746504"/>
            <a:ext cx="14173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359152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93A66"/>
                </a:solidFill>
                <a:latin typeface="Aptos"/>
              </a:rPr>
              <a:t>观测长表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697480"/>
            <a:ext cx="1920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VS / LAB / SYM + 相对时间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5312" y="2606040"/>
            <a:ext cx="38404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55079" y="1600200"/>
            <a:ext cx="2331720" cy="19659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457200" cy="45720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92224"/>
            <a:ext cx="457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1746504"/>
            <a:ext cx="14173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treatments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359152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93A66"/>
                </a:solidFill>
                <a:latin typeface="Aptos"/>
              </a:rPr>
              <a:t>治疗长表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2697480"/>
            <a:ext cx="1920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NIV、IMV、ICU、ECMO等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14232" y="2606040"/>
            <a:ext cx="38404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3999" y="1600200"/>
            <a:ext cx="2331720" cy="19659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81159" y="1755648"/>
            <a:ext cx="457200" cy="45720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1792224"/>
            <a:ext cx="457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1" y="1746504"/>
            <a:ext cx="14173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crf_view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2359152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93A66"/>
                </a:solidFill>
                <a:latin typeface="Aptos"/>
              </a:rPr>
              <a:t>建模宽表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79" y="2697480"/>
            <a:ext cx="19202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入院值、标签、候选并发症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069080"/>
            <a:ext cx="10241280" cy="960120"/>
          </a:xfrm>
          <a:prstGeom prst="roundRect">
            <a:avLst/>
          </a:prstGeom>
          <a:solidFill>
            <a:srgbClr val="193A66"/>
          </a:solidFill>
          <a:ln w="10160">
            <a:solidFill>
              <a:srgbClr val="19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206240"/>
            <a:ext cx="14173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A8D0F4"/>
                </a:solidFill>
                <a:latin typeface="Aptos"/>
              </a:rPr>
              <a:t>统一编码示例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169663"/>
            <a:ext cx="8321040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VS001 体温   |   LAB006 CRP   |   TRT007 有创机械通气   |   OUT003 呼吸机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532120"/>
            <a:ext cx="99669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0">
                <a:solidFill>
                  <a:srgbClr val="5C6C7E"/>
                </a:solidFill>
                <a:latin typeface="Aptos"/>
              </a:rPr>
              <a:t>对齐产物保留 raw_value、unit、time_precision、origin，便于追溯和重新定义任务。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患者级示例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对齐后，同一患者由多张表共同描述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5/12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234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示例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353312"/>
            <a:ext cx="233172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encounters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53312"/>
            <a:ext cx="3520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events / treatments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53312"/>
            <a:ext cx="28803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结局解释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755648"/>
            <a:ext cx="123444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847088"/>
            <a:ext cx="1051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93A66"/>
                </a:solidFill>
                <a:latin typeface="Aptos"/>
              </a:rPr>
              <a:t>GD-A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755648"/>
            <a:ext cx="233172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847088"/>
            <a:ext cx="214883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75岁，住院5天
流感诊断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755648"/>
            <a:ext cx="352044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847088"/>
            <a:ext cx="3337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37.8℃ / SpO₂ 99%
奥司他韦 + NIV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755648"/>
            <a:ext cx="288036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847088"/>
            <a:ext cx="269747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未 ICU、未 IMV、出院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017520"/>
            <a:ext cx="1234440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08960"/>
            <a:ext cx="1051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93A66"/>
                </a:solidFill>
                <a:latin typeface="Aptos"/>
              </a:rPr>
              <a:t>GD-B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017520"/>
            <a:ext cx="2331720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3108960"/>
            <a:ext cx="214883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71岁，住院10天
流感诊断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017520"/>
            <a:ext cx="3520440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108960"/>
            <a:ext cx="3337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RR 25；CRP 64.6
PCT 28.49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3017520"/>
            <a:ext cx="2880360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108960"/>
            <a:ext cx="269747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进入 ICU，未记录 IMV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79392"/>
            <a:ext cx="123444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370831"/>
            <a:ext cx="1051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93A66"/>
                </a:solidFill>
                <a:latin typeface="Aptos"/>
              </a:rPr>
              <a:t>GAM-C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4279392"/>
            <a:ext cx="233172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4370831"/>
            <a:ext cx="214883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84岁，门诊阳性
1天后住院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4279392"/>
            <a:ext cx="352044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370831"/>
            <a:ext cx="3337560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HR 105；RR 30；PLT 82
门诊→住院已挂接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4279392"/>
            <a:ext cx="2880360" cy="950976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370831"/>
            <a:ext cx="2697479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后续出现 IMV，出院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650992"/>
            <a:ext cx="10195560" cy="438912"/>
          </a:xfrm>
          <a:prstGeom prst="roundRect">
            <a:avLst/>
          </a:prstGeom>
          <a:solidFill>
            <a:srgbClr val="EAF4FC"/>
          </a:solidFill>
          <a:ln w="10160">
            <a:solidFill>
              <a:srgbClr val="EA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715000"/>
            <a:ext cx="973836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5C6C7E"/>
                </a:solidFill>
                <a:latin typeface="Aptos"/>
              </a:rPr>
              <a:t>说明：示例使用服务器化名；事件时间统一转为相对锚点，诊断、治疗与结局分开存储。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当前实验设置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医院外部验证：GAM 训练 → GD 验证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6/12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074920" cy="98755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91440" cy="987552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08760"/>
            <a:ext cx="47548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队列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856232"/>
            <a:ext cx="47548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GAM 住院：173 次；GD 住院：297 次；按患者隔离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5074920" cy="98755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606040"/>
            <a:ext cx="91440" cy="987552"/>
          </a:xfrm>
          <a:prstGeom prst="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697480"/>
            <a:ext cx="47548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318F68"/>
                </a:solidFill>
                <a:latin typeface="Aptos"/>
              </a:rPr>
              <a:t>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044952"/>
            <a:ext cx="47548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T-day：索引日及前一日 / 入院附近首个有效值 + 年龄、性别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94760"/>
            <a:ext cx="5074920" cy="98755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94760"/>
            <a:ext cx="91440" cy="987552"/>
          </a:xfrm>
          <a:prstGeom prst="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86200"/>
            <a:ext cx="47548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E8892D"/>
                </a:solidFill>
                <a:latin typeface="Aptos"/>
              </a:rPr>
              <a:t>终点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33672"/>
            <a:ext cx="47548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E1：ICU / IMV / ECMO / 死亡；并报告 E0′：IMV / 死亡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074920" cy="336499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27632"/>
            <a:ext cx="10972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2F73C5"/>
                </a:solidFill>
                <a:latin typeface="Aptos"/>
              </a:rPr>
              <a:t>实验线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148840"/>
            <a:ext cx="201168" cy="201168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2093976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93A66"/>
                </a:solidFill>
                <a:latin typeface="Aptos"/>
              </a:rPr>
              <a:t>监督基线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09397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LR、LightGBM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715768"/>
            <a:ext cx="201168" cy="201168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660904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93A66"/>
                </a:solidFill>
                <a:latin typeface="Aptos"/>
              </a:rPr>
              <a:t>表格基础模型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60904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TabPFN v2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282696"/>
            <a:ext cx="201168" cy="201168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3227832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93A66"/>
                </a:solidFill>
                <a:latin typeface="Aptos"/>
              </a:rPr>
              <a:t>时序模型对照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227832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MIRA R0b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849624"/>
            <a:ext cx="201168" cy="201168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3794760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93A66"/>
                </a:solidFill>
                <a:latin typeface="Aptos"/>
              </a:rPr>
              <a:t>零样本基线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794760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Qwen3-8B、URB-65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074920"/>
            <a:ext cx="5074920" cy="566928"/>
          </a:xfrm>
          <a:prstGeom prst="roundRect">
            <a:avLst/>
          </a:prstGeom>
          <a:solidFill>
            <a:srgbClr val="193A66"/>
          </a:solidFill>
          <a:ln w="10160">
            <a:solidFill>
              <a:srgbClr val="19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202936"/>
            <a:ext cx="47091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主指标：AUROC；同时关注校准与 O/E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当前结果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基础模型尚未超过传统监督基线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7/12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53312"/>
            <a:ext cx="3657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193A66"/>
                </a:solidFill>
                <a:latin typeface="Aptos"/>
              </a:rPr>
              <a:t>GD 主评价集 AUROC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LR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901951"/>
            <a:ext cx="3574888" cy="256032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74519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2F73C5"/>
                </a:solidFill>
                <a:latin typeface="Aptos"/>
              </a:rPr>
              <a:t>0.733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04872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LightGBM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432303"/>
            <a:ext cx="3653027" cy="256032"/>
          </a:xfrm>
          <a:prstGeom prst="roundRect">
            <a:avLst/>
          </a:prstGeom>
          <a:solidFill>
            <a:srgbClr val="007EBE"/>
          </a:solidFill>
          <a:ln w="10160"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404872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07EBE"/>
                </a:solidFill>
                <a:latin typeface="Aptos"/>
              </a:rPr>
              <a:t>0.737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35224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TabPFN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2962656"/>
            <a:ext cx="3692097" cy="256032"/>
          </a:xfrm>
          <a:prstGeom prst="round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35224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318F68"/>
                </a:solidFill>
                <a:latin typeface="Aptos"/>
              </a:rPr>
              <a:t>0.739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65575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Qwen3-8B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493007"/>
            <a:ext cx="3535818" cy="256032"/>
          </a:xfrm>
          <a:prstGeom prst="round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465575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E8892D"/>
                </a:solidFill>
                <a:latin typeface="Aptos"/>
              </a:rPr>
              <a:t>0.731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95927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URB-65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023359"/>
            <a:ext cx="1582327" cy="256032"/>
          </a:xfrm>
          <a:prstGeom prst="roundRect">
            <a:avLst/>
          </a:prstGeom>
          <a:solidFill>
            <a:srgbClr val="5C6C7E"/>
          </a:solidFill>
          <a:ln w="10160">
            <a:solidFill>
              <a:srgbClr val="5C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995927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5C6C7E"/>
                </a:solidFill>
                <a:latin typeface="Aptos"/>
              </a:rPr>
              <a:t>0.631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26279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500" b="1">
                <a:solidFill>
                  <a:srgbClr val="25303D"/>
                </a:solidFill>
                <a:latin typeface="Aptos"/>
              </a:rPr>
              <a:t>MIRA R0b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4553712"/>
            <a:ext cx="1152559" cy="256032"/>
          </a:xfrm>
          <a:prstGeom prst="roundRect">
            <a:avLst/>
          </a:prstGeom>
          <a:solidFill>
            <a:srgbClr val="CF4239"/>
          </a:solidFill>
          <a:ln w="10160">
            <a:solidFill>
              <a:srgbClr val="CF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526279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F4239"/>
                </a:solidFill>
                <a:latin typeface="Aptos"/>
              </a:rPr>
              <a:t>0.609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48840" y="1691640"/>
            <a:ext cx="0" cy="3840480"/>
          </a:xfrm>
          <a:prstGeom prst="line">
            <a:avLst/>
          </a:prstGeom>
          <a:ln w="10160">
            <a:solidFill>
              <a:srgbClr val="BE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89520" y="1600200"/>
            <a:ext cx="3611880" cy="114300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1600200"/>
            <a:ext cx="91440" cy="1143000"/>
          </a:xfrm>
          <a:prstGeom prst="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1691640"/>
            <a:ext cx="32918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318F68"/>
                </a:solidFill>
                <a:latin typeface="Aptos"/>
              </a:rPr>
              <a:t>判读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2039112"/>
            <a:ext cx="3291840" cy="6126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TabPFN 相对 LR 仅 +0.007，区间跨越 0。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971800"/>
            <a:ext cx="3611880" cy="114300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971800"/>
            <a:ext cx="91440" cy="1143000"/>
          </a:xfrm>
          <a:prstGeom prst="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0688" y="3063240"/>
            <a:ext cx="32918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E8892D"/>
                </a:solidFill>
                <a:latin typeface="Aptos"/>
              </a:rPr>
              <a:t>校准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0688" y="3410712"/>
            <a:ext cx="3291840" cy="6126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GD 上多模型低估风险，O/E 约 1.18–2.81。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4343400"/>
            <a:ext cx="3611880" cy="114300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4343400"/>
            <a:ext cx="91440" cy="1143000"/>
          </a:xfrm>
          <a:prstGeom prst="rect">
            <a:avLst/>
          </a:prstGeom>
          <a:solidFill>
            <a:srgbClr val="CF4239"/>
          </a:solidFill>
          <a:ln w="10160">
            <a:solidFill>
              <a:srgbClr val="CF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0688" y="4434840"/>
            <a:ext cx="32918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CF4239"/>
                </a:solidFill>
                <a:latin typeface="Aptos"/>
              </a:rPr>
              <a:t>限制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4782312"/>
            <a:ext cx="3291840" cy="6126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5303D"/>
                </a:solidFill>
                <a:latin typeface="Aptos"/>
              </a:rPr>
              <a:t>事件数少、数据稀疏，约 2/3 事件发生在索引当天。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公开数据进展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已经开始抽取，但还不能直接合并进正式结论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8/12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13258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数据集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353312"/>
            <a:ext cx="28346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当前产物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353312"/>
            <a:ext cx="35661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关键缺口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353312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F73C5"/>
                </a:solidFill>
                <a:latin typeface="Aptos"/>
              </a:rPr>
              <a:t>可用阶段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755648"/>
            <a:ext cx="132588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1810512"/>
            <a:ext cx="117957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93A66"/>
                </a:solidFill>
                <a:latin typeface="Aptos"/>
              </a:rPr>
              <a:t>MIMIC-IV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1755648"/>
            <a:ext cx="283464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4872" y="1810512"/>
            <a:ext cx="268833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住院候选 659 次
已抽取检验/治疗候选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755648"/>
            <a:ext cx="356616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1810512"/>
            <a:ext cx="341985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流感阳性判读、ED 首值、时间窗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755648"/>
            <a:ext cx="182880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810512"/>
            <a:ext cx="168249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近期可进入 T-day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15768"/>
            <a:ext cx="13258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0632"/>
            <a:ext cx="117957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93A66"/>
                </a:solidFill>
                <a:latin typeface="Aptos"/>
              </a:rPr>
              <a:t>MIMIC-IV-ED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2715768"/>
            <a:ext cx="2834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4872" y="2770632"/>
            <a:ext cx="268833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约 42.5 万急诊记录
已生成事件表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2715768"/>
            <a:ext cx="35661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2770632"/>
            <a:ext cx="341985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流感检验、实验室、ICU 窗口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715768"/>
            <a:ext cx="1828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770632"/>
            <a:ext cx="168249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需与住院挂接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675887"/>
            <a:ext cx="132588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3730751"/>
            <a:ext cx="117957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93A66"/>
                </a:solidFill>
                <a:latin typeface="Aptos"/>
              </a:rPr>
              <a:t>eICU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3675887"/>
            <a:ext cx="283464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04872" y="3730751"/>
            <a:ext cx="268833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候选约 20 万次入科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675887"/>
            <a:ext cx="356616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9552" y="3730751"/>
            <a:ext cx="341985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Y24/48/72、IMV 起始、输入特征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3675887"/>
            <a:ext cx="1828800" cy="74980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730751"/>
            <a:ext cx="168249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暂不正式评估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13258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4690872"/>
            <a:ext cx="117957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93A66"/>
                </a:solidFill>
                <a:latin typeface="Aptos"/>
              </a:rPr>
              <a:t>MC-MED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31720" y="4636008"/>
            <a:ext cx="2834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872" y="4690872"/>
            <a:ext cx="268833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映射表和数据目录已就绪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636008"/>
            <a:ext cx="35661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9552" y="4690872"/>
            <a:ext cx="341985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单位、IMV、死亡、流感规则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4636008"/>
            <a:ext cx="1828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4690872"/>
            <a:ext cx="1682496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5303D"/>
                </a:solidFill>
                <a:latin typeface="Aptos"/>
              </a:rPr>
              <a:t>完成核对后接入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5806440"/>
            <a:ext cx="10241280" cy="384048"/>
          </a:xfrm>
          <a:prstGeom prst="roundRect">
            <a:avLst/>
          </a:prstGeom>
          <a:solidFill>
            <a:srgbClr val="EAF4FC"/>
          </a:solidFill>
          <a:ln w="10160">
            <a:solidFill>
              <a:srgbClr val="EA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861304"/>
            <a:ext cx="98755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CF4239"/>
                </a:solidFill>
                <a:latin typeface="Aptos"/>
              </a:rPr>
              <a:t>原则：先完成来源内 QC，再进入跨来源比较；候选标签不作为正式结果。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对齐难点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主要风险集中在时间、标签和可比性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9/12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08760"/>
            <a:ext cx="4983480" cy="135331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08760"/>
            <a:ext cx="4983480" cy="1097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28216"/>
            <a:ext cx="1143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2F73C5"/>
                </a:solidFill>
                <a:latin typeface="Aptos"/>
              </a:rPr>
              <a:t>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673351"/>
            <a:ext cx="32461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chart / store / note / offset 含义不同
需要记录 available_time 和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4983480" cy="135331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4983480" cy="109728"/>
          </a:xfrm>
          <a:prstGeom prst="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28216"/>
            <a:ext cx="1143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318F68"/>
                </a:solidFill>
                <a:latin typeface="Aptos"/>
              </a:rPr>
              <a:t>流感识别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673351"/>
            <a:ext cx="32461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病原学、ICD、诊断文本证据等级不同
主队列与敏感性队列需分开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37560"/>
            <a:ext cx="4983480" cy="135331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337560"/>
            <a:ext cx="4983480" cy="109728"/>
          </a:xfrm>
          <a:prstGeom prst="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57015"/>
            <a:ext cx="1143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E8892D"/>
                </a:solidFill>
                <a:latin typeface="Aptos"/>
              </a:rPr>
              <a:t>转重结局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502152"/>
            <a:ext cx="32461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eICU 全员 ICU；MC-MED 的 IMV / 死亡仍需核对
不能强行使用同一复合终点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37560"/>
            <a:ext cx="4983480" cy="1353312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337560"/>
            <a:ext cx="4983480" cy="109728"/>
          </a:xfrm>
          <a:prstGeom prst="rect">
            <a:avLst/>
          </a:prstGeom>
          <a:solidFill>
            <a:srgbClr val="CF4239"/>
          </a:solidFill>
          <a:ln w="10160">
            <a:solidFill>
              <a:srgbClr val="CF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57015"/>
            <a:ext cx="1143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CF4239"/>
                </a:solidFill>
                <a:latin typeface="Aptos"/>
              </a:rPr>
              <a:t>缺失与单位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502152"/>
            <a:ext cx="32461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空值可能是未测量、不适用或数据缺失
D-dimer、CRP、BUN 等需核对单位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440680"/>
            <a:ext cx="10149840" cy="502920"/>
          </a:xfrm>
          <a:prstGeom prst="roundRect">
            <a:avLst/>
          </a:prstGeom>
          <a:solidFill>
            <a:srgbClr val="193A66"/>
          </a:solidFill>
          <a:ln w="10160">
            <a:solidFill>
              <a:srgbClr val="19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550408"/>
            <a:ext cx="96926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目标不是“完全同质化”，而是“可追溯、可解释、知道哪里不可比”。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进一步对齐方案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共同核心 CDM + 来源特有扩展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10/12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287000" cy="86868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3619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共同核心层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27048"/>
            <a:ext cx="7635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患者 / 就诊 / 锚点 / VS001–VS006 / LAB001–LAB015 / 基础结局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542032"/>
            <a:ext cx="10287000" cy="868680"/>
          </a:xfrm>
          <a:prstGeom prst="roundRect">
            <a:avLst/>
          </a:prstGeom>
          <a:solidFill>
            <a:srgbClr val="EAF4FC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60904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2F73C5"/>
                </a:solidFill>
                <a:latin typeface="Aptos"/>
              </a:rPr>
              <a:t>时间与证据层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651760"/>
            <a:ext cx="7635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93A66"/>
                </a:solidFill>
                <a:latin typeface="Aptos"/>
              </a:rPr>
              <a:t>event_time · available_time · time_precision · evidence_type · missing_reason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03320"/>
            <a:ext cx="3154680" cy="118872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88620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318F68"/>
                </a:solidFill>
                <a:latin typeface="Aptos"/>
              </a:rPr>
              <a:t>医院扩展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279392"/>
            <a:ext cx="283464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病历规则、CRF 判定、门诊→住院挂接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703320"/>
            <a:ext cx="3154680" cy="118872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3" y="388620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E8892D"/>
                </a:solidFill>
                <a:latin typeface="Aptos"/>
              </a:rPr>
              <a:t>ICU 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3" y="4279392"/>
            <a:ext cx="283464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6 小时 landmarks、IMV/NIV/HFNC、升压药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1544" y="3703320"/>
            <a:ext cx="3154680" cy="118872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388620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F4239"/>
                </a:solidFill>
                <a:latin typeface="Aptos"/>
              </a:rPr>
              <a:t>急诊扩展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4279392"/>
            <a:ext cx="283464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5303D"/>
                </a:solidFill>
                <a:latin typeface="Aptos"/>
              </a:rPr>
              <a:t>分诊首值、到院时间、诊断与检验结果时间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349240"/>
            <a:ext cx="9921240" cy="530352"/>
          </a:xfrm>
          <a:prstGeom prst="roundRect">
            <a:avLst/>
          </a:prstGeom>
          <a:solidFill>
            <a:srgbClr val="193A66"/>
          </a:solidFill>
          <a:ln w="10160">
            <a:solidFill>
              <a:srgbClr val="19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468112"/>
            <a:ext cx="95554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输出两种任务视图：T-day（跨来源） + T-hour（公开 ICU 内部）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后续实验计划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先把口径冻结，再扩展模型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11/12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2423160" cy="21945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1755648"/>
            <a:ext cx="868680" cy="50292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847088"/>
            <a:ext cx="8686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0574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93A66"/>
                </a:solidFill>
                <a:latin typeface="Aptos"/>
              </a:rPr>
              <a:t>冻结定义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196596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流感证据等级、E1/E0′、IMV 起始、预测窗口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27832" y="2697480"/>
            <a:ext cx="29260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1554480"/>
            <a:ext cx="2423160" cy="21945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755648"/>
            <a:ext cx="868680" cy="50292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847088"/>
            <a:ext cx="8686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487168"/>
            <a:ext cx="20574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93A66"/>
                </a:solidFill>
                <a:latin typeface="Aptos"/>
              </a:rPr>
              <a:t>完成对齐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26080"/>
            <a:ext cx="196596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MIMIC 缺口、eICU 正式标签、MC-MED 核验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6752" y="2697480"/>
            <a:ext cx="29260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79" y="1554480"/>
            <a:ext cx="2423160" cy="21945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19" y="1755648"/>
            <a:ext cx="868680" cy="50292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9" y="1847088"/>
            <a:ext cx="8686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2487168"/>
            <a:ext cx="20574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93A66"/>
                </a:solidFill>
                <a:latin typeface="Aptos"/>
              </a:rPr>
              <a:t>来源内 QC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926080"/>
            <a:ext cx="196596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覆盖率、单位、缺失原因、事件发生时间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05672" y="2697480"/>
            <a:ext cx="292608" cy="0"/>
          </a:xfrm>
          <a:prstGeom prst="line">
            <a:avLst/>
          </a:prstGeom>
          <a:ln w="2540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3999" y="1554480"/>
            <a:ext cx="2423160" cy="219456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21239" y="1755648"/>
            <a:ext cx="868680" cy="50292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39" y="1847088"/>
            <a:ext cx="8686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79" y="2487168"/>
            <a:ext cx="20574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93A66"/>
                </a:solidFill>
                <a:latin typeface="Aptos"/>
              </a:rPr>
              <a:t>正式实验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2926080"/>
            <a:ext cx="196596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25303D"/>
                </a:solidFill>
                <a:latin typeface="Aptos"/>
              </a:rPr>
              <a:t>T-day 跨域；T-hour 时序；外部验证只读一次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343400"/>
            <a:ext cx="10058400" cy="960120"/>
          </a:xfrm>
          <a:prstGeom prst="roundRect">
            <a:avLst/>
          </a:prstGeom>
          <a:solidFill>
            <a:srgbClr val="193A66"/>
          </a:solidFill>
          <a:ln w="10160">
            <a:solidFill>
              <a:srgbClr val="19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50799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A8D0F4"/>
                </a:solidFill>
                <a:latin typeface="Aptos"/>
              </a:rPr>
              <a:t>每个来源最终交付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498848"/>
            <a:ext cx="7498079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encounters · events · treatments · outcomes · landmarks · mapping · QC · run_meta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650992"/>
            <a:ext cx="987552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CF4239"/>
                </a:solidFill>
                <a:latin typeface="Aptos"/>
              </a:rPr>
              <a:t>优先级：先保证标签和时间可解释，再追求更复杂的基础模型。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2240280" cy="566928"/>
          </a:xfrm>
          <a:prstGeom prst="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920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验收标准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42415"/>
            <a:ext cx="10899648" cy="0"/>
          </a:xfrm>
          <a:prstGeom prst="line">
            <a:avLst/>
          </a:prstGeom>
          <a:ln w="27940">
            <a:solidFill>
              <a:srgbClr val="007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63240" y="38404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93A66"/>
                </a:solidFill>
                <a:latin typeface="Aptos"/>
              </a:rPr>
              <a:t>完成后，结果才进入正式比较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4592"/>
            <a:ext cx="960120" cy="71323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731520" y="6510528"/>
            <a:ext cx="10744200" cy="0"/>
          </a:xfrm>
          <a:prstGeom prst="line">
            <a:avLst/>
          </a:prstGeom>
          <a:ln w="8890">
            <a:solidFill>
              <a:srgbClr val="D8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547104"/>
            <a:ext cx="987552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C7E"/>
                </a:solidFill>
                <a:latin typeface="Aptos"/>
              </a:rPr>
              <a:t>来源：服务器 basemodel 对齐产物与实验汇总（脱敏展示）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28816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1">
                <a:solidFill>
                  <a:srgbClr val="5C6C7E"/>
                </a:solidFill>
                <a:latin typeface="Aptos"/>
              </a:rPr>
              <a:t>12/12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81328"/>
            <a:ext cx="10149840" cy="61264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636776"/>
            <a:ext cx="256032" cy="256032"/>
          </a:xfrm>
          <a:prstGeom prst="roundRect">
            <a:avLst/>
          </a:prstGeom>
          <a:solidFill>
            <a:srgbClr val="318F68"/>
          </a:solidFill>
          <a:ln w="10160">
            <a:solidFill>
              <a:srgbClr val="31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591056"/>
            <a:ext cx="10972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318F68"/>
                </a:solidFill>
                <a:latin typeface="Aptos"/>
              </a:rPr>
              <a:t>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572768"/>
            <a:ext cx="7909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事件发生在预测时点之后；既往 IMV / ICU / 死亡已排除或单独处理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86000"/>
            <a:ext cx="10149840" cy="61264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2441448"/>
            <a:ext cx="256032" cy="256032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395728"/>
            <a:ext cx="10972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F73C5"/>
                </a:solidFill>
                <a:latin typeface="Aptos"/>
              </a:rPr>
              <a:t>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377440"/>
            <a:ext cx="7909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每条输入有 event_time、available_time、time_precision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090672"/>
            <a:ext cx="10149840" cy="61264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3246120"/>
            <a:ext cx="256032" cy="256032"/>
          </a:xfrm>
          <a:prstGeom prst="roundRect">
            <a:avLst/>
          </a:prstGeom>
          <a:solidFill>
            <a:srgbClr val="E8892D"/>
          </a:solidFill>
          <a:ln w="10160">
            <a:solidFill>
              <a:srgbClr val="E8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3200400"/>
            <a:ext cx="10972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E8892D"/>
                </a:solidFill>
                <a:latin typeface="Aptos"/>
              </a:rPr>
              <a:t>可比性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182112"/>
            <a:ext cx="7909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变量单位、流感证据、结局定义有版本和来源记录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95344"/>
            <a:ext cx="10149840" cy="612648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C5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4050791"/>
            <a:ext cx="256032" cy="256032"/>
          </a:xfrm>
          <a:prstGeom prst="roundRect">
            <a:avLst/>
          </a:prstGeom>
          <a:solidFill>
            <a:srgbClr val="CF4239"/>
          </a:solidFill>
          <a:ln w="10160">
            <a:solidFill>
              <a:srgbClr val="CF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005072"/>
            <a:ext cx="109728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CF4239"/>
                </a:solidFill>
                <a:latin typeface="Aptos"/>
              </a:rPr>
              <a:t>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986783"/>
            <a:ext cx="7909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25303D"/>
                </a:solidFill>
                <a:latin typeface="Aptos"/>
              </a:rPr>
              <a:t>患者级切分；报告事件数、覆盖率、校准和不确定性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0149840" cy="777240"/>
          </a:xfrm>
          <a:prstGeom prst="roundRect">
            <a:avLst/>
          </a:prstGeom>
          <a:solidFill>
            <a:srgbClr val="2F73C5"/>
          </a:solidFill>
          <a:ln w="10160">
            <a:solidFill>
              <a:srgbClr val="2F7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239512"/>
            <a:ext cx="1371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最终判断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193792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先回答“数据是否可比”，再回答“模型是否更强”。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